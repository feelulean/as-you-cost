
<file path=[Content_Types].xml><?xml version="1.0" encoding="utf-8"?>
<Types xmlns="http://schemas.openxmlformats.org/package/2006/content-types"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Masters/slideMaster4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theme/theme6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4675" r:id="rId1"/>
    <p:sldMasterId id="2147484678" r:id="rId2"/>
    <p:sldMasterId id="2147484681" r:id="rId3"/>
    <p:sldMasterId id="2147484684" r:id="rId4"/>
  </p:sldMasterIdLst>
  <p:notesMasterIdLst>
    <p:notesMasterId r:id="rId9"/>
  </p:notesMasterIdLst>
  <p:handoutMasterIdLst>
    <p:handoutMasterId r:id="rId10"/>
  </p:handoutMasterIdLst>
  <p:sldIdLst>
    <p:sldId id="2254" r:id="rId5"/>
    <p:sldId id="2250" r:id="rId6"/>
    <p:sldId id="2251" r:id="rId7"/>
    <p:sldId id="2255" r:id="rId8"/>
  </p:sldIdLst>
  <p:sldSz cx="9906000" cy="6858000" type="A4"/>
  <p:notesSz cx="6797675" cy="9926638"/>
  <p:defaultTextStyle>
    <a:defPPr>
      <a:defRPr lang="en-US"/>
    </a:defPPr>
    <a:lvl1pPr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74382" indent="-46009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53522" indent="-95196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432663" indent="-144378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911802" indent="-193560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4644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1570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198501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5428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000000"/>
    <a:srgbClr val="0000CC"/>
    <a:srgbClr val="CC0000"/>
    <a:srgbClr val="DC6900"/>
    <a:srgbClr val="FFFF66"/>
    <a:srgbClr val="333333"/>
    <a:srgbClr val="FF9999"/>
    <a:srgbClr val="FFCCCC"/>
    <a:srgbClr val="FFF7E1"/>
    <a:srgbClr val="FFFDF7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69D073F8-1565-44D7-B386-08B59EADF2EE}">
  <a:tblStyle styleId="{69D073F8-1565-44D7-B386-08B59EADF2EE}" styleName="PwC Table">
    <a:wholeTbl>
      <a:tcTxStyle>
        <a:fontRef idx="maj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38100" cmpd="sng">
              <a:noFill/>
            </a:ln>
          </a:bottom>
        </a:tcBdr>
      </a:tcStyle>
    </a:band1H>
    <a:band2H>
      <a:tcStyle>
        <a:tcBdr>
          <a:bottom>
            <a:ln w="38100" cmpd="sng">
              <a:noFill/>
            </a:ln>
          </a:bottom>
        </a:tcBdr>
      </a:tcStyle>
    </a:band2H>
    <a:firstCol>
      <a:tcTxStyle i="on">
        <a:fontRef idx="major">
          <a:prstClr val="black"/>
        </a:fontRef>
        <a:schemeClr val="dk1"/>
      </a:tcTxStyle>
      <a:tcStyle>
        <a:tcBdr/>
        <a:fill>
          <a:noFill/>
        </a:fill>
      </a:tcStyle>
    </a:firstCol>
    <a:firstRow>
      <a:tcTxStyle b="on">
        <a:fontRef idx="major">
          <a:prstClr val="black"/>
        </a:fontRef>
        <a:schemeClr val="dk2"/>
      </a:tcTxStyle>
      <a:tcStyle>
        <a:tcBdr>
          <a:bottom>
            <a:ln w="38100" cmpd="sng">
              <a:noFill/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206" autoAdjust="0"/>
    <p:restoredTop sz="82572" autoAdjust="0"/>
  </p:normalViewPr>
  <p:slideViewPr>
    <p:cSldViewPr snapToObjects="1">
      <p:cViewPr>
        <p:scale>
          <a:sx n="75" d="100"/>
          <a:sy n="75" d="100"/>
        </p:scale>
        <p:origin x="-1314" y="114"/>
      </p:cViewPr>
      <p:guideLst>
        <p:guide orient="horz" pos="300"/>
        <p:guide orient="horz" pos="2704"/>
        <p:guide orient="horz" pos="1389"/>
        <p:guide pos="6023"/>
      </p:guideLst>
    </p:cSldViewPr>
  </p:slideViewPr>
  <p:outlineViewPr>
    <p:cViewPr>
      <p:scale>
        <a:sx n="33" d="100"/>
        <a:sy n="33" d="100"/>
      </p:scale>
      <p:origin x="0" y="10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Objects="1">
      <p:cViewPr varScale="1">
        <p:scale>
          <a:sx n="49" d="100"/>
          <a:sy n="49" d="100"/>
        </p:scale>
        <p:origin x="-2712" y="-108"/>
      </p:cViewPr>
      <p:guideLst>
        <p:guide orient="horz" pos="3127"/>
        <p:guide pos="2141"/>
      </p:guideLst>
    </p:cSldViewPr>
  </p:notesViewPr>
  <p:gridSpacing cx="73737788" cy="7373778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645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598B7DD0-F933-4256-AFA8-DB79D4CAE8E1}" type="datetimeFigureOut">
              <a:rPr lang="en-US" altLang="ko-KR"/>
              <a:pPr>
                <a:defRPr/>
              </a:pPr>
              <a:t>5/16/2013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645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D0790A42-1C5E-4D8C-9AE2-6811605AC8D4}" type="slidenum">
              <a:rPr lang="en-US" altLang="ko-KR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33075673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645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B733C386-9AAD-4375-8F24-A34430528E7D}" type="datetimeFigureOut">
              <a:rPr lang="en-US" altLang="ko-KR"/>
              <a:pPr>
                <a:defRPr/>
              </a:pPr>
              <a:t>5/16/2013</a:t>
            </a:fld>
            <a:endParaRPr lang="ko-KR" alt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4538"/>
            <a:ext cx="537210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658" tIns="45830" rIns="91658" bIns="4583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715193"/>
            <a:ext cx="5437506" cy="4466274"/>
          </a:xfrm>
          <a:prstGeom prst="rect">
            <a:avLst/>
          </a:prstGeom>
        </p:spPr>
        <p:txBody>
          <a:bodyPr vert="horz" lIns="91658" tIns="45830" rIns="91658" bIns="45830" rtlCol="0">
            <a:normAutofit/>
          </a:bodyPr>
          <a:lstStyle/>
          <a:p>
            <a:pPr lvl="0"/>
            <a:r>
              <a:rPr lang="en-US" altLang="ko-KR" noProof="0" smtClean="0"/>
              <a:t>Click to edit Master text styles</a:t>
            </a:r>
          </a:p>
          <a:p>
            <a:pPr lvl="1"/>
            <a:r>
              <a:rPr lang="en-US" altLang="ko-KR" noProof="0" smtClean="0"/>
              <a:t>Second level</a:t>
            </a:r>
          </a:p>
          <a:p>
            <a:pPr lvl="2"/>
            <a:r>
              <a:rPr lang="en-US" altLang="ko-KR" noProof="0" smtClean="0"/>
              <a:t>Third level</a:t>
            </a:r>
          </a:p>
          <a:p>
            <a:pPr lvl="3"/>
            <a:r>
              <a:rPr lang="en-US" altLang="ko-KR" noProof="0" smtClean="0"/>
              <a:t>Fourth level</a:t>
            </a:r>
          </a:p>
          <a:p>
            <a:pPr lvl="4"/>
            <a:r>
              <a:rPr lang="en-US" altLang="ko-KR" noProof="0" smtClean="0"/>
              <a:t>Fifth level</a:t>
            </a:r>
            <a:endParaRPr lang="ko-KR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645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DBE75456-4044-433B-A0B1-1CCD6A62A8D3}" type="slidenum">
              <a:rPr lang="en-US" altLang="ko-KR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986330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7438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5352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432663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91180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393022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871627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350230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828833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2788" y="744538"/>
            <a:ext cx="5372100" cy="3721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449BE4-5C86-4C49-AD04-A69537C68BBF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0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6681193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6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9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76" r:id="rId1"/>
    <p:sldLayoutId id="2147484680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79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82" r:id="rId1"/>
    <p:sldLayoutId id="2147484683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85" r:id="rId1"/>
    <p:sldLayoutId id="2147484686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 bwMode="auto">
          <a:xfrm>
            <a:off x="0" y="531815"/>
            <a:ext cx="9906000" cy="482447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grpSp>
        <p:nvGrpSpPr>
          <p:cNvPr id="2" name="그룹 1"/>
          <p:cNvGrpSpPr>
            <a:grpSpLocks/>
          </p:cNvGrpSpPr>
          <p:nvPr/>
        </p:nvGrpSpPr>
        <p:grpSpPr bwMode="auto">
          <a:xfrm>
            <a:off x="415926" y="406402"/>
            <a:ext cx="1944688" cy="358775"/>
            <a:chOff x="2208212" y="2187772"/>
            <a:chExt cx="5959947" cy="1469677"/>
          </a:xfrm>
        </p:grpSpPr>
        <p:pic>
          <p:nvPicPr>
            <p:cNvPr id="5127" name="Picture 2" descr="C:\Documents and Settings\admin\바탕 화면\제목 ss없음-1.jpg"/>
            <p:cNvPicPr>
              <a:picLocks noChangeAspect="1" noChangeArrowheads="1"/>
            </p:cNvPicPr>
            <p:nvPr/>
          </p:nvPicPr>
          <p:blipFill>
            <a:blip r:embed="rId3" cstate="print"/>
            <a:srcRect t="31873" r="30904" b="38634"/>
            <a:stretch>
              <a:fillRect/>
            </a:stretch>
          </p:blipFill>
          <p:spPr bwMode="auto">
            <a:xfrm>
              <a:off x="2208212" y="2187772"/>
              <a:ext cx="4429333" cy="14060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28" name="Picture 2" descr="C:\Documents and Settings\admin\바탕 화면\제목 ss없음-1.jpg"/>
            <p:cNvPicPr>
              <a:picLocks noChangeAspect="1" noChangeArrowheads="1"/>
            </p:cNvPicPr>
            <p:nvPr/>
          </p:nvPicPr>
          <p:blipFill>
            <a:blip r:embed="rId4" cstate="print"/>
            <a:srcRect l="68555" t="31873" b="28601"/>
            <a:stretch>
              <a:fillRect/>
            </a:stretch>
          </p:blipFill>
          <p:spPr bwMode="auto">
            <a:xfrm>
              <a:off x="6602819" y="2194115"/>
              <a:ext cx="1565340" cy="14633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3872860" y="5284320"/>
            <a:ext cx="3312408" cy="41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3333" tIns="51667" rIns="103333" bIns="51667" anchor="ctr">
            <a:spAutoFit/>
          </a:bodyPr>
          <a:lstStyle/>
          <a:p>
            <a:pPr defTabSz="914400"/>
            <a:r>
              <a:rPr lang="ko-KR" altLang="en-US" sz="2000" b="1" dirty="0" smtClean="0">
                <a:solidFill>
                  <a:srgbClr val="000000">
                    <a:lumMod val="95000"/>
                    <a:lumOff val="5000"/>
                  </a:srgbClr>
                </a:solidFill>
                <a:latin typeface="Arial"/>
                <a:ea typeface="가는각진제목체"/>
              </a:rPr>
              <a:t>목표원가관리시스템 구축 </a:t>
            </a:r>
            <a:r>
              <a:rPr lang="en-US" altLang="ko-KR" sz="2000" b="1" dirty="0" smtClean="0">
                <a:solidFill>
                  <a:srgbClr val="000000">
                    <a:lumMod val="95000"/>
                    <a:lumOff val="5000"/>
                  </a:srgbClr>
                </a:solidFill>
                <a:latin typeface="Arial"/>
                <a:ea typeface="가는각진제목체"/>
              </a:rPr>
              <a:t>TFT</a:t>
            </a:r>
            <a:endParaRPr lang="ko-KR" altLang="en-US" sz="2000" b="1" dirty="0">
              <a:solidFill>
                <a:srgbClr val="000000">
                  <a:lumMod val="95000"/>
                  <a:lumOff val="5000"/>
                </a:srgbClr>
              </a:solidFill>
              <a:latin typeface="Arial"/>
              <a:ea typeface="가는각진제목체"/>
            </a:endParaRPr>
          </a:p>
        </p:txBody>
      </p:sp>
      <p:pic>
        <p:nvPicPr>
          <p:cNvPr id="11" name="Picture 394" descr="현대다이모스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26381" t="20050" r="27190" b="56340"/>
          <a:stretch>
            <a:fillRect/>
          </a:stretch>
        </p:blipFill>
        <p:spPr bwMode="auto">
          <a:xfrm>
            <a:off x="2648716" y="5229250"/>
            <a:ext cx="1296144" cy="441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29"/>
          <p:cNvSpPr>
            <a:spLocks noChangeArrowheads="1"/>
          </p:cNvSpPr>
          <p:nvPr/>
        </p:nvSpPr>
        <p:spPr bwMode="auto">
          <a:xfrm>
            <a:off x="948126" y="1782052"/>
            <a:ext cx="7965315" cy="218942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1339" tIns="180000" rIns="91339" bIns="45669" anchor="t"/>
          <a:lstStyle/>
          <a:p>
            <a:pPr algn="ctr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r>
              <a:rPr lang="ko-KR" altLang="en-US" sz="20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목표원가관리 시스템 </a:t>
            </a:r>
            <a:endParaRPr lang="en-US" altLang="ko-KR" sz="2000" b="1" dirty="0" smtClean="0">
              <a:solidFill>
                <a:srgbClr val="000000"/>
              </a:solidFill>
              <a:latin typeface="Arial"/>
              <a:ea typeface="가는각진제목체"/>
            </a:endParaRPr>
          </a:p>
          <a:p>
            <a:pPr algn="ctr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r>
              <a:rPr lang="ko-KR" altLang="en-US" sz="32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화면</a:t>
            </a:r>
            <a:r>
              <a:rPr lang="en-US" altLang="ko-KR" sz="32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/</a:t>
            </a:r>
            <a:r>
              <a:rPr lang="ko-KR" altLang="en-US" sz="32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프로그램 개발요청서</a:t>
            </a:r>
          </a:p>
          <a:p>
            <a:pPr algn="ctr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endParaRPr lang="en-US" altLang="ko-KR" sz="1200" b="1" dirty="0" smtClean="0">
              <a:solidFill>
                <a:srgbClr val="000000"/>
              </a:solidFill>
              <a:latin typeface="Arial"/>
              <a:ea typeface="가는각진제목체"/>
              <a:cs typeface="Arial" charset="0"/>
            </a:endParaRPr>
          </a:p>
        </p:txBody>
      </p:sp>
      <p:sp>
        <p:nvSpPr>
          <p:cNvPr id="17" name="TextBox 6"/>
          <p:cNvSpPr txBox="1">
            <a:spLocks noChangeArrowheads="1"/>
          </p:cNvSpPr>
          <p:nvPr/>
        </p:nvSpPr>
        <p:spPr bwMode="auto">
          <a:xfrm>
            <a:off x="733712" y="1196690"/>
            <a:ext cx="64359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400" eaLnBrk="1" hangingPunct="1"/>
            <a:r>
              <a:rPr lang="en-US" altLang="ko-KR" sz="1800" dirty="0">
                <a:latin typeface="Arial"/>
                <a:ea typeface="가는각진제목체"/>
                <a:cs typeface="Arial" charset="0"/>
              </a:rPr>
              <a:t>『 </a:t>
            </a:r>
            <a:r>
              <a:rPr lang="ko-KR" altLang="en-US" sz="1800" b="1" dirty="0">
                <a:solidFill>
                  <a:srgbClr val="606060"/>
                </a:solidFill>
                <a:latin typeface="Arial"/>
                <a:ea typeface="가는각진제목체"/>
              </a:rPr>
              <a:t>전진적 </a:t>
            </a:r>
            <a:r>
              <a:rPr lang="ko-KR" altLang="en-US" sz="1800" b="1" dirty="0" smtClean="0">
                <a:solidFill>
                  <a:srgbClr val="606060"/>
                </a:solidFill>
                <a:latin typeface="Arial"/>
                <a:ea typeface="가는각진제목체"/>
              </a:rPr>
              <a:t>원가관리 업무체계 확립</a:t>
            </a:r>
            <a:r>
              <a:rPr lang="en-US" altLang="ko-KR" sz="1800" dirty="0" smtClean="0">
                <a:latin typeface="Arial"/>
                <a:ea typeface="가는각진제목체"/>
                <a:cs typeface="Arial" charset="0"/>
              </a:rPr>
              <a:t>』</a:t>
            </a:r>
            <a:endParaRPr lang="ko-KR" altLang="en-US" sz="1800" dirty="0">
              <a:latin typeface="Arial"/>
              <a:ea typeface="가는각진제목체"/>
              <a:cs typeface="Arial" charset="0"/>
            </a:endParaRPr>
          </a:p>
        </p:txBody>
      </p:sp>
      <p:sp>
        <p:nvSpPr>
          <p:cNvPr id="19" name="직사각형 18"/>
          <p:cNvSpPr/>
          <p:nvPr/>
        </p:nvSpPr>
        <p:spPr bwMode="auto">
          <a:xfrm>
            <a:off x="200340" y="6237390"/>
            <a:ext cx="9705660" cy="620610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0" name="직사각형 19"/>
          <p:cNvSpPr/>
          <p:nvPr/>
        </p:nvSpPr>
        <p:spPr bwMode="auto">
          <a:xfrm>
            <a:off x="0" y="193675"/>
            <a:ext cx="200340" cy="571500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808897" y="3375663"/>
            <a:ext cx="193674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10000"/>
              </a:spcBef>
              <a:defRPr/>
            </a:pPr>
            <a:r>
              <a:rPr lang="en-US" altLang="ko-KR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 - </a:t>
            </a:r>
            <a:r>
              <a:rPr lang="en-US" altLang="ko-KR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051.</a:t>
            </a:r>
            <a:r>
              <a:rPr lang="ko-KR" altLang="en-US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담당자 정보 입력</a:t>
            </a:r>
            <a:r>
              <a:rPr lang="en-US" altLang="ko-KR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 </a:t>
            </a:r>
            <a:r>
              <a:rPr lang="en-US" altLang="ko-KR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- </a:t>
            </a:r>
            <a:endParaRPr lang="en-US" altLang="ko-KR" sz="1400" b="1" dirty="0">
              <a:solidFill>
                <a:srgbClr val="000000"/>
              </a:solidFill>
              <a:latin typeface="Arial"/>
              <a:ea typeface="가는각진제목체"/>
              <a:cs typeface="Arial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39736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Group 944"/>
          <p:cNvGraphicFramePr>
            <a:graphicFrameLocks noGrp="1"/>
          </p:cNvGraphicFramePr>
          <p:nvPr/>
        </p:nvGraphicFramePr>
        <p:xfrm>
          <a:off x="376061" y="307172"/>
          <a:ext cx="9238086" cy="3602592"/>
        </p:xfrm>
        <a:graphic>
          <a:graphicData uri="http://schemas.openxmlformats.org/drawingml/2006/table">
            <a:tbl>
              <a:tblPr/>
              <a:tblGrid>
                <a:gridCol w="2139422"/>
                <a:gridCol w="1161167"/>
                <a:gridCol w="1162050"/>
                <a:gridCol w="738011"/>
                <a:gridCol w="417336"/>
                <a:gridCol w="904663"/>
                <a:gridCol w="264090"/>
                <a:gridCol w="313760"/>
                <a:gridCol w="671866"/>
                <a:gridCol w="157480"/>
                <a:gridCol w="1308241"/>
              </a:tblGrid>
              <a:tr h="336744">
                <a:tc gridSpan="1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일반 개요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36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Program ID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-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051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Process ID</a:t>
                      </a:r>
                      <a:endParaRPr kumimoji="1" lang="en-GB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latinLnBrk="1"/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목표원가 대상 선정</a:t>
                      </a:r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  <a:cs typeface="+mn-cs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36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 코드 생성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: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담당자 정보 입력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5040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설명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원가관리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설계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구매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설계원가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생기 각 부문별로 목표원가 관리와 수행 담당자를 정의하고 등록함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9858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구분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Master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Interface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Data Input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Creation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(Costing)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Schedule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(Monitor)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Report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</a:tr>
              <a:tr h="2495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돋움" pitchFamily="50" charset="-127"/>
                        </a:rPr>
                        <a:t>●</a:t>
                      </a: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돋움" pitchFamily="50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돋움" pitchFamily="50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개발완료 요청일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2013.05.16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모듈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작성자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신 정 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2013.05.16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컨설턴트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신 정 수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2013.05.16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팀장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배 병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희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개발자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고 현 철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9" name="Group 820"/>
          <p:cNvGraphicFramePr>
            <a:graphicFrameLocks noGrp="1"/>
          </p:cNvGraphicFramePr>
          <p:nvPr/>
        </p:nvGraphicFramePr>
        <p:xfrm>
          <a:off x="376061" y="4005080"/>
          <a:ext cx="9238086" cy="2332741"/>
        </p:xfrm>
        <a:graphic>
          <a:graphicData uri="http://schemas.openxmlformats.org/drawingml/2006/table">
            <a:tbl>
              <a:tblPr/>
              <a:tblGrid>
                <a:gridCol w="1575937"/>
                <a:gridCol w="1154760"/>
                <a:gridCol w="5248492"/>
                <a:gridCol w="1258897"/>
              </a:tblGrid>
              <a:tr h="30643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Document History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06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Date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담당자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변경 내용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사유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요청부서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담당자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1" lang="ko-KR" alt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Version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2013.05.16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신정수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초기작성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V1.0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oup 512"/>
          <p:cNvGraphicFramePr>
            <a:graphicFrameLocks noGrp="1"/>
          </p:cNvGraphicFramePr>
          <p:nvPr/>
        </p:nvGraphicFramePr>
        <p:xfrm>
          <a:off x="376061" y="343221"/>
          <a:ext cx="9153878" cy="4098885"/>
        </p:xfrm>
        <a:graphic>
          <a:graphicData uri="http://schemas.openxmlformats.org/drawingml/2006/table">
            <a:tbl>
              <a:tblPr/>
              <a:tblGrid>
                <a:gridCol w="2263247"/>
                <a:gridCol w="2260953"/>
                <a:gridCol w="2263245"/>
                <a:gridCol w="2366433"/>
              </a:tblGrid>
              <a:tr h="277389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Business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요구사항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58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요구사항정의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프로젝트별로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유관부서 담당자를 등록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지정하여 책임감 있는 목표원가 관리가 이루어지도록 한다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</a:p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담당자가 지정되어야 하는 부문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원가관리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설계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구매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설계원가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생산기술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71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업무담당자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원가관리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6772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개발에 따른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기대 효용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부문별 책임 강화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자동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Mailing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기능과 연계하여 각 담당자의 적극적 참여 유도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세부화면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GB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On-Line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Data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건수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71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개발 소요 기간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권한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입력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–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원가관리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/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조회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-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프로젝트 구성원으로 등록된 인원 전체</a:t>
                      </a: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기타요구사항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Group 399"/>
          <p:cNvGraphicFramePr>
            <a:graphicFrameLocks noGrp="1"/>
          </p:cNvGraphicFramePr>
          <p:nvPr/>
        </p:nvGraphicFramePr>
        <p:xfrm>
          <a:off x="376061" y="5391993"/>
          <a:ext cx="9153886" cy="649094"/>
        </p:xfrm>
        <a:graphic>
          <a:graphicData uri="http://schemas.openxmlformats.org/drawingml/2006/table">
            <a:tbl>
              <a:tblPr/>
              <a:tblGrid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</a:tblGrid>
              <a:tr h="32454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권한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전사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사업부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담당팀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중요도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상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중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난이도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4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</a:tr>
              <a:tr h="3245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●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●</a:t>
                      </a: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●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Text Box 346"/>
          <p:cNvSpPr txBox="1">
            <a:spLocks noChangeArrowheads="1"/>
          </p:cNvSpPr>
          <p:nvPr/>
        </p:nvSpPr>
        <p:spPr bwMode="auto">
          <a:xfrm>
            <a:off x="376066" y="6135189"/>
            <a:ext cx="1781257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914400" latinLnBrk="0"/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* </a:t>
            </a:r>
            <a:r>
              <a:rPr lang="ko-KR" altLang="en-US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난이도 </a:t>
            </a:r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( 1- </a:t>
            </a:r>
            <a:r>
              <a:rPr lang="ko-KR" altLang="en-US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단순</a:t>
            </a:r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, 5 – </a:t>
            </a:r>
            <a:r>
              <a:rPr lang="ko-KR" altLang="en-US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복잡 </a:t>
            </a:r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)</a:t>
            </a:r>
          </a:p>
        </p:txBody>
      </p:sp>
      <p:sp>
        <p:nvSpPr>
          <p:cNvPr id="8" name="Text Box 347"/>
          <p:cNvSpPr txBox="1">
            <a:spLocks noChangeArrowheads="1"/>
          </p:cNvSpPr>
          <p:nvPr/>
        </p:nvSpPr>
        <p:spPr bwMode="auto">
          <a:xfrm>
            <a:off x="344360" y="5085230"/>
            <a:ext cx="54694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914400" latinLnBrk="0"/>
            <a:r>
              <a:rPr lang="en-US" altLang="ko-KR" sz="1200" b="1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(</a:t>
            </a:r>
            <a:r>
              <a:rPr lang="ko-KR" altLang="en-US" sz="1200" b="1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분류</a:t>
            </a:r>
            <a:r>
              <a:rPr lang="en-US" altLang="ko-KR" sz="1200" b="1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)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 dirty="0">
              <a:solidFill>
                <a:srgbClr val="000000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Arial"/>
                <a:ea typeface="가는각진제목체" pitchFamily="18" charset="-127"/>
              </a:rPr>
              <a:t>원가관리</a:t>
            </a:r>
          </a:p>
        </p:txBody>
      </p:sp>
      <p:sp>
        <p:nvSpPr>
          <p:cNvPr id="27" name="모서리가 둥근 직사각형 26"/>
          <p:cNvSpPr/>
          <p:nvPr/>
        </p:nvSpPr>
        <p:spPr bwMode="auto">
          <a:xfrm>
            <a:off x="416370" y="1269402"/>
            <a:ext cx="3636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 dirty="0">
              <a:solidFill>
                <a:prstClr val="white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28" name="TextBox 33"/>
          <p:cNvSpPr txBox="1">
            <a:spLocks noChangeArrowheads="1"/>
          </p:cNvSpPr>
          <p:nvPr/>
        </p:nvSpPr>
        <p:spPr bwMode="auto">
          <a:xfrm>
            <a:off x="2089620" y="1305319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 pitchFamily="18" charset="-127"/>
                <a:sym typeface="Arial" charset="0"/>
              </a:rPr>
              <a:t>고객사</a:t>
            </a:r>
          </a:p>
        </p:txBody>
      </p:sp>
      <p:sp>
        <p:nvSpPr>
          <p:cNvPr id="29" name="TextBox 35"/>
          <p:cNvSpPr txBox="1">
            <a:spLocks noChangeArrowheads="1"/>
          </p:cNvSpPr>
          <p:nvPr/>
        </p:nvSpPr>
        <p:spPr bwMode="auto">
          <a:xfrm>
            <a:off x="1298834" y="1305319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30" name="TextBox 36"/>
          <p:cNvSpPr txBox="1">
            <a:spLocks noChangeArrowheads="1"/>
          </p:cNvSpPr>
          <p:nvPr/>
        </p:nvSpPr>
        <p:spPr bwMode="auto">
          <a:xfrm>
            <a:off x="477886" y="1305319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sp>
        <p:nvSpPr>
          <p:cNvPr id="63" name="직사각형 41"/>
          <p:cNvSpPr>
            <a:spLocks noChangeArrowheads="1"/>
          </p:cNvSpPr>
          <p:nvPr/>
        </p:nvSpPr>
        <p:spPr bwMode="auto">
          <a:xfrm>
            <a:off x="5135250" y="804890"/>
            <a:ext cx="936000" cy="324000"/>
          </a:xfrm>
          <a:prstGeom prst="rect">
            <a:avLst/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anchor="ctr"/>
          <a:lstStyle/>
          <a:p>
            <a:pPr marL="88900" indent="-88900" latinLnBrk="0">
              <a:spcBef>
                <a:spcPct val="20000"/>
              </a:spcBef>
              <a:buFont typeface="Wingdings" pitchFamily="2" charset="2"/>
              <a:buNone/>
            </a:pPr>
            <a:endParaRPr lang="ko-KR" altLang="en-US" sz="900" dirty="0" smtClean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07470"/>
            <a:ext cx="360000" cy="226591"/>
            <a:chOff x="837169" y="1307470"/>
            <a:chExt cx="360000" cy="226591"/>
          </a:xfrm>
        </p:grpSpPr>
        <p:sp>
          <p:nvSpPr>
            <p:cNvPr id="33" name="TextBox 32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8" name="실행 단추: 앞으로 또는 다음 6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07502"/>
            <a:ext cx="360000" cy="226591"/>
            <a:chOff x="1701166" y="1307502"/>
            <a:chExt cx="360000" cy="226591"/>
          </a:xfrm>
        </p:grpSpPr>
        <p:sp>
          <p:nvSpPr>
            <p:cNvPr id="32" name="TextBox 31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424260" y="1307502"/>
            <a:ext cx="360000" cy="226591"/>
            <a:chOff x="2709337" y="1307502"/>
            <a:chExt cx="360000" cy="226591"/>
          </a:xfrm>
        </p:grpSpPr>
        <p:sp>
          <p:nvSpPr>
            <p:cNvPr id="31" name="TextBox 3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2" name="실행 단추: 앞으로 또는 다음 7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3" name="TextBox 33"/>
          <p:cNvSpPr txBox="1">
            <a:spLocks noChangeArrowheads="1"/>
          </p:cNvSpPr>
          <p:nvPr/>
        </p:nvSpPr>
        <p:spPr bwMode="auto">
          <a:xfrm>
            <a:off x="2902810" y="130680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 pitchFamily="18" charset="-127"/>
                <a:sym typeface="Arial" charset="0"/>
              </a:rPr>
              <a:t>견적 제출연도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576350" y="1308983"/>
            <a:ext cx="360000" cy="226591"/>
            <a:chOff x="2709337" y="1307502"/>
            <a:chExt cx="360000" cy="226591"/>
          </a:xfrm>
        </p:grpSpPr>
        <p:sp>
          <p:nvSpPr>
            <p:cNvPr id="77" name="TextBox 7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1" name="실행 단추: 앞으로 또는 다음 8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74184"/>
            <a:ext cx="5691889" cy="2318416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</p:txBody>
      </p:sp>
      <p:sp>
        <p:nvSpPr>
          <p:cNvPr id="92" name="AutoShape 279"/>
          <p:cNvSpPr>
            <a:spLocks noChangeArrowheads="1"/>
          </p:cNvSpPr>
          <p:nvPr/>
        </p:nvSpPr>
        <p:spPr bwMode="auto">
          <a:xfrm>
            <a:off x="5570488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54" name="AutoShape 279"/>
          <p:cNvSpPr>
            <a:spLocks noChangeArrowheads="1"/>
          </p:cNvSpPr>
          <p:nvPr/>
        </p:nvSpPr>
        <p:spPr bwMode="auto">
          <a:xfrm>
            <a:off x="3800840" y="2060810"/>
            <a:ext cx="468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불러오기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56" name="AutoShape 279"/>
          <p:cNvSpPr>
            <a:spLocks noChangeArrowheads="1"/>
          </p:cNvSpPr>
          <p:nvPr/>
        </p:nvSpPr>
        <p:spPr bwMode="auto">
          <a:xfrm>
            <a:off x="4325171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59" name="AutoShape 279"/>
          <p:cNvSpPr>
            <a:spLocks noChangeArrowheads="1"/>
          </p:cNvSpPr>
          <p:nvPr/>
        </p:nvSpPr>
        <p:spPr bwMode="auto">
          <a:xfrm>
            <a:off x="4740277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추가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60" name="AutoShape 279"/>
          <p:cNvSpPr>
            <a:spLocks noChangeArrowheads="1"/>
          </p:cNvSpPr>
          <p:nvPr/>
        </p:nvSpPr>
        <p:spPr bwMode="auto">
          <a:xfrm>
            <a:off x="5155383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graphicFrame>
        <p:nvGraphicFramePr>
          <p:cNvPr id="61" name="표 60"/>
          <p:cNvGraphicFramePr>
            <a:graphicFrameLocks noGrp="1"/>
          </p:cNvGraphicFramePr>
          <p:nvPr/>
        </p:nvGraphicFramePr>
        <p:xfrm>
          <a:off x="488380" y="2511555"/>
          <a:ext cx="3492000" cy="1512000"/>
        </p:xfrm>
        <a:graphic>
          <a:graphicData uri="http://schemas.openxmlformats.org/drawingml/2006/table">
            <a:tbl>
              <a:tblPr/>
              <a:tblGrid>
                <a:gridCol w="432000"/>
                <a:gridCol w="648000"/>
                <a:gridCol w="504000"/>
                <a:gridCol w="432000"/>
                <a:gridCol w="1008000"/>
                <a:gridCol w="468000"/>
              </a:tblGrid>
              <a:tr h="216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선택 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이름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직급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소속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Role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원가관리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배병희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차장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원가관리팀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PL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원가관리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김지원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대리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원가관리팀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PM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설계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&amp;&amp;&amp;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선임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변속기설계팀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PM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▣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설계원가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ㅌㅌㅌ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책임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PT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설계원가팀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PL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$$$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과장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PT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구매팀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PL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WWW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과장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PT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PM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4" name="Group 82"/>
          <p:cNvGraphicFramePr>
            <a:graphicFrameLocks noGrp="1"/>
          </p:cNvGraphicFramePr>
          <p:nvPr/>
        </p:nvGraphicFramePr>
        <p:xfrm>
          <a:off x="6149460" y="1033591"/>
          <a:ext cx="3528000" cy="230808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4056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견적산출시 등록한 코드와 연계하여 목표원가관리용 코드를 생성하고 필요한 기초 정보를 등록함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931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담당자 정보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각 부문별 담당자를 입력함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불러오기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견적단계에 입력된 정보를 가져옴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         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견적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목표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code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앞자리가 동일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수정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기존에 입력 정보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수정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.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     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클릭시 수정 가능하도록 활성화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추가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행 추가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삭제  선택된 행 정보 삭제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저장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수정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추가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삭제된 정보 저장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입력 방식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각 부문별 담당자를 입력함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부문과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Role: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화면에서 선택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콤보박스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이름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조직정보에서 검색하여 선택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직급과 소속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이름 선택시 자동으로 인식하여 가져옴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7" name="직사각형 6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80" name="직사각형 79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87" name="직사각형 86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01</a:t>
            </a:r>
            <a:endParaRPr lang="ko-KR" altLang="en-US" sz="1000" dirty="0" smtClean="0">
              <a:solidFill>
                <a:srgbClr val="000000"/>
              </a:solidFill>
              <a:latin typeface="Arial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89" name="직사각형 88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목표원가 코드 생성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(2/5)</a:t>
            </a:r>
            <a:endParaRPr lang="ko-KR" altLang="en-US" sz="1000" dirty="0" smtClean="0">
              <a:solidFill>
                <a:srgbClr val="000000"/>
              </a:solidFill>
              <a:latin typeface="Arial"/>
              <a:ea typeface="가는각진제목체" pitchFamily="18" charset="-127"/>
              <a:cs typeface="Arial" pitchFamily="34" charset="0"/>
            </a:endParaRPr>
          </a:p>
        </p:txBody>
      </p:sp>
      <p:grpSp>
        <p:nvGrpSpPr>
          <p:cNvPr id="6" name="그룹 123"/>
          <p:cNvGrpSpPr/>
          <p:nvPr/>
        </p:nvGrpSpPr>
        <p:grpSpPr>
          <a:xfrm>
            <a:off x="344360" y="1717130"/>
            <a:ext cx="5515141" cy="252668"/>
            <a:chOff x="326717" y="1882882"/>
            <a:chExt cx="5515141" cy="252668"/>
          </a:xfrm>
        </p:grpSpPr>
        <p:sp>
          <p:nvSpPr>
            <p:cNvPr id="125" name="한쪽 모서리가 잘린 사각형 124"/>
            <p:cNvSpPr/>
            <p:nvPr/>
          </p:nvSpPr>
          <p:spPr bwMode="auto">
            <a:xfrm>
              <a:off x="32671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프로젝트 관리</a:t>
              </a:r>
            </a:p>
          </p:txBody>
        </p:sp>
        <p:sp>
          <p:nvSpPr>
            <p:cNvPr id="126" name="한쪽 모서리가 잘린 사각형 125"/>
            <p:cNvSpPr/>
            <p:nvPr/>
          </p:nvSpPr>
          <p:spPr bwMode="auto">
            <a:xfrm>
              <a:off x="111014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대표사양관리</a:t>
              </a:r>
            </a:p>
          </p:txBody>
        </p:sp>
        <p:sp>
          <p:nvSpPr>
            <p:cNvPr id="127" name="한쪽 모서리가 잘린 사각형 126"/>
            <p:cNvSpPr/>
            <p:nvPr/>
          </p:nvSpPr>
          <p:spPr bwMode="auto">
            <a:xfrm>
              <a:off x="1894574" y="1885614"/>
              <a:ext cx="792000" cy="249936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담당자 정보</a:t>
              </a:r>
            </a:p>
          </p:txBody>
        </p:sp>
        <p:sp>
          <p:nvSpPr>
            <p:cNvPr id="128" name="한쪽 모서리가 잘린 사각형 127"/>
            <p:cNvSpPr/>
            <p:nvPr/>
          </p:nvSpPr>
          <p:spPr bwMode="auto">
            <a:xfrm>
              <a:off x="2680934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판가 정보</a:t>
              </a:r>
            </a:p>
          </p:txBody>
        </p:sp>
        <p:sp>
          <p:nvSpPr>
            <p:cNvPr id="129" name="한쪽 모서리가 잘린 사각형 128"/>
            <p:cNvSpPr/>
            <p:nvPr/>
          </p:nvSpPr>
          <p:spPr bwMode="auto">
            <a:xfrm>
              <a:off x="347304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수량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할인율</a:t>
              </a:r>
            </a:p>
          </p:txBody>
        </p:sp>
        <p:sp>
          <p:nvSpPr>
            <p:cNvPr id="130" name="한쪽 모서리가 잘린 사각형 129"/>
            <p:cNvSpPr/>
            <p:nvPr/>
          </p:nvSpPr>
          <p:spPr bwMode="auto">
            <a:xfrm>
              <a:off x="4260030" y="1887268"/>
              <a:ext cx="792000" cy="248282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개발 및 평가 일정</a:t>
              </a:r>
            </a:p>
          </p:txBody>
        </p:sp>
        <p:sp>
          <p:nvSpPr>
            <p:cNvPr id="131" name="한쪽 모서리가 잘린 사각형 130"/>
            <p:cNvSpPr/>
            <p:nvPr/>
          </p:nvSpPr>
          <p:spPr bwMode="auto">
            <a:xfrm>
              <a:off x="5049858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목표 수립일정</a:t>
              </a:r>
            </a:p>
          </p:txBody>
        </p:sp>
      </p:grpSp>
      <p:sp>
        <p:nvSpPr>
          <p:cNvPr id="91" name="타원 90"/>
          <p:cNvSpPr/>
          <p:nvPr/>
        </p:nvSpPr>
        <p:spPr>
          <a:xfrm>
            <a:off x="1797171" y="155674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rgbClr val="FFFFFF"/>
                </a:solidFill>
                <a:latin typeface="Arial"/>
                <a:ea typeface="가는각진제목체" pitchFamily="18" charset="-127"/>
              </a:rPr>
              <a:t>1</a:t>
            </a:r>
            <a:endParaRPr lang="ko-KR" altLang="en-US" sz="1100" b="1" dirty="0" smtClean="0">
              <a:solidFill>
                <a:srgbClr val="FFFFFF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66" name="직사각형 65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graphicFrame>
        <p:nvGraphicFramePr>
          <p:cNvPr id="76" name="표 75"/>
          <p:cNvGraphicFramePr>
            <a:graphicFrameLocks noGrp="1"/>
          </p:cNvGraphicFramePr>
          <p:nvPr/>
        </p:nvGraphicFramePr>
        <p:xfrm>
          <a:off x="410620" y="2047558"/>
          <a:ext cx="1526732" cy="323850"/>
        </p:xfrm>
        <a:graphic>
          <a:graphicData uri="http://schemas.openxmlformats.org/drawingml/2006/table">
            <a:tbl>
              <a:tblPr/>
              <a:tblGrid>
                <a:gridCol w="763366"/>
                <a:gridCol w="763366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코드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7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chemeClr val="tx1"/>
          </a:solidFill>
          <a:prstDash val="dash"/>
          <a:round/>
          <a:headEnd/>
          <a:tailEnd/>
        </a:ln>
      </a:spPr>
      <a:bodyPr wrap="none" anchor="ctr"/>
      <a:lstStyle>
        <a:defPPr eaLnBrk="0" latinLnBrk="0" hangingPunct="0">
          <a:defRPr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8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chemeClr val="tx1"/>
          </a:solidFill>
          <a:prstDash val="dash"/>
          <a:round/>
          <a:headEnd/>
          <a:tailEnd/>
        </a:ln>
      </a:spPr>
      <a:bodyPr wrap="none" anchor="ctr"/>
      <a:lstStyle>
        <a:defPPr eaLnBrk="0" latinLnBrk="0" hangingPunct="0">
          <a:defRPr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6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9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65929</TotalTime>
  <Words>447</Words>
  <Application>Microsoft Office PowerPoint</Application>
  <PresentationFormat>A4 용지(210x297mm)</PresentationFormat>
  <Paragraphs>200</Paragraphs>
  <Slides>4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4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7_tb4_onscreen_v2.1</vt:lpstr>
      <vt:lpstr>8_tb4_onscreen_v2.1</vt:lpstr>
      <vt:lpstr>6_tb4_onscreen_v2.1</vt:lpstr>
      <vt:lpstr>9_tb4_onscreen_v2.1</vt:lpstr>
      <vt:lpstr>슬라이드 0</vt:lpstr>
      <vt:lpstr>슬라이드 1</vt:lpstr>
      <vt:lpstr>슬라이드 2</vt:lpstr>
      <vt:lpstr>슬라이드 3</vt:lpstr>
    </vt:vector>
  </TitlesOfParts>
  <Company>Samil PwC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김성은</dc:creator>
  <cp:lastModifiedBy>Windows User</cp:lastModifiedBy>
  <cp:revision>8159</cp:revision>
  <cp:lastPrinted>2012-11-21T23:07:40Z</cp:lastPrinted>
  <dcterms:created xsi:type="dcterms:W3CDTF">2011-12-22T02:00:23Z</dcterms:created>
  <dcterms:modified xsi:type="dcterms:W3CDTF">2013-05-16T02:41:40Z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B template version">
    <vt:lpwstr>6</vt:lpwstr>
  </property>
  <property fmtid="{D5CDD505-2E9C-101B-9397-08002B2CF9AE}" pid="3" name="TB template type">
    <vt:lpwstr>Onscreen</vt:lpwstr>
  </property>
  <property fmtid="{D5CDD505-2E9C-101B-9397-08002B2CF9AE}" pid="4" name="Template created by">
    <vt:lpwstr>PwC</vt:lpwstr>
  </property>
  <property fmtid="{D5CDD505-2E9C-101B-9397-08002B2CF9AE}" pid="5" name="Template version">
    <vt:lpwstr>6</vt:lpwstr>
  </property>
</Properties>
</file>