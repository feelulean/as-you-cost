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303" r:id="rId2"/>
    <p:sldId id="454" r:id="rId3"/>
    <p:sldId id="466" r:id="rId4"/>
    <p:sldId id="468" r:id="rId5"/>
    <p:sldId id="456" r:id="rId6"/>
    <p:sldId id="457" r:id="rId7"/>
    <p:sldId id="458" r:id="rId8"/>
    <p:sldId id="462" r:id="rId9"/>
    <p:sldId id="463" r:id="rId10"/>
    <p:sldId id="467" r:id="rId11"/>
    <p:sldId id="465" r:id="rId12"/>
    <p:sldId id="470" r:id="rId13"/>
    <p:sldId id="471" r:id="rId14"/>
    <p:sldId id="469" r:id="rId15"/>
    <p:sldId id="472" r:id="rId16"/>
    <p:sldId id="473" r:id="rId17"/>
    <p:sldId id="474" r:id="rId18"/>
    <p:sldId id="479" r:id="rId19"/>
    <p:sldId id="478" r:id="rId20"/>
    <p:sldId id="492" r:id="rId21"/>
    <p:sldId id="493" r:id="rId22"/>
    <p:sldId id="494" r:id="rId23"/>
    <p:sldId id="495" r:id="rId24"/>
    <p:sldId id="497" r:id="rId25"/>
    <p:sldId id="498" r:id="rId26"/>
    <p:sldId id="490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4660"/>
  </p:normalViewPr>
  <p:slideViewPr>
    <p:cSldViewPr snapToGrid="0">
      <p:cViewPr>
        <p:scale>
          <a:sx n="100" d="100"/>
          <a:sy n="100" d="100"/>
        </p:scale>
        <p:origin x="-630" y="360"/>
      </p:cViewPr>
      <p:guideLst>
        <p:guide orient="horz" pos="714"/>
        <p:guide orient="horz" pos="4031"/>
        <p:guide pos="130"/>
        <p:guide pos="40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84"/>
    </p:cViewPr>
  </p:sorterViewPr>
  <p:notesViewPr>
    <p:cSldViewPr snapToGrid="0">
      <p:cViewPr varScale="1">
        <p:scale>
          <a:sx n="53" d="100"/>
          <a:sy n="53" d="100"/>
        </p:scale>
        <p:origin x="-2868" y="-78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6F98A-82F4-4598-81CB-F94B9ED79BF4}" type="datetimeFigureOut">
              <a:rPr lang="ko-KR" altLang="en-US" smtClean="0"/>
              <a:pPr/>
              <a:t>2013-08-02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C9574-72B9-4BC0-89DA-8598DF2D78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7A7A-AA88-40A0-BA72-6D79FC57D780}" type="datetimeFigureOut">
              <a:rPr lang="ko-KR" altLang="en-US" smtClean="0"/>
              <a:pPr/>
              <a:t>2013-08-02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7756F-0549-4FE0-9D06-896D2150FC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74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313" y="6480812"/>
            <a:ext cx="663287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184929" y="823254"/>
          <a:ext cx="8774020" cy="5558156"/>
        </p:xfrm>
        <a:graphic>
          <a:graphicData uri="http://schemas.openxmlformats.org/drawingml/2006/table">
            <a:tbl>
              <a:tblPr/>
              <a:tblGrid>
                <a:gridCol w="975131"/>
                <a:gridCol w="5356210"/>
                <a:gridCol w="2442679"/>
              </a:tblGrid>
              <a:tr h="23045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화면명</a:t>
                      </a: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 설명</a:t>
                      </a: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2533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4"/>
          <p:cNvSpPr>
            <a:spLocks noGrp="1" noChangeArrowheads="1"/>
          </p:cNvSpPr>
          <p:nvPr>
            <p:ph type="title" hasCustomPrompt="1"/>
          </p:nvPr>
        </p:nvSpPr>
        <p:spPr bwMode="black">
          <a:xfrm>
            <a:off x="209552" y="142875"/>
            <a:ext cx="6567854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/>
            <a:r>
              <a:rPr lang="en-GB" altLang="ko-KR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184929" y="823254"/>
          <a:ext cx="8774020" cy="5558156"/>
        </p:xfrm>
        <a:graphic>
          <a:graphicData uri="http://schemas.openxmlformats.org/drawingml/2006/table">
            <a:tbl>
              <a:tblPr/>
              <a:tblGrid>
                <a:gridCol w="975131"/>
                <a:gridCol w="5356210"/>
                <a:gridCol w="2442679"/>
              </a:tblGrid>
              <a:tr h="23045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화면명</a:t>
                      </a: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 설명</a:t>
                      </a:r>
                      <a:endParaRPr kumimoji="1" lang="en-US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2533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84406" marR="8440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4"/>
          <p:cNvSpPr>
            <a:spLocks noGrp="1" noChangeArrowheads="1"/>
          </p:cNvSpPr>
          <p:nvPr>
            <p:ph type="title" hasCustomPrompt="1"/>
          </p:nvPr>
        </p:nvSpPr>
        <p:spPr bwMode="black">
          <a:xfrm>
            <a:off x="209552" y="142875"/>
            <a:ext cx="6567854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/>
            <a:r>
              <a:rPr lang="en-GB" altLang="ko-KR" dirty="0" smtClean="0"/>
              <a:t>Click to edit Master title style</a:t>
            </a:r>
          </a:p>
        </p:txBody>
      </p:sp>
      <p:pic>
        <p:nvPicPr>
          <p:cNvPr id="8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313" y="6480812"/>
            <a:ext cx="663287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67255" y="6453336"/>
            <a:ext cx="2791695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990" y="6597352"/>
            <a:ext cx="663287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5846" y="906463"/>
            <a:ext cx="87820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09552" y="142875"/>
            <a:ext cx="6567854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4653" y="247653"/>
            <a:ext cx="142143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fontAlgn="base" latinLnBrk="0">
              <a:spcBef>
                <a:spcPct val="0"/>
              </a:spcBef>
              <a:spcAft>
                <a:spcPct val="0"/>
              </a:spcAft>
              <a:buSzPct val="90000"/>
              <a:defRPr/>
            </a:pPr>
            <a:endParaRPr lang="en-US" altLang="ko-KR" sz="1200" dirty="0">
              <a:solidFill>
                <a:srgbClr val="8BCBE6"/>
              </a:solidFill>
              <a:latin typeface="가는각진제목체" pitchFamily="18" charset="-127"/>
              <a:ea typeface="가는각진제목체" pitchFamily="18" charset="-127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가는각진제목체" pitchFamily="18" charset="-127"/>
          <a:ea typeface="가는각진제목체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6"/>
            <a:ext cx="9144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383932" y="406403"/>
            <a:ext cx="1795097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591660" y="4941171"/>
            <a:ext cx="1918188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333" tIns="51667" rIns="103333" bIns="51667" anchor="ctr">
            <a:spAutoFit/>
          </a:bodyPr>
          <a:lstStyle/>
          <a:p>
            <a:pPr algn="ctr" defTabSz="914400"/>
            <a:r>
              <a:rPr lang="en-US" altLang="ko-KR" sz="2000" b="1" dirty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  <a:cs typeface="Arial" charset="0"/>
              </a:rPr>
              <a:t>2013.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  <a:cs typeface="Arial" charset="0"/>
              </a:rPr>
              <a:t>7. 31</a:t>
            </a:r>
            <a:endParaRPr lang="en-US" altLang="ko-KR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372636" y="5635208"/>
            <a:ext cx="1728192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3176152" y="5589240"/>
            <a:ext cx="1196441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6742236" y="193675"/>
            <a:ext cx="917331" cy="33813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defTabSz="914400" eaLnBrk="1" hangingPunct="1"/>
            <a:r>
              <a:rPr lang="ko-KR" altLang="en-US" sz="1600">
                <a:solidFill>
                  <a:srgbClr val="C00000"/>
                </a:solidFill>
                <a:latin typeface="Arial"/>
                <a:ea typeface="가는각진제목체"/>
              </a:rPr>
              <a:t>대 외 비</a:t>
            </a:r>
          </a:p>
        </p:txBody>
      </p:sp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875194" y="1628750"/>
            <a:ext cx="7352598" cy="190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45669" rIns="91339" bIns="45669" anchor="ctr"/>
          <a:lstStyle/>
          <a:p>
            <a:pPr algn="ctr"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Manual</a:t>
            </a:r>
            <a:endParaRPr lang="en-US" altLang="ko-KR" sz="32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677273" y="1187408"/>
            <a:ext cx="59408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8493775" y="406400"/>
            <a:ext cx="650225" cy="60786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12" name="Group 11"/>
          <p:cNvGraphicFramePr>
            <a:graphicFrameLocks noGrp="1"/>
          </p:cNvGraphicFramePr>
          <p:nvPr/>
        </p:nvGraphicFramePr>
        <p:xfrm>
          <a:off x="7801709" y="193675"/>
          <a:ext cx="1131277" cy="823914"/>
        </p:xfrm>
        <a:graphic>
          <a:graphicData uri="http://schemas.openxmlformats.org/drawingml/2006/table">
            <a:tbl>
              <a:tblPr/>
              <a:tblGrid>
                <a:gridCol w="302338"/>
                <a:gridCol w="828939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○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의사결정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●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정보전달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○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가는각진제목체"/>
                        </a:rPr>
                        <a:t>지시사항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직사각형 18"/>
          <p:cNvSpPr/>
          <p:nvPr/>
        </p:nvSpPr>
        <p:spPr bwMode="auto">
          <a:xfrm>
            <a:off x="184929" y="6237390"/>
            <a:ext cx="8959071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184929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81530" y="3068951"/>
            <a:ext cx="10663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목표 원가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8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C:\Documents and Settings\aduser\Desktop\목표원가\목표원가 관리\초기화면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 관리 초기화면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887016" y="1600200"/>
            <a:ext cx="579959" cy="942974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739900" y="1443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이동하려는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클릭하여 해당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목표원가관리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5" descr="C:\Documents and Settings\aduser\Desktop\목표원가\목표원가 관리\초기화면 1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목표원가관리 프로젝트 등록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5156200" y="2130425"/>
            <a:ext cx="1296000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4993209" y="19453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86840" y="4892675"/>
            <a:ext cx="3564000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285750" y="47073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354534" y="30817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507999" y="3248025"/>
            <a:ext cx="539751" cy="16192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86816" y="2413000"/>
            <a:ext cx="4596334" cy="5207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20650" y="22816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149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2750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33084" y="38846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입력조건 입력 가능함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 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기존 생성된 프로젝트 코드로 조회 가능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고객사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값 기준으로 조회 가능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542925" indent="-361950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기존 목표원가 프로젝트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list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542925" indent="-361950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신규 목표원가 프로젝트 등록 가능한 열이 생성됨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선택한 프로젝트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데이터 저장함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 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-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 코드를 클릭하여 해당 프로젝트의 목표원가 상세화면으로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누르면 새로운 프로젝트 등록 가능한 열이 추가됨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 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프로젝트명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>
              <a:buFontTx/>
              <a:buChar char="-"/>
            </a:pP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견적코드 조회화면으로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목표원가관리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20" name="직사각형 19"/>
          <p:cNvSpPr/>
          <p:nvPr/>
        </p:nvSpPr>
        <p:spPr bwMode="auto">
          <a:xfrm>
            <a:off x="4049190" y="4892675"/>
            <a:ext cx="216000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3848100" y="47073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533084" y="5265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Documents and Settings\aduser\Desktop\목표원가\목표원가 관리\목표원가 프로젝트목록 추가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62050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목표원가관리 프로젝트 견적원가코드와 </a:t>
            </a:r>
            <a:r>
              <a:rPr lang="en-US" altLang="ko-KR" dirty="0" smtClean="0">
                <a:latin typeface="Arial"/>
                <a:ea typeface="가는각진제목체"/>
              </a:rPr>
              <a:t>Mapping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1689100" y="3625850"/>
            <a:ext cx="360000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440384" y="284074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468959" y="34627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631949" y="3028950"/>
            <a:ext cx="3438525" cy="3333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087291" y="2765426"/>
            <a:ext cx="1008000" cy="1800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3921125" y="26340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17672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28083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542925" indent="-361950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기존 견적원가 프로젝트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list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542925" indent="-361950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차종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고객사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고객사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견적제출년도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견적제출년도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 코드를 클릭하여 목표원가와 견적원가의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Mapping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선택하여 해당 견적원가의 정보를 불러와 목표원가와 연계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목표원가관리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 견적코드 조회 화면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 descr="C:\Documents and Settings\aduser\Desktop\목표원가\목표원가 관리\목표원가 상세 담당자정보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 관리 담당자 정보 등록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6099175" y="2139951"/>
            <a:ext cx="358775" cy="1651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5403850" y="3762375"/>
            <a:ext cx="987426" cy="2095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05866" y="4190999"/>
            <a:ext cx="2770709" cy="371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168900" y="35865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5893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신규 담당자 정보를 입력할 수 있는 새로운 열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담당자를 선택하여 등록된 담당자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등록하려는 부문을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이름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등록하려는 담당자의 이름을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돋보기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아이콘을 이용하여 조회하여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직급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소속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ROLE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등록한 담당자의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ROLE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목표원가관리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목표원가 상세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담당자정보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Tab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898084" y="19768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22502" y="40027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9" descr="C:\Documents and Settings\aduser\Desktop\목표원가\목표원가 관리\목표원가 상세 대표사양관리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 관리 대표사양관리 등록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6118225" y="2149475"/>
            <a:ext cx="349250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964759" y="19672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36549" y="4200525"/>
            <a:ext cx="5902326" cy="7715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392216" y="3784600"/>
            <a:ext cx="1018109" cy="1682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26050" y="36627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149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4369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견적원가코드에 등록된 대표사양 추가화면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대표사양을 선택하여 등록된 대표사양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대표사양을 삭제를 위해 대표사양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대표사양선택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관리할 대표사양을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프로젝트명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견적원코드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OEM,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기능을 활용하여 정보를 불러와 해당 값 자동생성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대표사양 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5" name="타원 4"/>
          <p:cNvSpPr/>
          <p:nvPr/>
        </p:nvSpPr>
        <p:spPr>
          <a:xfrm>
            <a:off x="192609" y="401231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 descr="C:\Documents and Settings\aduser\Desktop\목표원가\목표원가 관리\목표원가 상세 대표사양관리추가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 관리 대표사양 관리 견적원가코드 등록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4194175" y="1587500"/>
            <a:ext cx="1009650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4031184" y="1402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297509" y="27102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527174" y="2895600"/>
            <a:ext cx="234951" cy="7810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515541" y="1860550"/>
            <a:ext cx="3675584" cy="7302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339850" y="17577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9769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8941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조회하려는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저회하려는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맞춰 견적원가코드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list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조회된 견적원가코드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맞춰 조회된 견적원가코드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대표사양 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C:\Documents and Settings\aduser\Desktop\목표원가\목표원가 관리\목표원가 상세 판가정보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Arial"/>
                <a:ea typeface="가는각진제목체"/>
              </a:rPr>
              <a:t>목표원가 관리 판가정보 등록</a:t>
            </a:r>
            <a:endParaRPr lang="ko-KR" altLang="en-US" dirty="0">
              <a:latin typeface="Arial"/>
              <a:ea typeface="가는각진제목체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6118225" y="2149476"/>
            <a:ext cx="349250" cy="1651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25934" y="39932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942277" y="19958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07974" y="4181474"/>
            <a:ext cx="3035301" cy="419101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392216" y="3775075"/>
            <a:ext cx="999059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26050" y="36436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720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29702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프로젝트에 등록된 판가정보 불러오기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선택된 판가정보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 저장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통화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예상판가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SOP, EOP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추가된 판가정보는 등록된 해당 프로젝트의 정보를 불러와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통화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예상판가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SOP, EOP’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판가정보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C:\Documents and Settings\aduser\Desktop\목표원가\목표원가 관리\목표원가 상세 수량할인율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관리 수량</a:t>
            </a:r>
            <a:r>
              <a:rPr lang="en-US" altLang="ko-KR" dirty="0" smtClean="0"/>
              <a:t>/</a:t>
            </a:r>
            <a:r>
              <a:rPr lang="ko-KR" altLang="en-US" dirty="0" smtClean="0"/>
              <a:t>할인율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27750" y="2139951"/>
            <a:ext cx="349250" cy="1651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42875" y="401231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926659" y="19577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27024" y="4210050"/>
            <a:ext cx="5187951" cy="3524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392216" y="3765550"/>
            <a:ext cx="1008584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26050" y="36341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1226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프로젝트에 등록된 수량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할인율 정보 불러오기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선택된 수량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할인율정보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 저장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클릭하여 목표원가코드에 해당하는 수량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할인율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년도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해당년도의 수량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할인율 자동생성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수정가능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수량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할인율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20" name="타원 19"/>
          <p:cNvSpPr/>
          <p:nvPr/>
        </p:nvSpPr>
        <p:spPr>
          <a:xfrm>
            <a:off x="142875" y="51838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327025" y="5381625"/>
            <a:ext cx="4645026" cy="3524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C:\Documents and Settings\aduser\Desktop\목표원가\목표원가 관리\목표원가 상세 개발및평가일정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3793899"/>
          </a:xfrm>
          <a:prstGeom prst="rect">
            <a:avLst/>
          </a:prstGeom>
          <a:noFill/>
        </p:spPr>
      </p:pic>
      <p:pic>
        <p:nvPicPr>
          <p:cNvPr id="1026" name="Picture 2" descr="C:\Documents and Settings\aduser\Desktop\목표원가\목표원가 관리\목표원가 상세 개발및평가일정2 .png"/>
          <p:cNvPicPr preferRelativeResize="0">
            <a:picLocks noChangeArrowheads="1"/>
          </p:cNvPicPr>
          <p:nvPr/>
        </p:nvPicPr>
        <p:blipFill>
          <a:blip r:embed="rId3"/>
          <a:srcRect t="65296"/>
          <a:stretch>
            <a:fillRect/>
          </a:stretch>
        </p:blipFill>
        <p:spPr bwMode="auto">
          <a:xfrm>
            <a:off x="200025" y="4743450"/>
            <a:ext cx="6300000" cy="16383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관리 상세개발 및 평가일정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298450" y="4168775"/>
            <a:ext cx="1339850" cy="4222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35459" y="398374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5658916" y="4797425"/>
            <a:ext cx="637110" cy="1651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5457825" y="46120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25934" y="49962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55599" y="5181600"/>
            <a:ext cx="2501901" cy="6762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96341" y="3375025"/>
            <a:ext cx="960959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11125" y="3196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149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5703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33084" y="50943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-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도면도출 일정 등록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Proto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도면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Proto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도면 예정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완료일을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양산도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프로젝트의 양산도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예정완료일을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-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개발단계 일정등록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Proto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Proto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예정개시일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예정완료일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Pilot 1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Pilot 1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예정개시일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예정완료일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Pilot 2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프로젝트의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Pilot 2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예정개시일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예정완료일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-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달성도평가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일정등록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upDown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열을 선택하여 위치를 위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아래로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1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~ 7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 최종까지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시기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평가시기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현상원가산출개시일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평가완료일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개시일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완료일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신규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달성도평가를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등록할 수 있는 새로운 열을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달성도평가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개발 및 평가일정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23" name="직사각형 22"/>
          <p:cNvSpPr/>
          <p:nvPr/>
        </p:nvSpPr>
        <p:spPr bwMode="auto">
          <a:xfrm>
            <a:off x="6058966" y="3044825"/>
            <a:ext cx="360884" cy="1555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857875" y="28594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6097066" y="1863725"/>
            <a:ext cx="360884" cy="1555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895975" y="16783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6533084" y="58658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C:\Documents and Settings\aduser\Desktop\목표원가\목표원가 관리\목표원가 상세 목표수립일정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159101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관리 상세목표 수립일정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099175" y="2139951"/>
            <a:ext cx="35877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36184" y="195491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5601767" y="3768725"/>
            <a:ext cx="799034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5400676" y="35833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317875" y="4200525"/>
            <a:ext cx="987425" cy="1133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658416" y="4194174"/>
            <a:ext cx="1437209" cy="11398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492250" y="40342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149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28178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33084" y="37322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담당부서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담당부서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시작일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담당부서의 업무 시작일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달력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선택하여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종료일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담당부서의 업무 종료일 자동생성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업무종료일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처리여부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지연일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업무 종료일정에 따라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E-Mail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발송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담당부서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클릭한 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E-Mail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발송 아이콘을 클릭하여 해당 부서에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E-Mail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발송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상세 목표 수립일정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8" name="타원 7"/>
          <p:cNvSpPr/>
          <p:nvPr/>
        </p:nvSpPr>
        <p:spPr>
          <a:xfrm>
            <a:off x="3164409" y="40342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C:\Documents and Settings\aduser\Desktop\목표원가\목표원가산출\목표원가산출 초기화면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프로젝트 등록 및 목표수익률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4679949" y="2130426"/>
            <a:ext cx="174942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4516959" y="19453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96365" y="3435350"/>
            <a:ext cx="55138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333375" y="32690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982515" y="3448050"/>
            <a:ext cx="884759" cy="5619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67766" y="2393950"/>
            <a:ext cx="6152084" cy="7493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01600" y="22625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967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46466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33084" y="58658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최종목표수익률 입력 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목표수익률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해당하는 프로젝트 조회하기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 산출 프로젝트를 추가하기 위한 목표원가코드 조회화면으로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선택한 프로젝트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목표수익률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을 클릭한 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해당 프로젝트의 최종견적의 목표수익률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최종목표수익률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최종목표수익률 정수로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목표원가그룹코드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목표원가그룹코드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클릭하여 해당 목표원가프로젝트의 상세화면으로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</a:t>
            </a:r>
            <a:r>
              <a:rPr kumimoji="1" lang="en-GB" altLang="ko-KR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  <a:r>
              <a:rPr kumimoji="1" lang="ko-KR" alt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산출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8" name="타원 7"/>
          <p:cNvSpPr/>
          <p:nvPr/>
        </p:nvSpPr>
        <p:spPr>
          <a:xfrm>
            <a:off x="3835400" y="33293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5" descr="C:\Documents and Settings\aduser\Desktop\목표원가\목표원가산출\목표원가산출 초기화면 추가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프로젝트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4273550" y="1577975"/>
            <a:ext cx="1009650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4110559" y="139294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399109" y="27038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628774" y="2889250"/>
            <a:ext cx="3565526" cy="1714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572691" y="1812924"/>
            <a:ext cx="3672409" cy="7651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406525" y="16815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989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40402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해당하는 프로젝트 조회하기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조회된 프로젝트 중 목표원가 산출을 수행할 프로젝트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따라 조회된 프로젝트 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목표원가 산출 프로젝트 등록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산출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목표원가코드 조회 화면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C:\Documents and Settings\aduser\Desktop\목표원가\목표원가산출\목표원가산출 상세화면 견적불러오기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견적 불러오기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089650" y="2130425"/>
            <a:ext cx="377825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26659" y="19453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992166" y="3736975"/>
            <a:ext cx="1399109" cy="2254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826000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해당 프로젝트의 견적 불러오기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단위당 금액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프로젝트의 견적을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혹은 단위당 금액으로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산출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견적불러오기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C:\Documents and Settings\aduser\Desktop\목표원가\목표원가산출\목표원가산출 상세화면 부문별목표가이드산출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부문별 목표 </a:t>
            </a:r>
            <a:r>
              <a:rPr lang="en-US" altLang="ko-KR" dirty="0" smtClean="0"/>
              <a:t>Guide </a:t>
            </a:r>
            <a:r>
              <a:rPr lang="ko-KR" altLang="en-US" dirty="0" smtClean="0"/>
              <a:t>산출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18225" y="2130425"/>
            <a:ext cx="311150" cy="2032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5953125" y="1973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868216" y="3727449"/>
            <a:ext cx="2513534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3702050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05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년도별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산출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단위당금액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총금액이나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단위당 금액으로 화면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산출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C:\Documents and Settings\aduser\Desktop\목표원가\목표원가산출\목표원가산출 상세화면 부문별목표가이드산출 목표금액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부문별 목표 </a:t>
            </a:r>
            <a:r>
              <a:rPr lang="en-US" altLang="ko-KR" dirty="0" smtClean="0"/>
              <a:t>Guide </a:t>
            </a:r>
            <a:r>
              <a:rPr lang="ko-KR" altLang="en-US" dirty="0" smtClean="0"/>
              <a:t>산출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목표금액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년도별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산출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단위당금액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총금액이나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단위당 금액으로 화면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산출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6118225" y="2130425"/>
            <a:ext cx="311150" cy="2032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5953125" y="1973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3868216" y="3727449"/>
            <a:ext cx="2513534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3702050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6533084" y="2205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aduser\Desktop\목표원가\목표원가산출\목표원가산출 상세화면 목표원가등록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목표원가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08700" y="2130426"/>
            <a:ext cx="33972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936184" y="19863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41500" y="4181475"/>
            <a:ext cx="1730376" cy="18002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642916" y="3727450"/>
            <a:ext cx="1738834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476750" y="35960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5102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8751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1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차년도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합계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목표원가등록을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1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차년도나 합계기준으로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목표원가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원가항목에 관련해 견적원가와 배부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확정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 입력 후 절감목표를 확정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원가항목의 최종목표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원가값을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차이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최종목표와 배부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의 차이 자동생성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조정사유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조정사유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견적원가와 최종목표의 차이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산출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등록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5" name="타원 4"/>
          <p:cNvSpPr/>
          <p:nvPr/>
        </p:nvSpPr>
        <p:spPr>
          <a:xfrm>
            <a:off x="1678509" y="40027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 descr="C:\Documents and Settings\aduser\Desktop\목표원가\목표원가산출\목표원가산출 상세화면 목표달성계획 등록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2225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목표달성 계획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080125" y="2120901"/>
            <a:ext cx="39687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17134" y="19358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2954859" y="4005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184524" y="4191000"/>
            <a:ext cx="501651" cy="18097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039791" y="3736975"/>
            <a:ext cx="1351484" cy="2159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873625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25225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목표원가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절감계획을 등록할 원가항목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확정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최종절감계획 등록 후  절감계획 확정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등록 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산출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목표달성계획 등록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Documents and Settings\aduser\Desktop\목표원가\목표원가산출\last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3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목표달성 계획 등록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1993899" y="4102100"/>
            <a:ext cx="2592000" cy="3175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1821384" y="39265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985691" y="1917700"/>
            <a:ext cx="1005409" cy="1587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3819525" y="17958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4179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신규 절감계획 등록 가능한 새로운 열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1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1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2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2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3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Level 3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금액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절감가능 금액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절감계획서 파일 첨부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산출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목표달성계획 등록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Tab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절감계획 등록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9" name="직사각형 8"/>
          <p:cNvSpPr/>
          <p:nvPr/>
        </p:nvSpPr>
        <p:spPr bwMode="auto">
          <a:xfrm>
            <a:off x="4613275" y="2428875"/>
            <a:ext cx="320676" cy="1714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450284" y="22911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C:\Documents and Settings\aduser\Desktop\목표원가\목표원가재산출\목표원가재산출 초기화면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3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프로젝트 등록 및 목표수익률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5153025" y="2092326"/>
            <a:ext cx="1276349" cy="174624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002734" y="192634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2077516" y="3359150"/>
            <a:ext cx="256110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1914525" y="31928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4230165" y="3359150"/>
            <a:ext cx="884759" cy="171451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67766" y="2355850"/>
            <a:ext cx="6152084" cy="7493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01600" y="22244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967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41894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533084" y="51133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해당하는 프로젝트 조회하기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재산출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프로젝트를 추가하기 위한 목표원가코드 조회화면으로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삭제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선택한 프로젝트 삭제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목표수익률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프로젝트의 최종견적 목표수익률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최종목표수익률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최종목표수익률 정수로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현상원가그룹코드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재산출을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수행할 현상원가코드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Mapping</a:t>
            </a: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차수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차수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클릭하여 해당 목표원가프로젝트의 상세화면으로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</a:t>
            </a:r>
            <a:r>
              <a:rPr kumimoji="1" lang="en-GB" altLang="ko-KR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  <a:r>
              <a:rPr kumimoji="1" lang="ko-KR" alt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</a:t>
            </a:r>
            <a:r>
              <a:rPr kumimoji="1" lang="ko-KR" altLang="en-US" sz="1400" b="1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재산출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8" name="타원 7"/>
          <p:cNvSpPr/>
          <p:nvPr/>
        </p:nvSpPr>
        <p:spPr>
          <a:xfrm>
            <a:off x="4083050" y="31928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5620815" y="3359150"/>
            <a:ext cx="684000" cy="171451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5473700" y="31928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6533084" y="57134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C:\Documents and Settings\aduser\Desktop\목표원가\목표원가재산출\목표원가재산출 초기화면 추가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2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프로젝트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4273550" y="1682750"/>
            <a:ext cx="1009650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4110559" y="149771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437209" y="28277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666874" y="3013075"/>
            <a:ext cx="3565526" cy="1714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610791" y="1936749"/>
            <a:ext cx="3672409" cy="7651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444625" y="18053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989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40402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해당하는 프로젝트 조회하기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조회된 프로젝트 중 목표원가 산출을 수행할 프로젝트 선택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검색조건에 따라 조회된 프로젝트 중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선택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목표원가 산출 프로젝트 등록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</a:t>
            </a:r>
            <a:r>
              <a:rPr kumimoji="1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재산출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목표원가코드 조회 화면</a:t>
            </a:r>
            <a:endParaRPr kumimoji="1" lang="en-GB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C:\Documents and Settings\aduser\Desktop\목표원가\목표원가재산출\목표원가재산출 상세화면 현상원가불러오기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2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산출 견적 불러오기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089650" y="2130425"/>
            <a:ext cx="377825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26659" y="194539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992166" y="3736975"/>
            <a:ext cx="1399109" cy="2254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826000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05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’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아이콘을 클릭하여 해당 프로젝트의 현상원가 불러오기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단위당 금액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해당 프로젝트의 현상원가를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혹은 단위당 금액으로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</a:t>
            </a:r>
            <a:r>
              <a:rPr kumimoji="1" lang="ko-KR" altLang="en-US" sz="1400" b="1" kern="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재산출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견적불러오기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Documents and Settings\aduser\Desktop\목표원가\목표원가재산출\목표원가재산출 상세화면 부문별 목표 가이드 산출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2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</a:t>
            </a:r>
            <a:r>
              <a:rPr lang="ko-KR" altLang="en-US" dirty="0" err="1" smtClean="0"/>
              <a:t>제산출</a:t>
            </a:r>
            <a:r>
              <a:rPr lang="ko-KR" altLang="en-US" dirty="0" smtClean="0"/>
              <a:t> 부문별 목표 </a:t>
            </a:r>
            <a:r>
              <a:rPr lang="en-US" altLang="ko-KR" dirty="0" smtClean="0"/>
              <a:t>Guide </a:t>
            </a:r>
            <a:r>
              <a:rPr lang="ko-KR" altLang="en-US" dirty="0" smtClean="0"/>
              <a:t>산출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18225" y="2130425"/>
            <a:ext cx="311150" cy="2032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5953125" y="19736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868216" y="3727449"/>
            <a:ext cx="2513534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3702050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205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년도별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부문별 목표 산출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산출된 정보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단위당금액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총금액이나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단위당 금액으로 화면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 </a:t>
            </a:r>
            <a:r>
              <a:rPr kumimoji="1" lang="ko-KR" altLang="en-US" sz="1400" b="1" kern="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재산출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&gt;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1" lang="ko-KR" altLang="en-US" sz="1400" b="1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C:\Documents and Settings\aduser\Desktop\목표원가\목표원가재산출\목표원가재산출 상세화면 목표원가등록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2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</a:t>
            </a:r>
            <a:r>
              <a:rPr lang="ko-KR" altLang="en-US" dirty="0" err="1" smtClean="0"/>
              <a:t>재산출</a:t>
            </a:r>
            <a:r>
              <a:rPr lang="ko-KR" altLang="en-US" dirty="0" smtClean="0"/>
              <a:t> 목표원가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08700" y="2130426"/>
            <a:ext cx="33972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936184" y="19863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41500" y="3971925"/>
            <a:ext cx="1730376" cy="2190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642916" y="3727450"/>
            <a:ext cx="1738834" cy="2444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476750" y="359605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5102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387511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1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차년도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합계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목표원가등록을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1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차년도나 합계기준으로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목표원가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원가항목에 관련해 현상원가와 배부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를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확정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 입력 후 절감목표를 확정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원가항목의 최종목표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원가값을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차이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최종목표와 배부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Guide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의 차이 자동생성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조정사유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조정사유 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현상원가와 최종목표의 차이 자동생성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</a:t>
            </a:r>
            <a:r>
              <a:rPr kumimoji="1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재산출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등록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  <p:sp>
        <p:nvSpPr>
          <p:cNvPr id="5" name="타원 4"/>
          <p:cNvSpPr/>
          <p:nvPr/>
        </p:nvSpPr>
        <p:spPr>
          <a:xfrm>
            <a:off x="1678509" y="38027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6" descr="C:\Documents and Settings\aduser\Desktop\목표원가\목표원가재산출\목표원가재산출 상세화면 목표달성계획등록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47762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</a:t>
            </a:r>
            <a:r>
              <a:rPr lang="ko-KR" altLang="en-US" dirty="0" err="1" smtClean="0"/>
              <a:t>재산출</a:t>
            </a:r>
            <a:r>
              <a:rPr lang="ko-KR" altLang="en-US" dirty="0" smtClean="0"/>
              <a:t> 목표달성 계획 등록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080125" y="2120901"/>
            <a:ext cx="396875" cy="18415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17134" y="19358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2954859" y="377702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155949" y="3962400"/>
            <a:ext cx="501651" cy="21907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039791" y="3736975"/>
            <a:ext cx="1351484" cy="2159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873625" y="360557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0530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533084" y="25225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목표원가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생성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절감계획을 등록할 원가항목 생성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추가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변경된 정보를 저장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확정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최종절감계획 등록 후  절감계획 확정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절감계획 등록 화면으로 이동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/>
            </a:r>
            <a:b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</a:b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닫기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창 닫기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목표원가 </a:t>
            </a:r>
            <a:r>
              <a:rPr kumimoji="1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재산출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  <a:r>
              <a:rPr kumimoji="1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목표달성계획 등록 </a:t>
            </a:r>
            <a:r>
              <a:rPr kumimoji="1" lang="en-US" altLang="ko-KR" sz="1400" b="1" kern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Tab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Documents and Settings\aduser\Desktop\목표원가\현황판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157287"/>
            <a:ext cx="6300000" cy="5220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목표원가 달성 현황 조회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 bwMode="auto">
          <a:xfrm>
            <a:off x="6108700" y="2082800"/>
            <a:ext cx="358775" cy="174625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5945709" y="18977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77291" y="2336800"/>
            <a:ext cx="4596334" cy="520700"/>
          </a:xfrm>
          <a:prstGeom prst="rect">
            <a:avLst/>
          </a:prstGeom>
          <a:noFill/>
          <a:ln w="19050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11125" y="22054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33084" y="266260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4" y="11484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527085" y="1139540"/>
            <a:ext cx="2438975" cy="51840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square" rtlCol="0" anchor="t" anchorCtr="0"/>
          <a:lstStyle/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사업부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제품군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필수항목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)</a:t>
            </a:r>
          </a:p>
          <a:p>
            <a:pPr marL="180975"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OEM 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등록된 차종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Drop down Menu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에서 선택입력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  <a:p>
            <a:pPr marL="180975"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  <a:cs typeface="Arial" pitchFamily="34" charset="0"/>
              </a:rPr>
              <a:t>조회조건에 따라 목표달성 현황 조회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black">
          <a:xfrm>
            <a:off x="1262720" y="813898"/>
            <a:ext cx="5256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가는각진제목체" pitchFamily="18" charset="-127"/>
                <a:ea typeface="가는각진제목체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 dirty="0" smtClean="0">
                <a:solidFill>
                  <a:srgbClr val="000000"/>
                </a:solidFill>
                <a:latin typeface="Arial"/>
                <a:ea typeface="가는각진제목체"/>
                <a:cs typeface="+mj-cs"/>
              </a:rPr>
              <a:t>목표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원가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&gt; </a:t>
            </a:r>
            <a:r>
              <a:rPr kumimoji="1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목표달성 현황</a:t>
            </a:r>
            <a:r>
              <a:rPr kumimoji="1" lang="en-GB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  <a:cs typeface="+mj-cs"/>
              </a:rPr>
              <a:t> 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1731</Words>
  <Application>Microsoft Office PowerPoint</Application>
  <PresentationFormat>화면 슬라이드 쇼(4:3)</PresentationFormat>
  <Paragraphs>558</Paragraphs>
  <Slides>26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6_tb4_onscreen_v2.1</vt:lpstr>
      <vt:lpstr>슬라이드 1</vt:lpstr>
      <vt:lpstr>목표원가 관리 초기화면</vt:lpstr>
      <vt:lpstr>목표원가관리 프로젝트 등록</vt:lpstr>
      <vt:lpstr>목표원가관리 프로젝트 견적원가코드와 Mapping</vt:lpstr>
      <vt:lpstr>목표원가 관리 담당자 정보 등록</vt:lpstr>
      <vt:lpstr>목표원가 관리 대표사양관리 등록</vt:lpstr>
      <vt:lpstr>목표원가 관리 대표사양 관리 견적원가코드 등록</vt:lpstr>
      <vt:lpstr>목표원가 관리 판가정보 등록</vt:lpstr>
      <vt:lpstr>목표원가 관리 수량/할인율 등록</vt:lpstr>
      <vt:lpstr>목표원가 관리 상세개발 및 평가일정 등록</vt:lpstr>
      <vt:lpstr>목표원가 관리 상세목표 수립일정 등록</vt:lpstr>
      <vt:lpstr>목표원가 산출 프로젝트 등록 및 목표수익률 등록</vt:lpstr>
      <vt:lpstr>목표원가 산출 프로젝트 등록</vt:lpstr>
      <vt:lpstr>목표원가 산출 견적 불러오기</vt:lpstr>
      <vt:lpstr>목표원가 산출 부문별 목표 Guide 산출</vt:lpstr>
      <vt:lpstr>목표원가 산출 부문별 목표 Guide 산출 - 목표금액</vt:lpstr>
      <vt:lpstr>목표원가 산출 목표원가 등록</vt:lpstr>
      <vt:lpstr>목표원가 산출 목표달성 계획 등록</vt:lpstr>
      <vt:lpstr>목표원가 산출 목표달성 계획 등록 </vt:lpstr>
      <vt:lpstr>목표원가 산출 프로젝트 등록 및 목표수익률 등록</vt:lpstr>
      <vt:lpstr>목표원가 산출 프로젝트 등록</vt:lpstr>
      <vt:lpstr>목표원가 산출 견적 불러오기</vt:lpstr>
      <vt:lpstr>목표원가 제산출 부문별 목표 Guide 산출</vt:lpstr>
      <vt:lpstr>목표원가 재산출 목표원가 등록</vt:lpstr>
      <vt:lpstr>목표원가 재산출 목표달성 계획 등록</vt:lpstr>
      <vt:lpstr>목표원가 달성 현황 조회</vt:lpstr>
    </vt:vector>
  </TitlesOfParts>
  <Company>PricewaterhouseCoopers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Windows User</dc:creator>
  <cp:lastModifiedBy>PwC User</cp:lastModifiedBy>
  <cp:revision>191</cp:revision>
  <dcterms:created xsi:type="dcterms:W3CDTF">2013-06-18T01:06:43Z</dcterms:created>
  <dcterms:modified xsi:type="dcterms:W3CDTF">2013-08-02T07:17:24Z</dcterms:modified>
</cp:coreProperties>
</file>