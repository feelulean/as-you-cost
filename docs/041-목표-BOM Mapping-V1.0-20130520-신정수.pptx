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  <p:sldMasterId id="2147484696" r:id="rId8"/>
    <p:sldMasterId id="2147484699" r:id="rId9"/>
    <p:sldMasterId id="2147484702" r:id="rId10"/>
    <p:sldMasterId id="2147484705" r:id="rId11"/>
  </p:sldMasterIdLst>
  <p:notesMasterIdLst>
    <p:notesMasterId r:id="rId18"/>
  </p:notesMasterIdLst>
  <p:handoutMasterIdLst>
    <p:handoutMasterId r:id="rId19"/>
  </p:handoutMasterIdLst>
  <p:sldIdLst>
    <p:sldId id="2254" r:id="rId12"/>
    <p:sldId id="2250" r:id="rId13"/>
    <p:sldId id="2251" r:id="rId14"/>
    <p:sldId id="2256" r:id="rId15"/>
    <p:sldId id="2257" r:id="rId16"/>
    <p:sldId id="2258" r:id="rId17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72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0" r:id="rId1"/>
    <p:sldLayoutId id="214748470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3" r:id="rId1"/>
    <p:sldLayoutId id="2147484704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6" r:id="rId1"/>
    <p:sldLayoutId id="214748470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04701" y="3375663"/>
            <a:ext cx="205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041.BOM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Mapping 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041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단계별 현상원가 산출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BOM Mapping</a:t>
                      </a:r>
                      <a:endParaRPr kumimoji="1" lang="ko-KR" alt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현상원가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산출시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추후 차이 분석을 위하여 전 단계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BOM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과의 차이 내역을 등록한다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.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2013.05.20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재료비 차이분석을 위하여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 변경 내역이 관리 되어야함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대체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삭제 등의 변경 내역은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System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 자동 인식이 불가능하므로 설계 인원이 수기로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Mapping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하여야 하며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이를 지원할 기능이 필요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Mapping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결과를 바탕으로 단계별 현상원가 차이분석을 수행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할수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있어야 함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수량변경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자재 대체효과 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현상원가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전 단계와 비교하여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 변경된 내역을 관리할 수 있음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차이분석시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자재별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상세 변동내역과 그 금액적 효과 산출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62171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BOM Mapping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45" name="Group 82"/>
          <p:cNvGraphicFramePr>
            <a:graphicFrameLocks noGrp="1"/>
          </p:cNvGraphicFramePr>
          <p:nvPr/>
        </p:nvGraphicFramePr>
        <p:xfrm>
          <a:off x="6149460" y="1026115"/>
          <a:ext cx="3528000" cy="3106079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E-BOM,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수동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할 수 있도록 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조회조건은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E-BOM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동일한 방식으로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사양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 선택 후 불러오기로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입고단위정의가 완료되고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완료되지 않는 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 Message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표시한다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불러오기로 해당차수의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전 단계의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좌측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 /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우측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구현은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나란히 볼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 평가의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직전차수는 목표원가 산출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시 사용한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현상원가에 활용된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견적원가가 선택되었다면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 아닌 견적용 假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기능을 클릭하면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창을 이용하여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7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설계</a:t>
            </a:r>
          </a:p>
        </p:txBody>
      </p:sp>
      <p:sp>
        <p:nvSpPr>
          <p:cNvPr id="59" name="모서리가 둥근 직사각형 5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2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75" name="TextBox 7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6" name="실행 단추: 앞으로 또는 다음 7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7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79" name="TextBox 7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2" name="타원 81"/>
          <p:cNvSpPr/>
          <p:nvPr/>
        </p:nvSpPr>
        <p:spPr>
          <a:xfrm>
            <a:off x="271288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9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52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712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271288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3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60390" y="3433190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표 83"/>
          <p:cNvGraphicFramePr>
            <a:graphicFrameLocks noGrp="1"/>
          </p:cNvGraphicFramePr>
          <p:nvPr/>
        </p:nvGraphicFramePr>
        <p:xfrm>
          <a:off x="2144610" y="3916335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/>
        </p:nvGraphicFramePr>
        <p:xfrm>
          <a:off x="560390" y="315369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현단계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144610" y="364506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</a:t>
            </a:r>
            <a:r>
              <a:rPr lang="en-US" altLang="ko-KR" dirty="0" smtClean="0">
                <a:solidFill>
                  <a:srgbClr val="000000"/>
                </a:solidFill>
              </a:rPr>
              <a:t>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 차이분석을 위하여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변경내역을 입력함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간 차이항목을 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하는  방식을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수정을 클릭하면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창을 통하여 우선 현단계 입고 품을 선택 후 전 단계 품목을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버튼을 누르면 나오는 화면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" name="직사각형 124"/>
          <p:cNvSpPr>
            <a:spLocks noChangeArrowheads="1"/>
          </p:cNvSpPr>
          <p:nvPr/>
        </p:nvSpPr>
        <p:spPr bwMode="auto">
          <a:xfrm>
            <a:off x="632400" y="2997380"/>
            <a:ext cx="6964851" cy="3168000"/>
          </a:xfrm>
          <a:prstGeom prst="rect">
            <a:avLst/>
          </a:prstGeom>
          <a:solidFill>
            <a:srgbClr val="EAEAEA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" name="AutoShape 279"/>
          <p:cNvSpPr>
            <a:spLocks noChangeArrowheads="1"/>
          </p:cNvSpPr>
          <p:nvPr/>
        </p:nvSpPr>
        <p:spPr bwMode="auto">
          <a:xfrm>
            <a:off x="6969330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" name="AutoShape 279"/>
          <p:cNvSpPr>
            <a:spLocks noChangeArrowheads="1"/>
          </p:cNvSpPr>
          <p:nvPr/>
        </p:nvSpPr>
        <p:spPr bwMode="auto">
          <a:xfrm>
            <a:off x="6541501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11138" y="3850670"/>
          <a:ext cx="5729529" cy="2174880"/>
        </p:xfrm>
        <a:graphic>
          <a:graphicData uri="http://schemas.openxmlformats.org/drawingml/2006/table">
            <a:tbl>
              <a:tblPr/>
              <a:tblGrid>
                <a:gridCol w="116686"/>
                <a:gridCol w="116686"/>
                <a:gridCol w="116686"/>
                <a:gridCol w="684000"/>
                <a:gridCol w="1476000"/>
                <a:gridCol w="396000"/>
                <a:gridCol w="411471"/>
                <a:gridCol w="432000"/>
                <a:gridCol w="396000"/>
                <a:gridCol w="396000"/>
                <a:gridCol w="396000"/>
                <a:gridCol w="396000"/>
                <a:gridCol w="396000"/>
              </a:tblGrid>
              <a:tr h="20945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 지정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87130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89370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89360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WIRE No.1 -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89154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No.3-RR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89450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684241" y="3105030"/>
          <a:ext cx="5480379" cy="36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직사각형 124"/>
          <p:cNvSpPr>
            <a:spLocks noChangeArrowheads="1"/>
          </p:cNvSpPr>
          <p:nvPr/>
        </p:nvSpPr>
        <p:spPr bwMode="auto">
          <a:xfrm>
            <a:off x="4953000" y="3573463"/>
            <a:ext cx="4143242" cy="259191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5161092" y="3949230"/>
          <a:ext cx="3837600" cy="2114550"/>
        </p:xfrm>
        <a:graphic>
          <a:graphicData uri="http://schemas.openxmlformats.org/drawingml/2006/table">
            <a:tbl>
              <a:tblPr/>
              <a:tblGrid>
                <a:gridCol w="115200"/>
                <a:gridCol w="115200"/>
                <a:gridCol w="115200"/>
                <a:gridCol w="720000"/>
                <a:gridCol w="1476000"/>
                <a:gridCol w="432000"/>
                <a:gridCol w="432000"/>
                <a:gridCol w="432000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No.3-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No.5-RR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8625560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닫기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8197731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cxnSp>
        <p:nvCxnSpPr>
          <p:cNvPr id="18" name="구부러진 연결선 17"/>
          <p:cNvCxnSpPr>
            <a:endCxn id="14" idx="1"/>
          </p:cNvCxnSpPr>
          <p:nvPr/>
        </p:nvCxnSpPr>
        <p:spPr bwMode="auto">
          <a:xfrm>
            <a:off x="4304910" y="4585350"/>
            <a:ext cx="648090" cy="284072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9" name="모서리가 둥근 직사각형 18"/>
          <p:cNvSpPr/>
          <p:nvPr/>
        </p:nvSpPr>
        <p:spPr bwMode="auto">
          <a:xfrm>
            <a:off x="4012680" y="3850670"/>
            <a:ext cx="432000" cy="217488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90517" y="354099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032327" y="363840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25" name="설명선 2(강조선) 24"/>
          <p:cNvSpPr/>
          <p:nvPr/>
        </p:nvSpPr>
        <p:spPr bwMode="auto">
          <a:xfrm>
            <a:off x="6211592" y="2458770"/>
            <a:ext cx="2884650" cy="457650"/>
          </a:xfrm>
          <a:prstGeom prst="accentCallout2">
            <a:avLst>
              <a:gd name="adj1" fmla="val 70289"/>
              <a:gd name="adj2" fmla="val -1730"/>
              <a:gd name="adj3" fmla="val 71476"/>
              <a:gd name="adj4" fmla="val -10503"/>
              <a:gd name="adj5" fmla="val 303978"/>
              <a:gd name="adj6" fmla="val -66479"/>
            </a:avLst>
          </a:prstGeom>
          <a:noFill/>
          <a:ln w="19050" algn="ctr">
            <a:solidFill>
              <a:srgbClr val="1C1C1C"/>
            </a:solidFill>
            <a:prstDash val="sysDash"/>
            <a:round/>
            <a:headEnd/>
            <a:tailEnd/>
          </a:ln>
        </p:spPr>
        <p:txBody>
          <a:bodyPr wrap="none" lIns="72000" rtlCol="0" anchor="t" anchorCtr="0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품목 지정 박스를 클릭하면 ②의</a:t>
            </a:r>
            <a:endParaRPr lang="en-US" altLang="ko-KR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eaLnBrk="0" latinLnBrk="0" hangingPunct="0"/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Table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이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Pop-Up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됨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BOM 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항목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</a:t>
            </a:r>
            <a:r>
              <a:rPr lang="en-US" altLang="ko-KR" dirty="0" smtClean="0">
                <a:solidFill>
                  <a:srgbClr val="000000"/>
                </a:solidFill>
              </a:rPr>
              <a:t>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</a:t>
            </a: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‘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품목 지정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’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이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가능한 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Row(And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조건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단계에서 입고 단위로 정의되어 있으며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단계에서 입고 단위로 정의되지 않음 항목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BOM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에서 선택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목록을 보여주고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입고단위로 지정된 항목을 선택 할 수 있도록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입고단위가 아닌 항목은 선택 불가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복수로 지정이 가능하며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이미 기존에 다른 품목에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되는 항목으로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지정되었어도 추가 지정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(N:N)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후 저장을 누르면 선택된 항목이  현재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클릭된 품번과 연계되어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항목으로 저장됨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완료버튼으로 최종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확정전까지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수정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확정을 누르면 추가 수정 불가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자재의 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삭제가 가능하므로 현단계와 전 단계에서 입고 단위로 정의된 항목 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버튼능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누르기전에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변경항목에 대하여 변동내역을 지정하셨습니까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?’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라는 재확인 요청 메시지를 보여줌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화면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화면 기준으로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선택된 품번을 모두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(3~4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개를 초과하지 않을 것으로 예상되나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여유있게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개까지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N:N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관계가 성립하므로  모든 항목을 중복적으로 표시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7" name="AutoShape 279"/>
          <p:cNvSpPr>
            <a:spLocks noChangeArrowheads="1"/>
          </p:cNvSpPr>
          <p:nvPr/>
        </p:nvSpPr>
        <p:spPr bwMode="auto">
          <a:xfrm>
            <a:off x="7401390" y="23488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" name="AutoShape 279"/>
          <p:cNvSpPr>
            <a:spLocks noChangeArrowheads="1"/>
          </p:cNvSpPr>
          <p:nvPr/>
        </p:nvSpPr>
        <p:spPr bwMode="auto">
          <a:xfrm>
            <a:off x="7833450" y="23488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닫기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3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66548</TotalTime>
  <Words>1399</Words>
  <Application>Microsoft Office PowerPoint</Application>
  <PresentationFormat>A4 용지(210x297mm)</PresentationFormat>
  <Paragraphs>774</Paragraphs>
  <Slides>6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11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13_tb4_onscreen_v2.1</vt:lpstr>
      <vt:lpstr>14_tb4_onscreen_v2.1</vt:lpstr>
      <vt:lpstr>15_tb4_onscreen_v2.1</vt:lpstr>
      <vt:lpstr>16_tb4_onscreen_v2.1</vt:lpstr>
      <vt:lpstr>슬라이드 0</vt:lpstr>
      <vt:lpstr>슬라이드 1</vt:lpstr>
      <vt:lpstr>슬라이드 2</vt:lpstr>
      <vt:lpstr>슬라이드 3</vt:lpstr>
      <vt:lpstr>상세 Spec – BOM Mapping</vt:lpstr>
      <vt:lpstr>상세 Spec – BOM Mapping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8201</cp:revision>
  <cp:lastPrinted>2012-11-21T23:07:40Z</cp:lastPrinted>
  <dcterms:created xsi:type="dcterms:W3CDTF">2011-12-22T02:00:23Z</dcterms:created>
  <dcterms:modified xsi:type="dcterms:W3CDTF">2013-05-20T08:13:18Z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