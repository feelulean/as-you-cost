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xls" ContentType="application/haansoftxls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Masters/slideMaster8.xml" ContentType="application/vnd.openxmlformats-officedocument.presentationml.slideMaster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8.xml" ContentType="application/vnd.openxmlformats-officedocument.theme+xml"/>
  <Override PartName="/ppt/theme/theme9.xml" ContentType="application/vnd.openxmlformats-officedocument.them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675" r:id="rId1"/>
    <p:sldMasterId id="2147484678" r:id="rId2"/>
    <p:sldMasterId id="2147484681" r:id="rId3"/>
    <p:sldMasterId id="2147484684" r:id="rId4"/>
    <p:sldMasterId id="2147484687" r:id="rId5"/>
    <p:sldMasterId id="2147484690" r:id="rId6"/>
    <p:sldMasterId id="2147484693" r:id="rId7"/>
    <p:sldMasterId id="2147484696" r:id="rId8"/>
  </p:sldMasterIdLst>
  <p:notesMasterIdLst>
    <p:notesMasterId r:id="rId16"/>
  </p:notesMasterIdLst>
  <p:handoutMasterIdLst>
    <p:handoutMasterId r:id="rId17"/>
  </p:handoutMasterIdLst>
  <p:sldIdLst>
    <p:sldId id="2254" r:id="rId9"/>
    <p:sldId id="2250" r:id="rId10"/>
    <p:sldId id="2251" r:id="rId11"/>
    <p:sldId id="2255" r:id="rId12"/>
    <p:sldId id="2256" r:id="rId13"/>
    <p:sldId id="2257" r:id="rId14"/>
    <p:sldId id="2258" r:id="rId15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0000CC"/>
    <a:srgbClr val="CC0000"/>
    <a:srgbClr val="DC6900"/>
    <a:srgbClr val="FFFF66"/>
    <a:srgbClr val="333333"/>
    <a:srgbClr val="FF9999"/>
    <a:srgbClr val="FFCCCC"/>
    <a:srgbClr val="FFF7E1"/>
    <a:srgbClr val="FFFD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06" autoAdjust="0"/>
    <p:restoredTop sz="82572" autoAdjust="0"/>
  </p:normalViewPr>
  <p:slideViewPr>
    <p:cSldViewPr snapToObjects="1">
      <p:cViewPr>
        <p:scale>
          <a:sx n="75" d="100"/>
          <a:sy n="75" d="100"/>
        </p:scale>
        <p:origin x="-1314" y="72"/>
      </p:cViewPr>
      <p:guideLst>
        <p:guide orient="horz" pos="300"/>
        <p:guide orient="horz" pos="2704"/>
        <p:guide orient="horz" pos="1389"/>
        <p:guide pos="6023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9" d="100"/>
          <a:sy n="49" d="100"/>
        </p:scale>
        <p:origin x="-2712" y="-108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5/20/2013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5/20/2013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4538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49BE4-5C86-4C49-AD04-A69537C68BB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681193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6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9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2" r:id="rId1"/>
    <p:sldLayoutId id="2147484683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5" r:id="rId1"/>
    <p:sldLayoutId id="2147484686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8" r:id="rId1"/>
    <p:sldLayoutId id="2147484689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1" r:id="rId1"/>
    <p:sldLayoutId id="2147484692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4" r:id="rId1"/>
    <p:sldLayoutId id="2147484695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7" r:id="rId1"/>
    <p:sldLayoutId id="2147484698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97-2003_Worksheet111111111111111.xls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.v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 bwMode="auto">
          <a:xfrm>
            <a:off x="0" y="531815"/>
            <a:ext cx="9906000" cy="482447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2" name="그룹 1"/>
          <p:cNvGrpSpPr>
            <a:grpSpLocks/>
          </p:cNvGrpSpPr>
          <p:nvPr/>
        </p:nvGrpSpPr>
        <p:grpSpPr bwMode="auto">
          <a:xfrm>
            <a:off x="415926" y="406402"/>
            <a:ext cx="1944688" cy="358775"/>
            <a:chOff x="2208212" y="2187772"/>
            <a:chExt cx="5959947" cy="1469677"/>
          </a:xfrm>
        </p:grpSpPr>
        <p:pic>
          <p:nvPicPr>
            <p:cNvPr id="5127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3" cstate="print"/>
            <a:srcRect t="31873" r="30904" b="38634"/>
            <a:stretch>
              <a:fillRect/>
            </a:stretch>
          </p:blipFill>
          <p:spPr bwMode="auto">
            <a:xfrm>
              <a:off x="2208212" y="2187772"/>
              <a:ext cx="4429333" cy="1406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8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4" cstate="print"/>
            <a:srcRect l="68555" t="31873" b="28601"/>
            <a:stretch>
              <a:fillRect/>
            </a:stretch>
          </p:blipFill>
          <p:spPr bwMode="auto">
            <a:xfrm>
              <a:off x="6602819" y="2194115"/>
              <a:ext cx="1565340" cy="1463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872860" y="5284320"/>
            <a:ext cx="3312408" cy="4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333" tIns="51667" rIns="103333" bIns="51667" anchor="ctr">
            <a:spAutoFit/>
          </a:bodyPr>
          <a:lstStyle/>
          <a:p>
            <a:pPr defTabSz="914400"/>
            <a:r>
              <a:rPr lang="ko-KR" altLang="en-US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목표원가관리시스템 구축 </a:t>
            </a:r>
            <a:r>
              <a:rPr lang="en-US" altLang="ko-KR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TFT</a:t>
            </a:r>
            <a:endParaRPr lang="ko-KR" altLang="en-US" sz="2000" b="1" dirty="0">
              <a:solidFill>
                <a:srgbClr val="000000">
                  <a:lumMod val="95000"/>
                  <a:lumOff val="5000"/>
                </a:srgbClr>
              </a:solidFill>
              <a:latin typeface="Arial"/>
              <a:ea typeface="가는각진제목체"/>
            </a:endParaRPr>
          </a:p>
        </p:txBody>
      </p:sp>
      <p:pic>
        <p:nvPicPr>
          <p:cNvPr id="11" name="Picture 394" descr="현대다이모스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6381" t="20050" r="27190" b="56340"/>
          <a:stretch>
            <a:fillRect/>
          </a:stretch>
        </p:blipFill>
        <p:spPr bwMode="auto">
          <a:xfrm>
            <a:off x="2648716" y="5229250"/>
            <a:ext cx="1296144" cy="44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948126" y="1782052"/>
            <a:ext cx="7965315" cy="218942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339" tIns="180000" rIns="91339" bIns="45669" anchor="t"/>
          <a:lstStyle/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20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시스템 </a:t>
            </a:r>
            <a:endParaRPr lang="en-US" altLang="ko-KR" sz="2000" b="1" dirty="0" smtClean="0">
              <a:solidFill>
                <a:srgbClr val="000000"/>
              </a:solidFill>
              <a:latin typeface="Arial"/>
              <a:ea typeface="가는각진제목체"/>
            </a:endParaRP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화면</a:t>
            </a:r>
            <a:r>
              <a:rPr lang="en-US" altLang="ko-KR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/</a:t>
            </a: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프로그램 개발요청서</a:t>
            </a: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endParaRPr lang="en-US" altLang="ko-KR" sz="1200" b="1" dirty="0" smtClean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733712" y="1196690"/>
            <a:ext cx="64359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eaLnBrk="1" hangingPunct="1"/>
            <a:r>
              <a:rPr lang="en-US" altLang="ko-KR" sz="1800" dirty="0">
                <a:latin typeface="Arial"/>
                <a:ea typeface="가는각진제목체"/>
                <a:cs typeface="Arial" charset="0"/>
              </a:rPr>
              <a:t>『 </a:t>
            </a:r>
            <a:r>
              <a:rPr lang="ko-KR" altLang="en-US" sz="1800" b="1" dirty="0">
                <a:solidFill>
                  <a:srgbClr val="606060"/>
                </a:solidFill>
                <a:latin typeface="Arial"/>
                <a:ea typeface="가는각진제목체"/>
              </a:rPr>
              <a:t>전진적 </a:t>
            </a:r>
            <a:r>
              <a:rPr lang="ko-KR" altLang="en-US" sz="1800" b="1" dirty="0" smtClean="0">
                <a:solidFill>
                  <a:srgbClr val="606060"/>
                </a:solidFill>
                <a:latin typeface="Arial"/>
                <a:ea typeface="가는각진제목체"/>
              </a:rPr>
              <a:t>원가관리 업무체계 확립</a:t>
            </a:r>
            <a:r>
              <a:rPr lang="en-US" altLang="ko-KR" sz="1800" dirty="0" smtClean="0">
                <a:latin typeface="Arial"/>
                <a:ea typeface="가는각진제목체"/>
                <a:cs typeface="Arial" charset="0"/>
              </a:rPr>
              <a:t>』</a:t>
            </a:r>
            <a:endParaRPr lang="ko-KR" altLang="en-US" sz="1800" dirty="0"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200340" y="6237390"/>
            <a:ext cx="9705660" cy="62061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0" y="193675"/>
            <a:ext cx="200340" cy="57150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659442" y="3375663"/>
            <a:ext cx="25426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1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- 038.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부문별 목표  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Guide 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산출 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- </a:t>
            </a:r>
            <a:endParaRPr lang="en-US" altLang="ko-KR" sz="1400" b="1" dirty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97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Group 944"/>
          <p:cNvGraphicFramePr>
            <a:graphicFrameLocks noGrp="1"/>
          </p:cNvGraphicFramePr>
          <p:nvPr/>
        </p:nvGraphicFramePr>
        <p:xfrm>
          <a:off x="376061" y="307172"/>
          <a:ext cx="9238086" cy="3602592"/>
        </p:xfrm>
        <a:graphic>
          <a:graphicData uri="http://schemas.openxmlformats.org/drawingml/2006/table">
            <a:tbl>
              <a:tblPr/>
              <a:tblGrid>
                <a:gridCol w="2139422"/>
                <a:gridCol w="1161167"/>
                <a:gridCol w="1162050"/>
                <a:gridCol w="738011"/>
                <a:gridCol w="417336"/>
                <a:gridCol w="904663"/>
                <a:gridCol w="264090"/>
                <a:gridCol w="313760"/>
                <a:gridCol w="671866"/>
                <a:gridCol w="157480"/>
                <a:gridCol w="1308241"/>
              </a:tblGrid>
              <a:tr h="336744">
                <a:tc gridSpan="1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일반 개요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Program ID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038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Process ID</a:t>
                      </a: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부문별 목표 </a:t>
                      </a:r>
                      <a:r>
                        <a:rPr kumimoji="1" lang="ko-KR" altLang="en-US" sz="11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절감액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 부여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부문별 목표 </a:t>
                      </a:r>
                      <a:r>
                        <a:rPr kumimoji="1" lang="en-US" altLang="ko-KR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Guide </a:t>
                      </a:r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산출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4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설명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 산출의 기준이 되는 견적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현상원가와 최종판가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목표수익률을 활용하여 목표총원가와 원가항목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&amp;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부문별 목표원가를 산출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85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별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Master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Interface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Data Input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Creation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(Costing)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Schedule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(Monitor)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Report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9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돋움" pitchFamily="50" charset="-127"/>
                        </a:rPr>
                        <a:t>●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개발완료 요청일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2013.05.20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모듈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작성자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2013.05.20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컨설턴트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2013.05.20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팀장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배 병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고 현 철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Group 820"/>
          <p:cNvGraphicFramePr>
            <a:graphicFrameLocks noGrp="1"/>
          </p:cNvGraphicFramePr>
          <p:nvPr/>
        </p:nvGraphicFramePr>
        <p:xfrm>
          <a:off x="376061" y="4005080"/>
          <a:ext cx="9238086" cy="2332741"/>
        </p:xfrm>
        <a:graphic>
          <a:graphicData uri="http://schemas.openxmlformats.org/drawingml/2006/table">
            <a:tbl>
              <a:tblPr/>
              <a:tblGrid>
                <a:gridCol w="1575937"/>
                <a:gridCol w="1154760"/>
                <a:gridCol w="5248492"/>
                <a:gridCol w="1258897"/>
              </a:tblGrid>
              <a:tr h="30643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Document History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Date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 내용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사유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요청부서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2013.05.20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신정수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초기작성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512"/>
          <p:cNvGraphicFramePr>
            <a:graphicFrameLocks noGrp="1"/>
          </p:cNvGraphicFramePr>
          <p:nvPr/>
        </p:nvGraphicFramePr>
        <p:xfrm>
          <a:off x="376061" y="343221"/>
          <a:ext cx="9153878" cy="4125428"/>
        </p:xfrm>
        <a:graphic>
          <a:graphicData uri="http://schemas.openxmlformats.org/drawingml/2006/table">
            <a:tbl>
              <a:tblPr/>
              <a:tblGrid>
                <a:gridCol w="2263247"/>
                <a:gridCol w="2260953"/>
                <a:gridCol w="2263245"/>
                <a:gridCol w="2366433"/>
              </a:tblGrid>
              <a:tr h="27738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Business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요구사항정의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Rule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에 의해 목표 총원가와 원가항목별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목표원가가 산출되어야 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각 부문별로 절감하여야 하는 원가항목을 정의하여 원가항목별 목표원가를 부문별 목표원가로 연계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  (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부문별로 절감할 원가항목은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Master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를 이용하여 별도 관리함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3.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원가항목별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부문별 목표원가 및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목표절감액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산출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/>
                      </a:r>
                      <a:b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달성해야할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도달 목표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목표절감액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현재 예상원가와의 차이로서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절감해야할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금액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77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개발에 따른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기대 효용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목표수익률과 총 절감 목표금액 산출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관리 가능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원가항목별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부문별 목표원가와 목표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절감액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Guide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산출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세부화면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GB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On-Line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건수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개발 소요 기간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입력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조회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 구성원으로 등록된 인원 전체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기타요구사항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Group 399"/>
          <p:cNvGraphicFramePr>
            <a:graphicFrameLocks noGrp="1"/>
          </p:cNvGraphicFramePr>
          <p:nvPr/>
        </p:nvGraphicFramePr>
        <p:xfrm>
          <a:off x="376061" y="5391993"/>
          <a:ext cx="9153886" cy="662171"/>
        </p:xfrm>
        <a:graphic>
          <a:graphicData uri="http://schemas.openxmlformats.org/drawingml/2006/table">
            <a:tbl>
              <a:tblPr/>
              <a:tblGrid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</a:tblGrid>
              <a:tr h="32454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전사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사업부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담당팀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중요도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상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난이도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3245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346"/>
          <p:cNvSpPr txBox="1">
            <a:spLocks noChangeArrowheads="1"/>
          </p:cNvSpPr>
          <p:nvPr/>
        </p:nvSpPr>
        <p:spPr bwMode="auto">
          <a:xfrm>
            <a:off x="376066" y="6135189"/>
            <a:ext cx="178125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*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난이도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( 1-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단순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, 5 –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복잡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  <p:sp>
        <p:nvSpPr>
          <p:cNvPr id="8" name="Text Box 347"/>
          <p:cNvSpPr txBox="1">
            <a:spLocks noChangeArrowheads="1"/>
          </p:cNvSpPr>
          <p:nvPr/>
        </p:nvSpPr>
        <p:spPr bwMode="auto">
          <a:xfrm>
            <a:off x="344360" y="5085230"/>
            <a:ext cx="54694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분류</a:t>
            </a:r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</a:rPr>
              <a:t>목표절감액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 부여 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(1/2)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31" name="Group 82"/>
          <p:cNvGraphicFramePr>
            <a:graphicFrameLocks noGrp="1"/>
          </p:cNvGraphicFramePr>
          <p:nvPr/>
        </p:nvGraphicFramePr>
        <p:xfrm>
          <a:off x="6149460" y="1026115"/>
          <a:ext cx="3526994" cy="3854160"/>
        </p:xfrm>
        <a:graphic>
          <a:graphicData uri="http://schemas.openxmlformats.org/drawingml/2006/table">
            <a:tbl>
              <a:tblPr/>
              <a:tblGrid>
                <a:gridCol w="574994"/>
                <a:gridCol w="2952000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절감 배부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buFont typeface="Wingdings" pitchFamily="2" charset="2"/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산출된 내역이 있어야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5-1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협의된 목표 수익률과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기준이 되는 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현상원가를 바탕으로 부문별 목표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산출함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금액은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개당 기준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logic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따라 목표금액을 산출함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세부 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logic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은 상세 </a:t>
                      </a:r>
                      <a:r>
                        <a:rPr lang="en-US" altLang="ko-KR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spec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및 사례 참조</a:t>
                      </a:r>
                      <a:endParaRPr lang="en-US" altLang="ko-KR" sz="1000" b="1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산출된 금액을 저장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콤보박스로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선택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Default: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목표로 도달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달성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해야하는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금액을 표시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절감해야하는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금액으로 표시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기존 원가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–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산출시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기초 정보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관리에서 확정한 최종 목표 수익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 수익률을 이용하여 산출한 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절감대상 총원가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(∑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연간 합계기준 원가항목별 </a:t>
                      </a:r>
                      <a:r>
                        <a:rPr lang="ko-KR" altLang="en-US" sz="1000" kern="12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="1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판가제외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산출된 절감 대상 금액을 각 부문별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원가항목별로 집계함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절감목표금액 선택과 관계없이 절감목표금액으로 표시함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Arial"/>
              <a:ea typeface="가는각진제목체"/>
            </a:endParaRPr>
          </a:p>
        </p:txBody>
      </p:sp>
      <p:sp>
        <p:nvSpPr>
          <p:cNvPr id="54" name="직사각형 53"/>
          <p:cNvSpPr/>
          <p:nvPr/>
        </p:nvSpPr>
        <p:spPr bwMode="auto">
          <a:xfrm rot="20651343">
            <a:off x="6742699" y="4959197"/>
            <a:ext cx="2376330" cy="936000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목표금액으로 </a:t>
            </a:r>
            <a:endParaRPr lang="en-US" altLang="ko-KR" sz="1800" b="1" dirty="0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선택한 화면</a:t>
            </a:r>
          </a:p>
        </p:txBody>
      </p:sp>
      <p:sp>
        <p:nvSpPr>
          <p:cNvPr id="9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95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0" name="직사각형 124"/>
          <p:cNvSpPr>
            <a:spLocks noChangeArrowheads="1"/>
          </p:cNvSpPr>
          <p:nvPr/>
        </p:nvSpPr>
        <p:spPr bwMode="auto">
          <a:xfrm>
            <a:off x="344360" y="2051703"/>
            <a:ext cx="5688000" cy="425702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2" name="그룹 50"/>
          <p:cNvGrpSpPr/>
          <p:nvPr/>
        </p:nvGrpSpPr>
        <p:grpSpPr>
          <a:xfrm>
            <a:off x="344360" y="1797154"/>
            <a:ext cx="5496340" cy="252000"/>
            <a:chOff x="344360" y="1963400"/>
            <a:chExt cx="5496340" cy="252000"/>
          </a:xfrm>
        </p:grpSpPr>
        <p:sp>
          <p:nvSpPr>
            <p:cNvPr id="52" name="한쪽 모서리가 잘린 사각형 51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53" name="한쪽 모서리가 잘린 사각형 52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55" name="한쪽 모서리가 잘린 사각형 54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56" name="한쪽 모서리가 잘린 사각형 5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61" name="타원 60"/>
          <p:cNvSpPr/>
          <p:nvPr/>
        </p:nvSpPr>
        <p:spPr>
          <a:xfrm>
            <a:off x="2106333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63" name="표 62"/>
          <p:cNvGraphicFramePr>
            <a:graphicFrameLocks noGrp="1"/>
          </p:cNvGraphicFramePr>
          <p:nvPr/>
        </p:nvGraphicFramePr>
        <p:xfrm>
          <a:off x="465138" y="2098402"/>
          <a:ext cx="3276000" cy="432000"/>
        </p:xfrm>
        <a:graphic>
          <a:graphicData uri="http://schemas.openxmlformats.org/drawingml/2006/table">
            <a:tbl>
              <a:tblPr/>
              <a:tblGrid>
                <a:gridCol w="1008000"/>
                <a:gridCol w="828000"/>
                <a:gridCol w="360000"/>
                <a:gridCol w="360000"/>
                <a:gridCol w="360000"/>
                <a:gridCol w="360000"/>
              </a:tblGrid>
              <a:tr h="1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명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T13007-TMA-T01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4" name="AutoShape 279"/>
          <p:cNvSpPr>
            <a:spLocks noChangeArrowheads="1"/>
          </p:cNvSpPr>
          <p:nvPr/>
        </p:nvSpPr>
        <p:spPr bwMode="auto">
          <a:xfrm>
            <a:off x="4280526" y="21083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836324" y="21083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산출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89" name="표 88"/>
          <p:cNvGraphicFramePr>
            <a:graphicFrameLocks noGrp="1"/>
          </p:cNvGraphicFramePr>
          <p:nvPr/>
        </p:nvGraphicFramePr>
        <p:xfrm>
          <a:off x="451801" y="2513828"/>
          <a:ext cx="5437823" cy="2643120"/>
        </p:xfrm>
        <a:graphic>
          <a:graphicData uri="http://schemas.openxmlformats.org/drawingml/2006/table">
            <a:tbl>
              <a:tblPr/>
              <a:tblGrid>
                <a:gridCol w="576855"/>
                <a:gridCol w="607621"/>
                <a:gridCol w="607621"/>
                <a:gridCol w="607621"/>
                <a:gridCol w="607621"/>
                <a:gridCol w="607621"/>
                <a:gridCol w="607621"/>
                <a:gridCol w="607621"/>
                <a:gridCol w="607621"/>
              </a:tblGrid>
              <a:tr h="161925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 </a:t>
                      </a:r>
                    </a:p>
                  </a:txBody>
                  <a:tcPr marL="18000" marR="18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2016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2017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2018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2019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440,999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179,884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179,812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75,991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31,909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38,796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40,735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42,761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39,221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128,083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102,967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108,680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110,265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111,895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109,100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45,411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45,404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45,397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429,365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360,165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372,764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376,289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379,945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373,530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3,304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1,366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1,542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1,586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1,630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1,593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5,874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4,185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3,700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3,745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3,774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3,879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48,531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24,288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11,997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8,399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4,640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10,920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54,845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25,903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1,718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13,591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444,857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415,907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391,722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390,019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389,989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403,514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   3,863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25,086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49,271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50,974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51,004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37,485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latin typeface="Arial"/>
                        </a:rPr>
                        <a:t>0.00%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latin typeface="Arial"/>
                        </a:rPr>
                        <a:t>0.00%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-0.88%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5.69%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11.17%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11.56%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11.57%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8.50%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pSp>
        <p:nvGrpSpPr>
          <p:cNvPr id="3" name="그룹 92"/>
          <p:cNvGrpSpPr/>
          <p:nvPr/>
        </p:nvGrpSpPr>
        <p:grpSpPr>
          <a:xfrm>
            <a:off x="4701536" y="2289032"/>
            <a:ext cx="1260000" cy="215900"/>
            <a:chOff x="4736970" y="2252586"/>
            <a:chExt cx="1260000" cy="215900"/>
          </a:xfrm>
        </p:grpSpPr>
        <p:sp>
          <p:nvSpPr>
            <p:cNvPr id="109" name="AutoShape 279"/>
            <p:cNvSpPr>
              <a:spLocks noChangeArrowheads="1"/>
            </p:cNvSpPr>
            <p:nvPr/>
          </p:nvSpPr>
          <p:spPr bwMode="auto">
            <a:xfrm>
              <a:off x="4736970" y="2252586"/>
              <a:ext cx="1260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3600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Arial"/>
                  <a:ea typeface="가는각진제목체" pitchFamily="18" charset="-127"/>
                </a:rPr>
                <a:t>목표금액</a:t>
              </a:r>
              <a:r>
                <a:rPr kumimoji="0" lang="en-US" altLang="ko-KR" sz="900" dirty="0" smtClean="0">
                  <a:solidFill>
                    <a:prstClr val="black"/>
                  </a:solidFill>
                  <a:latin typeface="Arial"/>
                  <a:ea typeface="가는각진제목체" pitchFamily="18" charset="-127"/>
                </a:rPr>
                <a:t>/</a:t>
              </a:r>
              <a:r>
                <a:rPr kumimoji="0" lang="ko-KR" altLang="en-US" sz="900" dirty="0" smtClean="0">
                  <a:solidFill>
                    <a:prstClr val="black"/>
                  </a:solidFill>
                  <a:latin typeface="Arial"/>
                  <a:ea typeface="가는각진제목체" pitchFamily="18" charset="-127"/>
                </a:rPr>
                <a:t>절감목표금액</a:t>
              </a:r>
              <a:endParaRPr kumimoji="0" lang="ko-KR" altLang="en-US" sz="900" dirty="0">
                <a:solidFill>
                  <a:prstClr val="black"/>
                </a:solidFill>
                <a:latin typeface="Arial"/>
                <a:ea typeface="가는각진제목체" pitchFamily="18" charset="-127"/>
              </a:endParaRPr>
            </a:p>
          </p:txBody>
        </p:sp>
        <p:sp>
          <p:nvSpPr>
            <p:cNvPr id="111" name="실행 단추: 앞으로 또는 다음 110">
              <a:hlinkClick r:id="" action="ppaction://noaction" highlightClick="1"/>
            </p:cNvPr>
            <p:cNvSpPr/>
            <p:nvPr/>
          </p:nvSpPr>
          <p:spPr bwMode="auto">
            <a:xfrm rot="5400000">
              <a:off x="5805494" y="2283444"/>
              <a:ext cx="180000" cy="154184"/>
            </a:xfrm>
            <a:prstGeom prst="actionButtonForwardNext">
              <a:avLst/>
            </a:prstGeom>
            <a:solidFill>
              <a:schemeClr val="bg1">
                <a:lumMod val="65000"/>
              </a:schemeClr>
            </a:solidFill>
            <a:ln w="9525" algn="ctr">
              <a:noFill/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endParaRPr lang="ko-KR" altLang="en-US" sz="11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66" name="직사각형 124"/>
          <p:cNvSpPr>
            <a:spLocks noChangeArrowheads="1"/>
          </p:cNvSpPr>
          <p:nvPr/>
        </p:nvSpPr>
        <p:spPr bwMode="auto">
          <a:xfrm>
            <a:off x="616198" y="5240299"/>
            <a:ext cx="1820381" cy="876783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477292" y="519267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6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806707" y="5321849"/>
          <a:ext cx="1435100" cy="504000"/>
        </p:xfrm>
        <a:graphic>
          <a:graphicData uri="http://schemas.openxmlformats.org/drawingml/2006/table">
            <a:tbl>
              <a:tblPr/>
              <a:tblGrid>
                <a:gridCol w="812800"/>
                <a:gridCol w="622300"/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목표수익율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8.50%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677227" y="5361262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677227" y="561499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4" name="직사각형 124"/>
          <p:cNvSpPr>
            <a:spLocks noChangeArrowheads="1"/>
          </p:cNvSpPr>
          <p:nvPr/>
        </p:nvSpPr>
        <p:spPr bwMode="auto">
          <a:xfrm>
            <a:off x="2718624" y="5242859"/>
            <a:ext cx="2450406" cy="1008000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2579717" y="519523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 7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86" name="표 85"/>
          <p:cNvGraphicFramePr>
            <a:graphicFrameLocks noGrp="1"/>
          </p:cNvGraphicFramePr>
          <p:nvPr/>
        </p:nvGraphicFramePr>
        <p:xfrm>
          <a:off x="2818989" y="5321849"/>
          <a:ext cx="2006600" cy="864000"/>
        </p:xfrm>
        <a:graphic>
          <a:graphicData uri="http://schemas.openxmlformats.org/drawingml/2006/table">
            <a:tbl>
              <a:tblPr/>
              <a:tblGrid>
                <a:gridCol w="599127"/>
                <a:gridCol w="684717"/>
                <a:gridCol w="722756"/>
              </a:tblGrid>
              <a:tr h="144000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목표절감금액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21,190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10,595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생산기술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감가상각비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5,347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8" name="모서리가 둥근 직사각형 87"/>
          <p:cNvSpPr/>
          <p:nvPr/>
        </p:nvSpPr>
        <p:spPr bwMode="auto">
          <a:xfrm>
            <a:off x="428871" y="120745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90" name="TextBox 89"/>
          <p:cNvSpPr txBox="1">
            <a:spLocks noChangeArrowheads="1"/>
          </p:cNvSpPr>
          <p:nvPr/>
        </p:nvSpPr>
        <p:spPr bwMode="auto">
          <a:xfrm>
            <a:off x="192462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92" name="TextBox 35"/>
          <p:cNvSpPr txBox="1">
            <a:spLocks noChangeArrowheads="1"/>
          </p:cNvSpPr>
          <p:nvPr/>
        </p:nvSpPr>
        <p:spPr bwMode="auto">
          <a:xfrm>
            <a:off x="1270170" y="125615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96" name="TextBox 36"/>
          <p:cNvSpPr txBox="1">
            <a:spLocks noChangeArrowheads="1"/>
          </p:cNvSpPr>
          <p:nvPr/>
        </p:nvSpPr>
        <p:spPr bwMode="auto">
          <a:xfrm>
            <a:off x="46663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4" name="그룹 69"/>
          <p:cNvGrpSpPr/>
          <p:nvPr/>
        </p:nvGrpSpPr>
        <p:grpSpPr>
          <a:xfrm>
            <a:off x="798871" y="1256158"/>
            <a:ext cx="360000" cy="226591"/>
            <a:chOff x="837169" y="1307470"/>
            <a:chExt cx="360000" cy="226591"/>
          </a:xfrm>
        </p:grpSpPr>
        <p:sp>
          <p:nvSpPr>
            <p:cNvPr id="103" name="TextBox 10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4" name="실행 단추: 앞으로 또는 다음 10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65"/>
          <p:cNvGrpSpPr/>
          <p:nvPr/>
        </p:nvGrpSpPr>
        <p:grpSpPr>
          <a:xfrm>
            <a:off x="1484876" y="1256158"/>
            <a:ext cx="360000" cy="226591"/>
            <a:chOff x="1701166" y="1307502"/>
            <a:chExt cx="360000" cy="226591"/>
          </a:xfrm>
        </p:grpSpPr>
        <p:sp>
          <p:nvSpPr>
            <p:cNvPr id="106" name="TextBox 105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07" name="실행 단추: 앞으로 또는 다음 10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6" name="그룹 70"/>
          <p:cNvGrpSpPr/>
          <p:nvPr/>
        </p:nvGrpSpPr>
        <p:grpSpPr>
          <a:xfrm>
            <a:off x="2253136" y="1256158"/>
            <a:ext cx="360000" cy="226591"/>
            <a:chOff x="2709337" y="1307502"/>
            <a:chExt cx="360000" cy="226591"/>
          </a:xfrm>
        </p:grpSpPr>
        <p:sp>
          <p:nvSpPr>
            <p:cNvPr id="110" name="TextBox 109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2" name="실행 단추: 앞으로 또는 다음 11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3" name="TextBox 33"/>
          <p:cNvSpPr txBox="1">
            <a:spLocks noChangeArrowheads="1"/>
          </p:cNvSpPr>
          <p:nvPr/>
        </p:nvSpPr>
        <p:spPr bwMode="auto">
          <a:xfrm>
            <a:off x="2786370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3009109" y="1256158"/>
            <a:ext cx="360000" cy="226591"/>
            <a:chOff x="2709337" y="1307502"/>
            <a:chExt cx="360000" cy="226591"/>
          </a:xfrm>
        </p:grpSpPr>
        <p:sp>
          <p:nvSpPr>
            <p:cNvPr id="115" name="TextBox 11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6" name="실행 단추: 앞으로 또는 다음 11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7" name="TextBox 33"/>
          <p:cNvSpPr txBox="1">
            <a:spLocks noChangeArrowheads="1"/>
          </p:cNvSpPr>
          <p:nvPr/>
        </p:nvSpPr>
        <p:spPr bwMode="auto">
          <a:xfrm>
            <a:off x="3566725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8" name="그룹 74"/>
          <p:cNvGrpSpPr/>
          <p:nvPr/>
        </p:nvGrpSpPr>
        <p:grpSpPr>
          <a:xfrm>
            <a:off x="4074182" y="1256158"/>
            <a:ext cx="360000" cy="226591"/>
            <a:chOff x="2709337" y="1307502"/>
            <a:chExt cx="360000" cy="226591"/>
          </a:xfrm>
        </p:grpSpPr>
        <p:sp>
          <p:nvSpPr>
            <p:cNvPr id="119" name="TextBox 118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20" name="실행 단추: 앞으로 또는 다음 11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21" name="TextBox 33"/>
          <p:cNvSpPr txBox="1">
            <a:spLocks noChangeArrowheads="1"/>
          </p:cNvSpPr>
          <p:nvPr/>
        </p:nvSpPr>
        <p:spPr bwMode="auto">
          <a:xfrm>
            <a:off x="4634175" y="126705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9" name="그룹 74"/>
          <p:cNvGrpSpPr/>
          <p:nvPr/>
        </p:nvGrpSpPr>
        <p:grpSpPr>
          <a:xfrm>
            <a:off x="4880990" y="1267050"/>
            <a:ext cx="360000" cy="226591"/>
            <a:chOff x="2709337" y="1307502"/>
            <a:chExt cx="360000" cy="226591"/>
          </a:xfrm>
        </p:grpSpPr>
        <p:sp>
          <p:nvSpPr>
            <p:cNvPr id="123" name="TextBox 122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24" name="실행 단추: 앞으로 또는 다음 12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</a:t>
            </a:r>
            <a:r>
              <a:rPr lang="ko-KR" altLang="en-US" sz="1000" dirty="0" err="1" smtClean="0">
                <a:solidFill>
                  <a:srgbClr val="000000"/>
                </a:solidFill>
                <a:latin typeface="Arial"/>
                <a:ea typeface="가는각진제목체"/>
              </a:rPr>
              <a:t>목표절감액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 부여 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0" name="직사각형 99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(2/2)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31" name="Group 82"/>
          <p:cNvGraphicFramePr>
            <a:graphicFrameLocks noGrp="1"/>
          </p:cNvGraphicFramePr>
          <p:nvPr/>
        </p:nvGraphicFramePr>
        <p:xfrm>
          <a:off x="6149460" y="1026115"/>
          <a:ext cx="3526994" cy="1775280"/>
        </p:xfrm>
        <a:graphic>
          <a:graphicData uri="http://schemas.openxmlformats.org/drawingml/2006/table">
            <a:tbl>
              <a:tblPr/>
              <a:tblGrid>
                <a:gridCol w="574994"/>
                <a:gridCol w="2952000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부문별 목표 절감 배부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buFont typeface="Wingdings" pitchFamily="2" charset="2"/>
                        <a:buNone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현상원가 불러오기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산출된 내역이 있어야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6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5-2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절감목표금액을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절감목표금액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을 선택한 화면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 정보는 표시하지 않음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각 항목별로 절감금액을 표시함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현재대비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숫자는 손익효과를 의미함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양수인경우 손익 증가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∙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양수인 경우 목표 증가액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∙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그외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긱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원가항목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양수인 경우 목표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절감액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Arial"/>
              <a:ea typeface="가는각진제목체"/>
            </a:endParaRPr>
          </a:p>
        </p:txBody>
      </p:sp>
      <p:sp>
        <p:nvSpPr>
          <p:cNvPr id="57" name="모서리가 둥근 직사각형 56"/>
          <p:cNvSpPr/>
          <p:nvPr/>
        </p:nvSpPr>
        <p:spPr bwMode="auto">
          <a:xfrm>
            <a:off x="428871" y="120745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192462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59" name="TextBox 35"/>
          <p:cNvSpPr txBox="1">
            <a:spLocks noChangeArrowheads="1"/>
          </p:cNvSpPr>
          <p:nvPr/>
        </p:nvSpPr>
        <p:spPr bwMode="auto">
          <a:xfrm>
            <a:off x="1270170" y="125615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62" name="TextBox 36"/>
          <p:cNvSpPr txBox="1">
            <a:spLocks noChangeArrowheads="1"/>
          </p:cNvSpPr>
          <p:nvPr/>
        </p:nvSpPr>
        <p:spPr bwMode="auto">
          <a:xfrm>
            <a:off x="46663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2" name="그룹 69"/>
          <p:cNvGrpSpPr/>
          <p:nvPr/>
        </p:nvGrpSpPr>
        <p:grpSpPr>
          <a:xfrm>
            <a:off x="798871" y="1256158"/>
            <a:ext cx="360000" cy="226591"/>
            <a:chOff x="837169" y="1307470"/>
            <a:chExt cx="360000" cy="226591"/>
          </a:xfrm>
        </p:grpSpPr>
        <p:sp>
          <p:nvSpPr>
            <p:cNvPr id="64" name="TextBox 63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5" name="실행 단추: 앞으로 또는 다음 64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484876" y="1256158"/>
            <a:ext cx="360000" cy="226591"/>
            <a:chOff x="1701166" y="1307502"/>
            <a:chExt cx="360000" cy="226591"/>
          </a:xfrm>
        </p:grpSpPr>
        <p:sp>
          <p:nvSpPr>
            <p:cNvPr id="68" name="TextBox 67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70"/>
          <p:cNvGrpSpPr/>
          <p:nvPr/>
        </p:nvGrpSpPr>
        <p:grpSpPr>
          <a:xfrm>
            <a:off x="2253136" y="1256158"/>
            <a:ext cx="360000" cy="226591"/>
            <a:chOff x="2709337" y="1307502"/>
            <a:chExt cx="360000" cy="226591"/>
          </a:xfrm>
        </p:grpSpPr>
        <p:sp>
          <p:nvSpPr>
            <p:cNvPr id="71" name="TextBox 7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786370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5" name="그룹 74"/>
          <p:cNvGrpSpPr/>
          <p:nvPr/>
        </p:nvGrpSpPr>
        <p:grpSpPr>
          <a:xfrm>
            <a:off x="3009109" y="1256158"/>
            <a:ext cx="360000" cy="226591"/>
            <a:chOff x="2709337" y="1307502"/>
            <a:chExt cx="360000" cy="226591"/>
          </a:xfrm>
        </p:grpSpPr>
        <p:sp>
          <p:nvSpPr>
            <p:cNvPr id="76" name="TextBox 75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7" name="실행 단추: 앞으로 또는 다음 76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8" name="TextBox 33"/>
          <p:cNvSpPr txBox="1">
            <a:spLocks noChangeArrowheads="1"/>
          </p:cNvSpPr>
          <p:nvPr/>
        </p:nvSpPr>
        <p:spPr bwMode="auto">
          <a:xfrm>
            <a:off x="3566725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4074182" y="1256158"/>
            <a:ext cx="360000" cy="226591"/>
            <a:chOff x="2709337" y="1307502"/>
            <a:chExt cx="360000" cy="226591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2" name="실행 단추: 앞으로 또는 다음 8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3" name="TextBox 33"/>
          <p:cNvSpPr txBox="1">
            <a:spLocks noChangeArrowheads="1"/>
          </p:cNvSpPr>
          <p:nvPr/>
        </p:nvSpPr>
        <p:spPr bwMode="auto">
          <a:xfrm>
            <a:off x="4634175" y="126705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7" name="그룹 74"/>
          <p:cNvGrpSpPr/>
          <p:nvPr/>
        </p:nvGrpSpPr>
        <p:grpSpPr>
          <a:xfrm>
            <a:off x="4880990" y="1267050"/>
            <a:ext cx="360000" cy="226591"/>
            <a:chOff x="2709337" y="1307502"/>
            <a:chExt cx="360000" cy="226591"/>
          </a:xfrm>
        </p:grpSpPr>
        <p:sp>
          <p:nvSpPr>
            <p:cNvPr id="87" name="TextBox 8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1" name="실행 단추: 앞으로 또는 다음 9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9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95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0" name="직사각형 124"/>
          <p:cNvSpPr>
            <a:spLocks noChangeArrowheads="1"/>
          </p:cNvSpPr>
          <p:nvPr/>
        </p:nvSpPr>
        <p:spPr bwMode="auto">
          <a:xfrm>
            <a:off x="344360" y="2051703"/>
            <a:ext cx="5688000" cy="425702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8" name="그룹 50"/>
          <p:cNvGrpSpPr/>
          <p:nvPr/>
        </p:nvGrpSpPr>
        <p:grpSpPr>
          <a:xfrm>
            <a:off x="344360" y="1797154"/>
            <a:ext cx="5496340" cy="252000"/>
            <a:chOff x="344360" y="1963400"/>
            <a:chExt cx="5496340" cy="252000"/>
          </a:xfrm>
        </p:grpSpPr>
        <p:sp>
          <p:nvSpPr>
            <p:cNvPr id="52" name="한쪽 모서리가 잘린 사각형 51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53" name="한쪽 모서리가 잘린 사각형 52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55" name="한쪽 모서리가 잘린 사각형 54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56" name="한쪽 모서리가 잘린 사각형 55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60" name="한쪽 모서리가 잘린 사각형 59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61" name="타원 60"/>
          <p:cNvSpPr/>
          <p:nvPr/>
        </p:nvSpPr>
        <p:spPr>
          <a:xfrm>
            <a:off x="2106333" y="162875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5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63" name="표 62"/>
          <p:cNvGraphicFramePr>
            <a:graphicFrameLocks noGrp="1"/>
          </p:cNvGraphicFramePr>
          <p:nvPr/>
        </p:nvGraphicFramePr>
        <p:xfrm>
          <a:off x="465138" y="2098402"/>
          <a:ext cx="3276000" cy="432000"/>
        </p:xfrm>
        <a:graphic>
          <a:graphicData uri="http://schemas.openxmlformats.org/drawingml/2006/table">
            <a:tbl>
              <a:tblPr/>
              <a:tblGrid>
                <a:gridCol w="1008000"/>
                <a:gridCol w="828000"/>
                <a:gridCol w="360000"/>
                <a:gridCol w="360000"/>
                <a:gridCol w="360000"/>
                <a:gridCol w="360000"/>
              </a:tblGrid>
              <a:tr h="18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명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kern="1200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endParaRPr lang="ko-KR" altLang="en-US" sz="900" b="1" i="0" u="none" strike="noStrike" kern="1200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FFFFFF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endParaRPr lang="ko-KR" altLang="en-US" sz="900" b="1" i="0" u="none" strike="noStrike" dirty="0">
                        <a:solidFill>
                          <a:srgbClr val="FFFFFF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T13007-TMA-T01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AA </a:t>
                      </a:r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4" name="AutoShape 279"/>
          <p:cNvSpPr>
            <a:spLocks noChangeArrowheads="1"/>
          </p:cNvSpPr>
          <p:nvPr/>
        </p:nvSpPr>
        <p:spPr bwMode="auto">
          <a:xfrm>
            <a:off x="4280526" y="21083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3836324" y="2108310"/>
            <a:ext cx="360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산출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463996" y="2502778"/>
          <a:ext cx="5283200" cy="2627880"/>
        </p:xfrm>
        <a:graphic>
          <a:graphicData uri="http://schemas.openxmlformats.org/drawingml/2006/table">
            <a:tbl>
              <a:tblPr/>
              <a:tblGrid>
                <a:gridCol w="609600"/>
                <a:gridCol w="584200"/>
                <a:gridCol w="584200"/>
                <a:gridCol w="584200"/>
                <a:gridCol w="584200"/>
                <a:gridCol w="584200"/>
                <a:gridCol w="584200"/>
                <a:gridCol w="584200"/>
                <a:gridCol w="584200"/>
              </a:tblGrid>
              <a:tr h="161925"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000" b="0" i="0" u="none" strike="noStrike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단위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 </a:t>
                      </a:r>
                    </a:p>
                  </a:txBody>
                  <a:tcPr marL="36000" marR="36000" marT="18000" marB="180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2019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재료비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50,317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50,318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50,298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노무비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21,256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8,926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10,852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11,395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11,961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10,971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35,828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28,803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30,400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30,844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31,300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30,518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감가상각비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12,701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12,699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제조원가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120,104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100,747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104,272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105,258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106,280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104,486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인건비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924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382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431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446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판매관리비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1,643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1,171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1,035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1,047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1,085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영업이익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  13,575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6,794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3,356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2,350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1,298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3,055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영업외수지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15,342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7,246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481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3,802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총원가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124,438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116,340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109,575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124,438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116,340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109,575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109,098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109,090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 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경상이익률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lang="en-US" altLang="ko-KR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 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9" name="직사각형 78"/>
          <p:cNvSpPr/>
          <p:nvPr/>
        </p:nvSpPr>
        <p:spPr bwMode="auto">
          <a:xfrm rot="20651343">
            <a:off x="6559503" y="4497201"/>
            <a:ext cx="2376330" cy="1223573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절감목표금액으로 </a:t>
            </a:r>
            <a:endParaRPr lang="en-US" altLang="ko-KR" sz="1800" b="1" dirty="0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  <a:p>
            <a:pPr algn="ctr" eaLnBrk="0" latinLnBrk="0" hangingPunct="0"/>
            <a:r>
              <a:rPr lang="ko-KR" altLang="en-US" sz="18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선택한 화면</a:t>
            </a:r>
          </a:p>
        </p:txBody>
      </p:sp>
      <p:sp>
        <p:nvSpPr>
          <p:cNvPr id="93" name="직사각형 124"/>
          <p:cNvSpPr>
            <a:spLocks noChangeArrowheads="1"/>
          </p:cNvSpPr>
          <p:nvPr/>
        </p:nvSpPr>
        <p:spPr bwMode="auto">
          <a:xfrm>
            <a:off x="616198" y="5240299"/>
            <a:ext cx="1820381" cy="876783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96" name="타원 95"/>
          <p:cNvSpPr/>
          <p:nvPr/>
        </p:nvSpPr>
        <p:spPr>
          <a:xfrm>
            <a:off x="477292" y="519267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6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102" name="표 101"/>
          <p:cNvGraphicFramePr>
            <a:graphicFrameLocks noGrp="1"/>
          </p:cNvGraphicFramePr>
          <p:nvPr/>
        </p:nvGraphicFramePr>
        <p:xfrm>
          <a:off x="806707" y="5321849"/>
          <a:ext cx="1435100" cy="504000"/>
        </p:xfrm>
        <a:graphic>
          <a:graphicData uri="http://schemas.openxmlformats.org/drawingml/2006/table">
            <a:tbl>
              <a:tblPr/>
              <a:tblGrid>
                <a:gridCol w="812800"/>
                <a:gridCol w="622300"/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목표수익율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8.50%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목표절감액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9525" marB="10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" name="TextBox 102"/>
          <p:cNvSpPr txBox="1">
            <a:spLocks noChangeArrowheads="1"/>
          </p:cNvSpPr>
          <p:nvPr/>
        </p:nvSpPr>
        <p:spPr bwMode="auto">
          <a:xfrm>
            <a:off x="677227" y="5361262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1)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104" name="TextBox 103"/>
          <p:cNvSpPr txBox="1">
            <a:spLocks noChangeArrowheads="1"/>
          </p:cNvSpPr>
          <p:nvPr/>
        </p:nvSpPr>
        <p:spPr bwMode="auto">
          <a:xfrm>
            <a:off x="677227" y="5614997"/>
            <a:ext cx="135666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en-US" altLang="ko-KR" sz="900" b="1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2)</a:t>
            </a:r>
            <a:endParaRPr lang="ko-KR" altLang="en-US" sz="900" b="1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105" name="직사각형 124"/>
          <p:cNvSpPr>
            <a:spLocks noChangeArrowheads="1"/>
          </p:cNvSpPr>
          <p:nvPr/>
        </p:nvSpPr>
        <p:spPr bwMode="auto">
          <a:xfrm>
            <a:off x="2718624" y="5242859"/>
            <a:ext cx="2450406" cy="1008000"/>
          </a:xfrm>
          <a:prstGeom prst="rect">
            <a:avLst/>
          </a:prstGeom>
          <a:noFill/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109" name="타원 108"/>
          <p:cNvSpPr/>
          <p:nvPr/>
        </p:nvSpPr>
        <p:spPr>
          <a:xfrm>
            <a:off x="2579717" y="5195234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 7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  <p:graphicFrame>
        <p:nvGraphicFramePr>
          <p:cNvPr id="110" name="표 109"/>
          <p:cNvGraphicFramePr>
            <a:graphicFrameLocks noGrp="1"/>
          </p:cNvGraphicFramePr>
          <p:nvPr/>
        </p:nvGraphicFramePr>
        <p:xfrm>
          <a:off x="2818989" y="5321849"/>
          <a:ext cx="2006600" cy="864000"/>
        </p:xfrm>
        <a:graphic>
          <a:graphicData uri="http://schemas.openxmlformats.org/drawingml/2006/table">
            <a:tbl>
              <a:tblPr/>
              <a:tblGrid>
                <a:gridCol w="599127"/>
                <a:gridCol w="684717"/>
                <a:gridCol w="722756"/>
              </a:tblGrid>
              <a:tr h="144000"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부문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원가항목 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목표절감금액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구매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21,190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설계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재료비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10,595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생산기술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감가상각비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5,347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…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000"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112,873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9" name="그룹 110"/>
          <p:cNvGrpSpPr/>
          <p:nvPr/>
        </p:nvGrpSpPr>
        <p:grpSpPr>
          <a:xfrm>
            <a:off x="4701536" y="2289032"/>
            <a:ext cx="1260000" cy="215900"/>
            <a:chOff x="4736970" y="2252586"/>
            <a:chExt cx="1260000" cy="215900"/>
          </a:xfrm>
        </p:grpSpPr>
        <p:sp>
          <p:nvSpPr>
            <p:cNvPr id="112" name="AutoShape 279"/>
            <p:cNvSpPr>
              <a:spLocks noChangeArrowheads="1"/>
            </p:cNvSpPr>
            <p:nvPr/>
          </p:nvSpPr>
          <p:spPr bwMode="auto">
            <a:xfrm>
              <a:off x="4736970" y="2252586"/>
              <a:ext cx="1260000" cy="215900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shade val="79216"/>
                    <a:invGamma/>
                  </a:schemeClr>
                </a:gs>
              </a:gsLst>
              <a:lin ang="5400000" scaled="1"/>
            </a:gradFill>
            <a:ln w="1905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3600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 smtClean="0">
                  <a:solidFill>
                    <a:prstClr val="black"/>
                  </a:solidFill>
                  <a:latin typeface="Arial"/>
                  <a:ea typeface="가는각진제목체" pitchFamily="18" charset="-127"/>
                </a:rPr>
                <a:t>목표금액</a:t>
              </a:r>
              <a:r>
                <a:rPr kumimoji="0" lang="en-US" altLang="ko-KR" sz="900" dirty="0" smtClean="0">
                  <a:solidFill>
                    <a:prstClr val="black"/>
                  </a:solidFill>
                  <a:latin typeface="Arial"/>
                  <a:ea typeface="가는각진제목체" pitchFamily="18" charset="-127"/>
                </a:rPr>
                <a:t>/</a:t>
              </a:r>
              <a:r>
                <a:rPr kumimoji="0" lang="ko-KR" altLang="en-US" sz="900" dirty="0" smtClean="0">
                  <a:solidFill>
                    <a:prstClr val="black"/>
                  </a:solidFill>
                  <a:latin typeface="Arial"/>
                  <a:ea typeface="가는각진제목체" pitchFamily="18" charset="-127"/>
                </a:rPr>
                <a:t>절감목표금액</a:t>
              </a:r>
              <a:endParaRPr kumimoji="0" lang="ko-KR" altLang="en-US" sz="900" dirty="0">
                <a:solidFill>
                  <a:prstClr val="black"/>
                </a:solidFill>
                <a:latin typeface="Arial"/>
                <a:ea typeface="가는각진제목체" pitchFamily="18" charset="-127"/>
              </a:endParaRPr>
            </a:p>
          </p:txBody>
        </p:sp>
        <p:sp>
          <p:nvSpPr>
            <p:cNvPr id="113" name="실행 단추: 앞으로 또는 다음 112">
              <a:hlinkClick r:id="" action="ppaction://noaction" highlightClick="1"/>
            </p:cNvPr>
            <p:cNvSpPr/>
            <p:nvPr/>
          </p:nvSpPr>
          <p:spPr bwMode="auto">
            <a:xfrm rot="5400000">
              <a:off x="5805494" y="2283444"/>
              <a:ext cx="180000" cy="154184"/>
            </a:xfrm>
            <a:prstGeom prst="actionButtonForwardNext">
              <a:avLst/>
            </a:prstGeom>
            <a:solidFill>
              <a:schemeClr val="bg1">
                <a:lumMod val="65000"/>
              </a:schemeClr>
            </a:solidFill>
            <a:ln w="9525" algn="ctr">
              <a:noFill/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endParaRPr lang="ko-KR" altLang="en-US" sz="1100" dirty="0" smtClean="0">
                <a:solidFill>
                  <a:srgbClr val="3A4972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endParaRPr>
            </a:p>
          </p:txBody>
        </p:sp>
      </p:grpSp>
      <p:sp>
        <p:nvSpPr>
          <p:cNvPr id="67" name="모서리가 둥근 직사각형 66"/>
          <p:cNvSpPr/>
          <p:nvPr/>
        </p:nvSpPr>
        <p:spPr bwMode="auto">
          <a:xfrm rot="20586987">
            <a:off x="6873596" y="3247055"/>
            <a:ext cx="1368000" cy="54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상세 </a:t>
            </a:r>
            <a:r>
              <a:rPr lang="en-US" altLang="ko-KR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Spec </a:t>
            </a:r>
            <a:r>
              <a:rPr lang="ko-KR" altLang="en-US" sz="1500" b="1" dirty="0" smtClean="0">
                <a:solidFill>
                  <a:srgbClr val="C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참고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1. </a:t>
            </a:r>
            <a:r>
              <a:rPr kumimoji="0" lang="ko-KR" altLang="en-US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개요</a:t>
            </a: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부문별 목표를 수립하기 위한 기초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생성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정의된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Rule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따라 자동생성함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관련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Rule: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 목표 </a:t>
            </a:r>
            <a:r>
              <a:rPr kumimoji="0" lang="ko-KR" altLang="en-US" sz="1050" b="1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절감액을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각 현상원가의 비율로 안분하며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원가항목별로 절감 목표 대상 부서를 사전에 정의함</a:t>
            </a:r>
            <a:endParaRPr kumimoji="0" lang="ko-KR" altLang="en-US" sz="1050" b="1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77800" indent="-93663" fontAlgn="ctr" latinLnBrk="0">
              <a:lnSpc>
                <a:spcPct val="140000"/>
              </a:lnSpc>
              <a:defRPr/>
            </a:pPr>
            <a:endParaRPr kumimoji="0" lang="en-US" altLang="ko-KR" sz="1050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Logic(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상세 사례는 첨부파일 참조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활용할 기초 자료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①  판가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/TCI/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수량 정보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목표원가 기초정보관리에 입력된 내용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  /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②  목표수익률  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Guide  /  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③  선택한 견적</a:t>
            </a:r>
            <a:r>
              <a:rPr kumimoji="0"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</a:t>
            </a:r>
            <a:r>
              <a:rPr kumimoji="0"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현상원가</a:t>
            </a:r>
            <a:endParaRPr kumimoji="0" lang="en-US" altLang="ko-KR" sz="1100" b="1" dirty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ko-KR" altLang="en-US" sz="1050" dirty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 총원가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입력된 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/TCI/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수량정보를 바탕으로 해당 사양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목표원가 코드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의 총 매출액 산출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(∑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 물량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판가는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초도판가와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연도별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TCI Rate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적용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총원가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 매출액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 (1-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목표수익률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 절감 목표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합계를 기준으로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선택한 현상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견적원가의 총원가 － 목표 총원가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를 계산함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백만원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단위가 아닌 원단위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(3)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 목표의 원가 항목별 배부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합계를 기준으로 총 절감목표금액을 각 원가 항목에 배부함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원가항목 관리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절감대상으로 정의된 항목에만 배부 수행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항목별 배부 금액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=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총원가 절감 목표 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× 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해당 항목이 차지하는 비율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절감대상으로 정의된 항목 중 해당원가의 비율</a:t>
            </a: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(4)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판가의 산출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 판가 기준에 따름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등록한 판가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 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수익성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분석시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사용된 판가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–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등록한 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 × 10%. </a:t>
            </a:r>
            <a:r>
              <a:rPr kumimoji="0" lang="ko-KR" altLang="en-US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물량효과는 고려하지 않으며 연도별로 각각 산출함</a:t>
            </a: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(5)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부문별 목표원가 산출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단위당 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각 연도별 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&amp;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합계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합계값을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각 연도의 금액 비율로 안분함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판가는 연도별 목표 판가 적용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 금액을 물량으로 나누어 단위당 목표원가를 산출함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해당연도 물량이 없는 경우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전체 물량으로 나눈 값을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</a:t>
            </a:r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/>
        </p:nvGraphicFramePr>
        <p:xfrm>
          <a:off x="7761390" y="931892"/>
          <a:ext cx="1139301" cy="961285"/>
        </p:xfrm>
        <a:graphic>
          <a:graphicData uri="http://schemas.openxmlformats.org/presentationml/2006/ole">
            <p:oleObj spid="_x0000_s2050" name="Worksheet" showAsIcon="1" r:id="rId3" imgW="914400" imgH="771480" progId="">
              <p:embed/>
            </p:oleObj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제목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000000"/>
                </a:solidFill>
              </a:rPr>
              <a:t>상세 </a:t>
            </a:r>
            <a:r>
              <a:rPr lang="en-US" altLang="ko-KR" dirty="0" smtClean="0">
                <a:solidFill>
                  <a:srgbClr val="000000"/>
                </a:solidFill>
              </a:rPr>
              <a:t>Spec -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부문별 목표 </a:t>
            </a:r>
            <a:r>
              <a:rPr lang="en-US" altLang="ko-KR" dirty="0" smtClean="0">
                <a:solidFill>
                  <a:srgbClr val="000000"/>
                </a:solidFill>
                <a:latin typeface="Arial"/>
                <a:ea typeface="가는각진제목체"/>
              </a:rPr>
              <a:t>Guide </a:t>
            </a:r>
            <a:r>
              <a:rPr lang="ko-KR" altLang="en-US" dirty="0" smtClean="0">
                <a:solidFill>
                  <a:srgbClr val="000000"/>
                </a:solidFill>
                <a:latin typeface="Arial"/>
                <a:ea typeface="가는각진제목체"/>
              </a:rPr>
              <a:t>산출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416370" y="790575"/>
            <a:ext cx="8857230" cy="544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2.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Logic(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상세 사례는 첨부파일 참조</a:t>
            </a: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),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계속</a:t>
            </a:r>
            <a:endParaRPr kumimoji="0" lang="en-US" altLang="ko-KR" sz="12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625475" indent="-625475"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(6)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 목표금액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선택된 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견적원가와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최종 부문별 목표원가를  사용하여 연도별로 절감 목표 산출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단위당 금액으로 산출하며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손익증가 효과를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+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로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이익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-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현상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물량은 고정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이익률은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0)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(7)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절감할 원가를 부문별로 정리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1)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연간합계의 단위당 기준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2)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절감대상 원가항목 관리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Master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에 등록된 사항에 따름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3. </a:t>
            </a:r>
            <a:r>
              <a:rPr kumimoji="0" lang="ko-KR" altLang="en-US" sz="12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버튼 설명</a:t>
            </a:r>
            <a:endParaRPr kumimoji="0" lang="en-US" altLang="ko-KR" sz="12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연도별 목표원가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,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부분별 </a:t>
            </a:r>
            <a:r>
              <a:rPr kumimoji="0" lang="ko-KR" altLang="en-US" sz="1050" dirty="0" err="1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절감액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금액을 산출함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저장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산출된 금액을 저장</a:t>
            </a: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-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목표금액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/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절감목표 금액 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: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화면에 표시되는 정보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목표금액과 절감목표금액이 각각 산출되며 선택 내역에 따라 화면에 표시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fontAlgn="ctr" latinLnBrk="0">
              <a:lnSpc>
                <a:spcPct val="140000"/>
              </a:lnSpc>
              <a:defRPr/>
            </a:pP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                                      Default </a:t>
            </a:r>
            <a:r>
              <a:rPr kumimoji="0" lang="ko-KR" altLang="en-US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항목은 목표금액임</a:t>
            </a:r>
            <a:r>
              <a:rPr kumimoji="0" lang="en-US" altLang="ko-KR" sz="1050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.</a:t>
            </a:r>
          </a:p>
          <a:p>
            <a:pPr marL="180975" indent="-180975" fontAlgn="ctr" latinLnBrk="0">
              <a:lnSpc>
                <a:spcPct val="140000"/>
              </a:lnSpc>
              <a:defRPr/>
            </a:pPr>
            <a:endParaRPr kumimoji="0" lang="en-US" altLang="ko-KR" sz="1050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7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9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0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1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2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3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66306</TotalTime>
  <Words>1598</Words>
  <Application>Microsoft Office PowerPoint</Application>
  <PresentationFormat>A4 용지(210x297mm)</PresentationFormat>
  <Paragraphs>661</Paragraphs>
  <Slides>7</Slides>
  <Notes>3</Notes>
  <HiddenSlides>0</HiddenSlides>
  <MMClips>0</MMClips>
  <ScaleCrop>false</ScaleCrop>
  <HeadingPairs>
    <vt:vector size="6" baseType="variant">
      <vt:variant>
        <vt:lpstr>테마</vt:lpstr>
      </vt:variant>
      <vt:variant>
        <vt:i4>8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7_tb4_onscreen_v2.1</vt:lpstr>
      <vt:lpstr>8_tb4_onscreen_v2.1</vt:lpstr>
      <vt:lpstr>6_tb4_onscreen_v2.1</vt:lpstr>
      <vt:lpstr>9_tb4_onscreen_v2.1</vt:lpstr>
      <vt:lpstr>10_tb4_onscreen_v2.1</vt:lpstr>
      <vt:lpstr>11_tb4_onscreen_v2.1</vt:lpstr>
      <vt:lpstr>12_tb4_onscreen_v2.1</vt:lpstr>
      <vt:lpstr>13_tb4_onscreen_v2.1</vt:lpstr>
      <vt:lpstr>Worksheet</vt:lpstr>
      <vt:lpstr>슬라이드 0</vt:lpstr>
      <vt:lpstr>슬라이드 1</vt:lpstr>
      <vt:lpstr>슬라이드 2</vt:lpstr>
      <vt:lpstr>슬라이드 3</vt:lpstr>
      <vt:lpstr>슬라이드 4</vt:lpstr>
      <vt:lpstr>상세 Spec - 부문별 목표 Guide 산출</vt:lpstr>
      <vt:lpstr>상세 Spec - 부문별 목표 Guide 산출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8185</cp:revision>
  <cp:lastPrinted>2012-11-21T23:07:40Z</cp:lastPrinted>
  <dcterms:created xsi:type="dcterms:W3CDTF">2011-12-22T02:00:23Z</dcterms:created>
  <dcterms:modified xsi:type="dcterms:W3CDTF">2013-05-20T00:45:51Z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