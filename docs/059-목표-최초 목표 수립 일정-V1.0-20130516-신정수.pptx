
<file path=[Content_Types].xml><?xml version="1.0" encoding="utf-8"?>
<Types xmlns="http://schemas.openxmlformats.org/package/2006/content-types"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slideLayouts/slideLayout8.xml" ContentType="application/vnd.openxmlformats-officedocument.presentationml.slideLayout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jpeg" ContentType="image/jpeg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theme/theme8.xml" ContentType="application/vnd.openxmlformats-officedocument.theme+xml"/>
  <Override PartName="/ppt/theme/theme9.xml" ContentType="application/vnd.openxmlformats-officedocument.theme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4675" r:id="rId1"/>
    <p:sldMasterId id="2147484678" r:id="rId2"/>
    <p:sldMasterId id="2147484681" r:id="rId3"/>
    <p:sldMasterId id="2147484684" r:id="rId4"/>
    <p:sldMasterId id="2147484687" r:id="rId5"/>
    <p:sldMasterId id="2147484690" r:id="rId6"/>
    <p:sldMasterId id="2147484693" r:id="rId7"/>
  </p:sldMasterIdLst>
  <p:notesMasterIdLst>
    <p:notesMasterId r:id="rId12"/>
  </p:notesMasterIdLst>
  <p:handoutMasterIdLst>
    <p:handoutMasterId r:id="rId13"/>
  </p:handoutMasterIdLst>
  <p:sldIdLst>
    <p:sldId id="2254" r:id="rId8"/>
    <p:sldId id="2250" r:id="rId9"/>
    <p:sldId id="2251" r:id="rId10"/>
    <p:sldId id="2257" r:id="rId11"/>
  </p:sldIdLst>
  <p:sldSz cx="9906000" cy="6858000" type="A4"/>
  <p:notesSz cx="6797675" cy="9926638"/>
  <p:defaultTextStyle>
    <a:defPPr>
      <a:defRPr lang="en-US"/>
    </a:defPPr>
    <a:lvl1pPr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74382" indent="-46009"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53522" indent="-95196"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432663" indent="-144378"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911802" indent="-193560"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4644" algn="l" defTabSz="913856" rtl="0" eaLnBrk="1" latinLnBrk="1" hangingPunct="1"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1570" algn="l" defTabSz="913856" rtl="0" eaLnBrk="1" latinLnBrk="1" hangingPunct="1"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198501" algn="l" defTabSz="913856" rtl="0" eaLnBrk="1" latinLnBrk="1" hangingPunct="1"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5428" algn="l" defTabSz="913856" rtl="0" eaLnBrk="1" latinLnBrk="1" hangingPunct="1"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000000"/>
    <a:srgbClr val="0000CC"/>
    <a:srgbClr val="CC0000"/>
    <a:srgbClr val="DC6900"/>
    <a:srgbClr val="FFFF66"/>
    <a:srgbClr val="333333"/>
    <a:srgbClr val="FF9999"/>
    <a:srgbClr val="FFCCCC"/>
    <a:srgbClr val="FFF7E1"/>
    <a:srgbClr val="FFFDF7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69D073F8-1565-44D7-B386-08B59EADF2EE}">
  <a:tblStyle styleId="{69D073F8-1565-44D7-B386-08B59EADF2EE}" styleName="PwC Table">
    <a:wholeTbl>
      <a:tcTxStyle>
        <a:fontRef idx="maj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bottom>
            <a:ln w="38100" cmpd="sng">
              <a:noFill/>
            </a:ln>
          </a:bottom>
        </a:tcBdr>
      </a:tcStyle>
    </a:band1H>
    <a:band2H>
      <a:tcStyle>
        <a:tcBdr>
          <a:bottom>
            <a:ln w="38100" cmpd="sng">
              <a:noFill/>
            </a:ln>
          </a:bottom>
        </a:tcBdr>
      </a:tcStyle>
    </a:band2H>
    <a:firstCol>
      <a:tcTxStyle i="on">
        <a:fontRef idx="major">
          <a:prstClr val="black"/>
        </a:fontRef>
        <a:schemeClr val="dk1"/>
      </a:tcTxStyle>
      <a:tcStyle>
        <a:tcBdr/>
        <a:fill>
          <a:noFill/>
        </a:fill>
      </a:tcStyle>
    </a:firstCol>
    <a:firstRow>
      <a:tcTxStyle b="on">
        <a:fontRef idx="major">
          <a:prstClr val="black"/>
        </a:fontRef>
        <a:schemeClr val="dk2"/>
      </a:tcTxStyle>
      <a:tcStyle>
        <a:tcBdr>
          <a:bottom>
            <a:ln w="38100" cmpd="sng">
              <a:noFill/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DA37D80-6434-44D0-A028-1B22A696006F}" styleName="밝은 스타일 3 - 강조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206" autoAdjust="0"/>
    <p:restoredTop sz="82572" autoAdjust="0"/>
  </p:normalViewPr>
  <p:slideViewPr>
    <p:cSldViewPr snapToObjects="1">
      <p:cViewPr>
        <p:scale>
          <a:sx n="75" d="100"/>
          <a:sy n="75" d="100"/>
        </p:scale>
        <p:origin x="-1314" y="-78"/>
      </p:cViewPr>
      <p:guideLst>
        <p:guide orient="horz" pos="300"/>
        <p:guide orient="horz" pos="2704"/>
        <p:guide orient="horz" pos="1389"/>
        <p:guide pos="6023"/>
      </p:guideLst>
    </p:cSldViewPr>
  </p:slideViewPr>
  <p:outlineViewPr>
    <p:cViewPr>
      <p:scale>
        <a:sx n="33" d="100"/>
        <a:sy n="33" d="100"/>
      </p:scale>
      <p:origin x="0" y="108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Objects="1">
      <p:cViewPr varScale="1">
        <p:scale>
          <a:sx n="49" d="100"/>
          <a:sy n="49" d="100"/>
        </p:scale>
        <p:origin x="-2712" y="-108"/>
      </p:cViewPr>
      <p:guideLst>
        <p:guide orient="horz" pos="3127"/>
        <p:guide pos="2141"/>
      </p:guideLst>
    </p:cSldViewPr>
  </p:notesViewPr>
  <p:gridSpacing cx="73737788" cy="7373778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" Target="slides/slide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448" cy="496253"/>
          </a:xfrm>
          <a:prstGeom prst="rect">
            <a:avLst/>
          </a:prstGeom>
        </p:spPr>
        <p:txBody>
          <a:bodyPr vert="horz" lIns="91658" tIns="45830" rIns="91658" bIns="45830" rtlCol="0"/>
          <a:lstStyle>
            <a:lvl1pPr algn="l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645" y="0"/>
            <a:ext cx="2945448" cy="496253"/>
          </a:xfrm>
          <a:prstGeom prst="rect">
            <a:avLst/>
          </a:prstGeom>
        </p:spPr>
        <p:txBody>
          <a:bodyPr vert="horz" lIns="91658" tIns="45830" rIns="91658" bIns="45830" rtlCol="0"/>
          <a:lstStyle>
            <a:lvl1pPr algn="r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598B7DD0-F933-4256-AFA8-DB79D4CAE8E1}" type="datetimeFigureOut">
              <a:rPr lang="en-US" altLang="ko-KR"/>
              <a:pPr>
                <a:defRPr/>
              </a:pPr>
              <a:t>5/16/2013</a:t>
            </a:fld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801"/>
            <a:ext cx="2945448" cy="496252"/>
          </a:xfrm>
          <a:prstGeom prst="rect">
            <a:avLst/>
          </a:prstGeom>
        </p:spPr>
        <p:txBody>
          <a:bodyPr vert="horz" lIns="91658" tIns="45830" rIns="91658" bIns="45830" rtlCol="0" anchor="b"/>
          <a:lstStyle>
            <a:lvl1pPr algn="l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645" y="9428801"/>
            <a:ext cx="2945448" cy="496252"/>
          </a:xfrm>
          <a:prstGeom prst="rect">
            <a:avLst/>
          </a:prstGeom>
        </p:spPr>
        <p:txBody>
          <a:bodyPr vert="horz" lIns="91658" tIns="45830" rIns="91658" bIns="45830" rtlCol="0" anchor="b"/>
          <a:lstStyle>
            <a:lvl1pPr algn="r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D0790A42-1C5E-4D8C-9AE2-6811605AC8D4}" type="slidenum">
              <a:rPr lang="en-US" altLang="ko-KR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33075673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448" cy="496253"/>
          </a:xfrm>
          <a:prstGeom prst="rect">
            <a:avLst/>
          </a:prstGeom>
        </p:spPr>
        <p:txBody>
          <a:bodyPr vert="horz" lIns="91658" tIns="45830" rIns="91658" bIns="45830" rtlCol="0"/>
          <a:lstStyle>
            <a:lvl1pPr algn="l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645" y="0"/>
            <a:ext cx="2945448" cy="496253"/>
          </a:xfrm>
          <a:prstGeom prst="rect">
            <a:avLst/>
          </a:prstGeom>
        </p:spPr>
        <p:txBody>
          <a:bodyPr vert="horz" lIns="91658" tIns="45830" rIns="91658" bIns="45830" rtlCol="0"/>
          <a:lstStyle>
            <a:lvl1pPr algn="r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B733C386-9AAD-4375-8F24-A34430528E7D}" type="datetimeFigureOut">
              <a:rPr lang="en-US" altLang="ko-KR"/>
              <a:pPr>
                <a:defRPr/>
              </a:pPr>
              <a:t>5/16/2013</a:t>
            </a:fld>
            <a:endParaRPr lang="ko-KR" alt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2788" y="744538"/>
            <a:ext cx="537210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658" tIns="45830" rIns="91658" bIns="45830" rtlCol="0" anchor="ctr"/>
          <a:lstStyle/>
          <a:p>
            <a:pPr lvl="0"/>
            <a:endParaRPr lang="en-GB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085" y="4715193"/>
            <a:ext cx="5437506" cy="4466274"/>
          </a:xfrm>
          <a:prstGeom prst="rect">
            <a:avLst/>
          </a:prstGeom>
        </p:spPr>
        <p:txBody>
          <a:bodyPr vert="horz" lIns="91658" tIns="45830" rIns="91658" bIns="45830" rtlCol="0">
            <a:normAutofit/>
          </a:bodyPr>
          <a:lstStyle/>
          <a:p>
            <a:pPr lvl="0"/>
            <a:r>
              <a:rPr lang="en-US" altLang="ko-KR" noProof="0" smtClean="0"/>
              <a:t>Click to edit Master text styles</a:t>
            </a:r>
          </a:p>
          <a:p>
            <a:pPr lvl="1"/>
            <a:r>
              <a:rPr lang="en-US" altLang="ko-KR" noProof="0" smtClean="0"/>
              <a:t>Second level</a:t>
            </a:r>
          </a:p>
          <a:p>
            <a:pPr lvl="2"/>
            <a:r>
              <a:rPr lang="en-US" altLang="ko-KR" noProof="0" smtClean="0"/>
              <a:t>Third level</a:t>
            </a:r>
          </a:p>
          <a:p>
            <a:pPr lvl="3"/>
            <a:r>
              <a:rPr lang="en-US" altLang="ko-KR" noProof="0" smtClean="0"/>
              <a:t>Fourth level</a:t>
            </a:r>
          </a:p>
          <a:p>
            <a:pPr lvl="4"/>
            <a:r>
              <a:rPr lang="en-US" altLang="ko-KR" noProof="0" smtClean="0"/>
              <a:t>Fifth level</a:t>
            </a:r>
            <a:endParaRPr lang="ko-KR" alt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801"/>
            <a:ext cx="2945448" cy="496252"/>
          </a:xfrm>
          <a:prstGeom prst="rect">
            <a:avLst/>
          </a:prstGeom>
        </p:spPr>
        <p:txBody>
          <a:bodyPr vert="horz" lIns="91658" tIns="45830" rIns="91658" bIns="45830" rtlCol="0" anchor="b"/>
          <a:lstStyle>
            <a:lvl1pPr algn="l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645" y="9428801"/>
            <a:ext cx="2945448" cy="496252"/>
          </a:xfrm>
          <a:prstGeom prst="rect">
            <a:avLst/>
          </a:prstGeom>
        </p:spPr>
        <p:txBody>
          <a:bodyPr vert="horz" lIns="91658" tIns="45830" rIns="91658" bIns="45830" rtlCol="0" anchor="b"/>
          <a:lstStyle>
            <a:lvl1pPr algn="r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DBE75456-4044-433B-A0B1-1CCD6A62A8D3}" type="slidenum">
              <a:rPr lang="en-US" altLang="ko-KR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9863302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74382"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53522"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432663"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911802"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393022" algn="l" defTabSz="9572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871627" algn="l" defTabSz="9572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350230" algn="l" defTabSz="9572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828833" algn="l" defTabSz="9572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2788" y="744538"/>
            <a:ext cx="5372100" cy="3721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449BE4-5C86-4C49-AD04-A69537C68BBF}" type="slidenum">
              <a:rPr lang="ko-KR" altLang="en-US" smtClean="0">
                <a:solidFill>
                  <a:prstClr val="black"/>
                </a:solidFill>
              </a:rPr>
              <a:pPr>
                <a:defRPr/>
              </a:pPr>
              <a:t>0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7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 userDrawn="1"/>
        </p:nvSpPr>
        <p:spPr>
          <a:xfrm>
            <a:off x="6681193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6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9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6" name="Group 239"/>
          <p:cNvGraphicFramePr>
            <a:graphicFrameLocks noGrp="1"/>
          </p:cNvGraphicFramePr>
          <p:nvPr userDrawn="1"/>
        </p:nvGraphicFramePr>
        <p:xfrm>
          <a:off x="200340" y="260561"/>
          <a:ext cx="9505188" cy="6120849"/>
        </p:xfrm>
        <a:graphic>
          <a:graphicData uri="http://schemas.openxmlformats.org/drawingml/2006/table">
            <a:tbl>
              <a:tblPr/>
              <a:tblGrid>
                <a:gridCol w="864120"/>
                <a:gridCol w="1368190"/>
                <a:gridCol w="1152160"/>
                <a:gridCol w="2547369"/>
                <a:gridCol w="1125141"/>
                <a:gridCol w="2448208"/>
              </a:tblGrid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목표원가시스템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Main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작성일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anchor="ctr" horzOverflow="overflow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 rowSpan="2"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화면기능 설명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1453">
                <a:tc gridSpan="4"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Group 239"/>
          <p:cNvGraphicFramePr>
            <a:graphicFrameLocks noGrp="1"/>
          </p:cNvGraphicFramePr>
          <p:nvPr userDrawn="1"/>
        </p:nvGraphicFramePr>
        <p:xfrm>
          <a:off x="200340" y="260561"/>
          <a:ext cx="9505188" cy="6120849"/>
        </p:xfrm>
        <a:graphic>
          <a:graphicData uri="http://schemas.openxmlformats.org/drawingml/2006/table">
            <a:tbl>
              <a:tblPr/>
              <a:tblGrid>
                <a:gridCol w="864120"/>
                <a:gridCol w="1368190"/>
                <a:gridCol w="1152160"/>
                <a:gridCol w="2547369"/>
                <a:gridCol w="1125141"/>
                <a:gridCol w="2448208"/>
              </a:tblGrid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목표원가시스템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Main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작성일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anchor="ctr" horzOverflow="overflow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 rowSpan="2"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화면기능 설명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1453">
                <a:tc gridSpan="4"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</p:spTree>
    <p:extLst>
      <p:ext uri="{BB962C8B-B14F-4D97-AF65-F5344CB8AC3E}">
        <p14:creationId xmlns="" xmlns:p14="http://schemas.microsoft.com/office/powerpoint/2010/main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Group 239"/>
          <p:cNvGraphicFramePr>
            <a:graphicFrameLocks noGrp="1"/>
          </p:cNvGraphicFramePr>
          <p:nvPr userDrawn="1"/>
        </p:nvGraphicFramePr>
        <p:xfrm>
          <a:off x="200340" y="260561"/>
          <a:ext cx="9505188" cy="6120849"/>
        </p:xfrm>
        <a:graphic>
          <a:graphicData uri="http://schemas.openxmlformats.org/drawingml/2006/table">
            <a:tbl>
              <a:tblPr/>
              <a:tblGrid>
                <a:gridCol w="864120"/>
                <a:gridCol w="1368190"/>
                <a:gridCol w="1152160"/>
                <a:gridCol w="2547369"/>
                <a:gridCol w="1125141"/>
                <a:gridCol w="2448208"/>
              </a:tblGrid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목표원가시스템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Main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작성일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anchor="ctr" horzOverflow="overflow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 rowSpan="2"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화면기능 설명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1453">
                <a:tc gridSpan="4"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xmlns="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Group 239"/>
          <p:cNvGraphicFramePr>
            <a:graphicFrameLocks noGrp="1"/>
          </p:cNvGraphicFramePr>
          <p:nvPr userDrawn="1"/>
        </p:nvGraphicFramePr>
        <p:xfrm>
          <a:off x="200340" y="260561"/>
          <a:ext cx="9505188" cy="6120849"/>
        </p:xfrm>
        <a:graphic>
          <a:graphicData uri="http://schemas.openxmlformats.org/drawingml/2006/table">
            <a:tbl>
              <a:tblPr/>
              <a:tblGrid>
                <a:gridCol w="864120"/>
                <a:gridCol w="1368190"/>
                <a:gridCol w="1152160"/>
                <a:gridCol w="2547369"/>
                <a:gridCol w="1125141"/>
                <a:gridCol w="2448208"/>
              </a:tblGrid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목표원가시스템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Main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작성일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anchor="ctr" horzOverflow="overflow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 rowSpan="2"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화면기능 설명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1453">
                <a:tc gridSpan="4"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xmlns="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Group 239"/>
          <p:cNvGraphicFramePr>
            <a:graphicFrameLocks noGrp="1"/>
          </p:cNvGraphicFramePr>
          <p:nvPr userDrawn="1"/>
        </p:nvGraphicFramePr>
        <p:xfrm>
          <a:off x="200340" y="260561"/>
          <a:ext cx="9505188" cy="6120849"/>
        </p:xfrm>
        <a:graphic>
          <a:graphicData uri="http://schemas.openxmlformats.org/drawingml/2006/table">
            <a:tbl>
              <a:tblPr/>
              <a:tblGrid>
                <a:gridCol w="864120"/>
                <a:gridCol w="1368190"/>
                <a:gridCol w="1152160"/>
                <a:gridCol w="2547369"/>
                <a:gridCol w="1125141"/>
                <a:gridCol w="2448208"/>
              </a:tblGrid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목표원가시스템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Main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작성일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anchor="ctr" horzOverflow="overflow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 rowSpan="2"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화면기능 설명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1453">
                <a:tc gridSpan="4"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xmlns="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Group 239"/>
          <p:cNvGraphicFramePr>
            <a:graphicFrameLocks noGrp="1"/>
          </p:cNvGraphicFramePr>
          <p:nvPr userDrawn="1"/>
        </p:nvGraphicFramePr>
        <p:xfrm>
          <a:off x="200340" y="260561"/>
          <a:ext cx="9505188" cy="6120849"/>
        </p:xfrm>
        <a:graphic>
          <a:graphicData uri="http://schemas.openxmlformats.org/drawingml/2006/table">
            <a:tbl>
              <a:tblPr/>
              <a:tblGrid>
                <a:gridCol w="864120"/>
                <a:gridCol w="1368190"/>
                <a:gridCol w="1152160"/>
                <a:gridCol w="2547369"/>
                <a:gridCol w="1125141"/>
                <a:gridCol w="2448208"/>
              </a:tblGrid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목표원가시스템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Main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작성일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anchor="ctr" horzOverflow="overflow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 rowSpan="2"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화면기능 설명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1453">
                <a:tc gridSpan="4"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xmlns="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srgbClr val="3A497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76" r:id="rId1"/>
    <p:sldLayoutId id="2147484680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2719749" name="Rectangle 5"/>
          <p:cNvSpPr>
            <a:spLocks noChangeArrowheads="1"/>
          </p:cNvSpPr>
          <p:nvPr/>
        </p:nvSpPr>
        <p:spPr bwMode="blackWhite">
          <a:xfrm>
            <a:off x="-15874" y="247652"/>
            <a:ext cx="153988" cy="50482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80000" tIns="72000" rIns="180000" bIns="36000"/>
          <a:lstStyle/>
          <a:p>
            <a:pPr algn="r" defTabSz="914400" latinLnBrk="0">
              <a:buSzPct val="90000"/>
              <a:defRPr/>
            </a:pPr>
            <a:endParaRPr kumimoji="0" lang="en-US" altLang="ko-KR" sz="1200" dirty="0">
              <a:solidFill>
                <a:srgbClr val="8BCBE6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srgbClr val="3A497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79" r:id="rId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2719749" name="Rectangle 5"/>
          <p:cNvSpPr>
            <a:spLocks noChangeArrowheads="1"/>
          </p:cNvSpPr>
          <p:nvPr/>
        </p:nvSpPr>
        <p:spPr bwMode="blackWhite">
          <a:xfrm>
            <a:off x="-15874" y="247652"/>
            <a:ext cx="153988" cy="50482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80000" tIns="72000" rIns="180000" bIns="36000"/>
          <a:lstStyle/>
          <a:p>
            <a:pPr algn="r" defTabSz="914400" latinLnBrk="0">
              <a:buSzPct val="90000"/>
              <a:defRPr/>
            </a:pPr>
            <a:endParaRPr kumimoji="0" lang="en-US" altLang="ko-KR" sz="1200" dirty="0">
              <a:solidFill>
                <a:srgbClr val="8BCBE6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srgbClr val="3A497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82" r:id="rId1"/>
    <p:sldLayoutId id="2147484683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2719749" name="Rectangle 5"/>
          <p:cNvSpPr>
            <a:spLocks noChangeArrowheads="1"/>
          </p:cNvSpPr>
          <p:nvPr/>
        </p:nvSpPr>
        <p:spPr bwMode="blackWhite">
          <a:xfrm>
            <a:off x="-15874" y="247652"/>
            <a:ext cx="153988" cy="50482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80000" tIns="72000" rIns="180000" bIns="36000"/>
          <a:lstStyle/>
          <a:p>
            <a:pPr algn="r" defTabSz="914400" latinLnBrk="0">
              <a:buSzPct val="90000"/>
              <a:defRPr/>
            </a:pPr>
            <a:endParaRPr kumimoji="0" lang="en-US" altLang="ko-KR" sz="1200" dirty="0">
              <a:solidFill>
                <a:srgbClr val="8BCBE6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srgbClr val="3A497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85" r:id="rId1"/>
    <p:sldLayoutId id="2147484686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2719749" name="Rectangle 5"/>
          <p:cNvSpPr>
            <a:spLocks noChangeArrowheads="1"/>
          </p:cNvSpPr>
          <p:nvPr/>
        </p:nvSpPr>
        <p:spPr bwMode="blackWhite">
          <a:xfrm>
            <a:off x="-15874" y="247652"/>
            <a:ext cx="153988" cy="50482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80000" tIns="72000" rIns="180000" bIns="36000"/>
          <a:lstStyle/>
          <a:p>
            <a:pPr algn="r" defTabSz="914400" latinLnBrk="0">
              <a:buSzPct val="90000"/>
              <a:defRPr/>
            </a:pPr>
            <a:endParaRPr kumimoji="0" lang="en-US" altLang="ko-KR" sz="1200" dirty="0">
              <a:solidFill>
                <a:srgbClr val="8BCBE6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srgbClr val="3A497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88" r:id="rId1"/>
    <p:sldLayoutId id="2147484689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2719749" name="Rectangle 5"/>
          <p:cNvSpPr>
            <a:spLocks noChangeArrowheads="1"/>
          </p:cNvSpPr>
          <p:nvPr/>
        </p:nvSpPr>
        <p:spPr bwMode="blackWhite">
          <a:xfrm>
            <a:off x="-15874" y="247652"/>
            <a:ext cx="153988" cy="50482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80000" tIns="72000" rIns="180000" bIns="36000"/>
          <a:lstStyle/>
          <a:p>
            <a:pPr algn="r" defTabSz="914400" latinLnBrk="0">
              <a:buSzPct val="90000"/>
              <a:defRPr/>
            </a:pPr>
            <a:endParaRPr kumimoji="0" lang="en-US" altLang="ko-KR" sz="1200" dirty="0">
              <a:solidFill>
                <a:srgbClr val="8BCBE6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srgbClr val="3A497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91" r:id="rId1"/>
    <p:sldLayoutId id="2147484692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2719749" name="Rectangle 5"/>
          <p:cNvSpPr>
            <a:spLocks noChangeArrowheads="1"/>
          </p:cNvSpPr>
          <p:nvPr/>
        </p:nvSpPr>
        <p:spPr bwMode="blackWhite">
          <a:xfrm>
            <a:off x="-15874" y="247652"/>
            <a:ext cx="153988" cy="50482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80000" tIns="72000" rIns="180000" bIns="36000"/>
          <a:lstStyle/>
          <a:p>
            <a:pPr algn="r" defTabSz="914400" latinLnBrk="0">
              <a:buSzPct val="90000"/>
              <a:defRPr/>
            </a:pPr>
            <a:endParaRPr kumimoji="0" lang="en-US" altLang="ko-KR" sz="1200" dirty="0">
              <a:solidFill>
                <a:srgbClr val="8BCBE6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srgbClr val="3A497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94" r:id="rId1"/>
    <p:sldLayoutId id="2147484695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/>
          <p:cNvSpPr/>
          <p:nvPr/>
        </p:nvSpPr>
        <p:spPr bwMode="auto">
          <a:xfrm>
            <a:off x="0" y="531815"/>
            <a:ext cx="9906000" cy="482447"/>
          </a:xfrm>
          <a:prstGeom prst="rect">
            <a:avLst/>
          </a:prstGeom>
          <a:solidFill>
            <a:schemeClr val="bg1"/>
          </a:solidFill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grpSp>
        <p:nvGrpSpPr>
          <p:cNvPr id="2" name="그룹 1"/>
          <p:cNvGrpSpPr>
            <a:grpSpLocks/>
          </p:cNvGrpSpPr>
          <p:nvPr/>
        </p:nvGrpSpPr>
        <p:grpSpPr bwMode="auto">
          <a:xfrm>
            <a:off x="415926" y="406402"/>
            <a:ext cx="1944688" cy="358775"/>
            <a:chOff x="2208212" y="2187772"/>
            <a:chExt cx="5959947" cy="1469677"/>
          </a:xfrm>
        </p:grpSpPr>
        <p:pic>
          <p:nvPicPr>
            <p:cNvPr id="5127" name="Picture 2" descr="C:\Documents and Settings\admin\바탕 화면\제목 ss없음-1.jpg"/>
            <p:cNvPicPr>
              <a:picLocks noChangeAspect="1" noChangeArrowheads="1"/>
            </p:cNvPicPr>
            <p:nvPr/>
          </p:nvPicPr>
          <p:blipFill>
            <a:blip r:embed="rId3" cstate="print"/>
            <a:srcRect t="31873" r="30904" b="38634"/>
            <a:stretch>
              <a:fillRect/>
            </a:stretch>
          </p:blipFill>
          <p:spPr bwMode="auto">
            <a:xfrm>
              <a:off x="2208212" y="2187772"/>
              <a:ext cx="4429333" cy="14060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128" name="Picture 2" descr="C:\Documents and Settings\admin\바탕 화면\제목 ss없음-1.jpg"/>
            <p:cNvPicPr>
              <a:picLocks noChangeAspect="1" noChangeArrowheads="1"/>
            </p:cNvPicPr>
            <p:nvPr/>
          </p:nvPicPr>
          <p:blipFill>
            <a:blip r:embed="rId4" cstate="print"/>
            <a:srcRect l="68555" t="31873" b="28601"/>
            <a:stretch>
              <a:fillRect/>
            </a:stretch>
          </p:blipFill>
          <p:spPr bwMode="auto">
            <a:xfrm>
              <a:off x="6602819" y="2194115"/>
              <a:ext cx="1565340" cy="14633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3872860" y="5284320"/>
            <a:ext cx="3312408" cy="412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3333" tIns="51667" rIns="103333" bIns="51667" anchor="ctr">
            <a:spAutoFit/>
          </a:bodyPr>
          <a:lstStyle/>
          <a:p>
            <a:pPr defTabSz="914400"/>
            <a:r>
              <a:rPr lang="ko-KR" altLang="en-US" sz="2000" b="1" dirty="0" smtClean="0">
                <a:solidFill>
                  <a:srgbClr val="000000">
                    <a:lumMod val="95000"/>
                    <a:lumOff val="5000"/>
                  </a:srgbClr>
                </a:solidFill>
                <a:latin typeface="Arial"/>
                <a:ea typeface="가는각진제목체"/>
              </a:rPr>
              <a:t>목표원가관리시스템 구축 </a:t>
            </a:r>
            <a:r>
              <a:rPr lang="en-US" altLang="ko-KR" sz="2000" b="1" dirty="0" smtClean="0">
                <a:solidFill>
                  <a:srgbClr val="000000">
                    <a:lumMod val="95000"/>
                    <a:lumOff val="5000"/>
                  </a:srgbClr>
                </a:solidFill>
                <a:latin typeface="Arial"/>
                <a:ea typeface="가는각진제목체"/>
              </a:rPr>
              <a:t>TFT</a:t>
            </a:r>
            <a:endParaRPr lang="ko-KR" altLang="en-US" sz="2000" b="1" dirty="0">
              <a:solidFill>
                <a:srgbClr val="000000">
                  <a:lumMod val="95000"/>
                  <a:lumOff val="5000"/>
                </a:srgbClr>
              </a:solidFill>
              <a:latin typeface="Arial"/>
              <a:ea typeface="가는각진제목체"/>
            </a:endParaRPr>
          </a:p>
        </p:txBody>
      </p:sp>
      <p:pic>
        <p:nvPicPr>
          <p:cNvPr id="11" name="Picture 394" descr="현대다이모스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26381" t="20050" r="27190" b="56340"/>
          <a:stretch>
            <a:fillRect/>
          </a:stretch>
        </p:blipFill>
        <p:spPr bwMode="auto">
          <a:xfrm>
            <a:off x="2648716" y="5229250"/>
            <a:ext cx="1296144" cy="4412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29"/>
          <p:cNvSpPr>
            <a:spLocks noChangeArrowheads="1"/>
          </p:cNvSpPr>
          <p:nvPr/>
        </p:nvSpPr>
        <p:spPr bwMode="auto">
          <a:xfrm>
            <a:off x="948126" y="1782052"/>
            <a:ext cx="7965315" cy="218942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2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1339" tIns="180000" rIns="91339" bIns="45669" anchor="t"/>
          <a:lstStyle/>
          <a:p>
            <a:pPr algn="ctr">
              <a:lnSpc>
                <a:spcPct val="150000"/>
              </a:lnSpc>
              <a:spcBef>
                <a:spcPct val="10000"/>
              </a:spcBef>
              <a:buFont typeface="Wingdings" pitchFamily="2" charset="2"/>
              <a:buNone/>
              <a:defRPr/>
            </a:pPr>
            <a:r>
              <a:rPr lang="ko-KR" altLang="en-US" sz="2000" b="1" dirty="0" smtClean="0">
                <a:solidFill>
                  <a:srgbClr val="000000"/>
                </a:solidFill>
                <a:latin typeface="Arial"/>
                <a:ea typeface="가는각진제목체"/>
              </a:rPr>
              <a:t>목표원가관리 시스템 </a:t>
            </a:r>
            <a:endParaRPr lang="en-US" altLang="ko-KR" sz="2000" b="1" dirty="0" smtClean="0">
              <a:solidFill>
                <a:srgbClr val="000000"/>
              </a:solidFill>
              <a:latin typeface="Arial"/>
              <a:ea typeface="가는각진제목체"/>
            </a:endParaRPr>
          </a:p>
          <a:p>
            <a:pPr algn="ctr">
              <a:lnSpc>
                <a:spcPct val="150000"/>
              </a:lnSpc>
              <a:spcBef>
                <a:spcPct val="10000"/>
              </a:spcBef>
              <a:buFont typeface="Wingdings" pitchFamily="2" charset="2"/>
              <a:buNone/>
              <a:defRPr/>
            </a:pPr>
            <a:r>
              <a:rPr lang="ko-KR" altLang="en-US" sz="3200" b="1" dirty="0" smtClean="0">
                <a:solidFill>
                  <a:srgbClr val="000000"/>
                </a:solidFill>
                <a:latin typeface="Arial"/>
                <a:ea typeface="가는각진제목체"/>
              </a:rPr>
              <a:t>화면</a:t>
            </a:r>
            <a:r>
              <a:rPr lang="en-US" altLang="ko-KR" sz="3200" b="1" dirty="0" smtClean="0">
                <a:solidFill>
                  <a:srgbClr val="000000"/>
                </a:solidFill>
                <a:latin typeface="Arial"/>
                <a:ea typeface="가는각진제목체"/>
              </a:rPr>
              <a:t>/</a:t>
            </a:r>
            <a:r>
              <a:rPr lang="ko-KR" altLang="en-US" sz="3200" b="1" dirty="0" smtClean="0">
                <a:solidFill>
                  <a:srgbClr val="000000"/>
                </a:solidFill>
                <a:latin typeface="Arial"/>
                <a:ea typeface="가는각진제목체"/>
              </a:rPr>
              <a:t>프로그램 개발요청서</a:t>
            </a:r>
          </a:p>
          <a:p>
            <a:pPr algn="ctr">
              <a:lnSpc>
                <a:spcPct val="150000"/>
              </a:lnSpc>
              <a:spcBef>
                <a:spcPct val="10000"/>
              </a:spcBef>
              <a:buFont typeface="Wingdings" pitchFamily="2" charset="2"/>
              <a:buNone/>
              <a:defRPr/>
            </a:pPr>
            <a:endParaRPr lang="en-US" altLang="ko-KR" sz="1200" b="1" dirty="0" smtClean="0">
              <a:solidFill>
                <a:srgbClr val="000000"/>
              </a:solidFill>
              <a:latin typeface="Arial"/>
              <a:ea typeface="가는각진제목체"/>
              <a:cs typeface="Arial" charset="0"/>
            </a:endParaRPr>
          </a:p>
        </p:txBody>
      </p:sp>
      <p:sp>
        <p:nvSpPr>
          <p:cNvPr id="17" name="TextBox 6"/>
          <p:cNvSpPr txBox="1">
            <a:spLocks noChangeArrowheads="1"/>
          </p:cNvSpPr>
          <p:nvPr/>
        </p:nvSpPr>
        <p:spPr bwMode="auto">
          <a:xfrm>
            <a:off x="733712" y="1196690"/>
            <a:ext cx="64359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defTabSz="914400" eaLnBrk="1" hangingPunct="1"/>
            <a:r>
              <a:rPr lang="en-US" altLang="ko-KR" sz="1800" dirty="0">
                <a:latin typeface="Arial"/>
                <a:ea typeface="가는각진제목체"/>
                <a:cs typeface="Arial" charset="0"/>
              </a:rPr>
              <a:t>『 </a:t>
            </a:r>
            <a:r>
              <a:rPr lang="ko-KR" altLang="en-US" sz="1800" b="1" dirty="0">
                <a:solidFill>
                  <a:srgbClr val="606060"/>
                </a:solidFill>
                <a:latin typeface="Arial"/>
                <a:ea typeface="가는각진제목체"/>
              </a:rPr>
              <a:t>전진적 </a:t>
            </a:r>
            <a:r>
              <a:rPr lang="ko-KR" altLang="en-US" sz="1800" b="1" dirty="0" smtClean="0">
                <a:solidFill>
                  <a:srgbClr val="606060"/>
                </a:solidFill>
                <a:latin typeface="Arial"/>
                <a:ea typeface="가는각진제목체"/>
              </a:rPr>
              <a:t>원가관리 업무체계 확립</a:t>
            </a:r>
            <a:r>
              <a:rPr lang="en-US" altLang="ko-KR" sz="1800" dirty="0" smtClean="0">
                <a:latin typeface="Arial"/>
                <a:ea typeface="가는각진제목체"/>
                <a:cs typeface="Arial" charset="0"/>
              </a:rPr>
              <a:t>』</a:t>
            </a:r>
            <a:endParaRPr lang="ko-KR" altLang="en-US" sz="1800" dirty="0">
              <a:latin typeface="Arial"/>
              <a:ea typeface="가는각진제목체"/>
              <a:cs typeface="Arial" charset="0"/>
            </a:endParaRPr>
          </a:p>
        </p:txBody>
      </p:sp>
      <p:sp>
        <p:nvSpPr>
          <p:cNvPr id="19" name="직사각형 18"/>
          <p:cNvSpPr/>
          <p:nvPr/>
        </p:nvSpPr>
        <p:spPr bwMode="auto">
          <a:xfrm>
            <a:off x="200340" y="6237390"/>
            <a:ext cx="9705660" cy="620610"/>
          </a:xfrm>
          <a:prstGeom prst="rect">
            <a:avLst/>
          </a:prstGeom>
          <a:solidFill>
            <a:schemeClr val="bg1"/>
          </a:solidFill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20" name="직사각형 19"/>
          <p:cNvSpPr/>
          <p:nvPr/>
        </p:nvSpPr>
        <p:spPr bwMode="auto">
          <a:xfrm>
            <a:off x="0" y="193675"/>
            <a:ext cx="200340" cy="571500"/>
          </a:xfrm>
          <a:prstGeom prst="rect">
            <a:avLst/>
          </a:prstGeom>
          <a:solidFill>
            <a:schemeClr val="bg1"/>
          </a:solidFill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3891879" y="3375663"/>
            <a:ext cx="207781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spcBef>
                <a:spcPct val="10000"/>
              </a:spcBef>
              <a:defRPr/>
            </a:pPr>
            <a:r>
              <a:rPr lang="en-US" altLang="ko-KR" sz="1400" b="1" dirty="0" smtClean="0">
                <a:solidFill>
                  <a:srgbClr val="000000"/>
                </a:solidFill>
                <a:latin typeface="Arial"/>
                <a:ea typeface="가는각진제목체"/>
                <a:cs typeface="Arial" charset="0"/>
              </a:rPr>
              <a:t> - </a:t>
            </a:r>
            <a:r>
              <a:rPr lang="en-US" altLang="ko-KR" sz="1400" b="1" dirty="0" smtClean="0">
                <a:solidFill>
                  <a:srgbClr val="000000"/>
                </a:solidFill>
                <a:latin typeface="Arial"/>
                <a:ea typeface="가는각진제목체"/>
                <a:cs typeface="Arial" charset="0"/>
              </a:rPr>
              <a:t>059.</a:t>
            </a:r>
            <a:r>
              <a:rPr lang="ko-KR" altLang="en-US" sz="1400" b="1" dirty="0" smtClean="0">
                <a:solidFill>
                  <a:srgbClr val="000000"/>
                </a:solidFill>
                <a:latin typeface="Arial"/>
                <a:ea typeface="가는각진제목체"/>
                <a:cs typeface="Arial" charset="0"/>
              </a:rPr>
              <a:t>최초 목표 수립 일정</a:t>
            </a:r>
            <a:r>
              <a:rPr lang="en-US" altLang="ko-KR" sz="1400" b="1" dirty="0" smtClean="0">
                <a:solidFill>
                  <a:srgbClr val="000000"/>
                </a:solidFill>
                <a:latin typeface="Arial"/>
                <a:ea typeface="가는각진제목체"/>
                <a:cs typeface="Arial" charset="0"/>
              </a:rPr>
              <a:t>- </a:t>
            </a:r>
            <a:endParaRPr lang="en-US" altLang="ko-KR" sz="1400" b="1" dirty="0">
              <a:solidFill>
                <a:srgbClr val="000000"/>
              </a:solidFill>
              <a:latin typeface="Arial"/>
              <a:ea typeface="가는각진제목체"/>
              <a:cs typeface="Arial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39736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Group 944"/>
          <p:cNvGraphicFramePr>
            <a:graphicFrameLocks noGrp="1"/>
          </p:cNvGraphicFramePr>
          <p:nvPr/>
        </p:nvGraphicFramePr>
        <p:xfrm>
          <a:off x="376061" y="307172"/>
          <a:ext cx="9238086" cy="3602592"/>
        </p:xfrm>
        <a:graphic>
          <a:graphicData uri="http://schemas.openxmlformats.org/drawingml/2006/table">
            <a:tbl>
              <a:tblPr/>
              <a:tblGrid>
                <a:gridCol w="2139422"/>
                <a:gridCol w="1161167"/>
                <a:gridCol w="1162050"/>
                <a:gridCol w="738011"/>
                <a:gridCol w="417336"/>
                <a:gridCol w="904663"/>
                <a:gridCol w="264090"/>
                <a:gridCol w="313760"/>
                <a:gridCol w="671866"/>
                <a:gridCol w="157480"/>
                <a:gridCol w="1308241"/>
              </a:tblGrid>
              <a:tr h="336744">
                <a:tc gridSpan="1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프로그램 일반 개요</a:t>
                      </a: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367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Program ID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목표원가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-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059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Process ID</a:t>
                      </a:r>
                      <a:endParaRPr kumimoji="1" lang="en-GB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latinLnBrk="1"/>
                      <a:r>
                        <a:rPr kumimoji="1" lang="ko-KR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  <a:cs typeface="+mn-cs"/>
                        </a:rPr>
                        <a:t>목표원가 대상 선정</a:t>
                      </a:r>
                      <a:endParaRPr kumimoji="1" lang="ko-KR" altLang="en-U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  <a:cs typeface="+mn-cs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367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프로그램 명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10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목표원가 코드 생성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 :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최초 목표 수립 일정</a:t>
                      </a: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50407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프로그램 설명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10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최초 목표 </a:t>
                      </a: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수립시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 각 부문별로 수행할 업무와 일정 및 현재 진행현황을 보여준다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.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98584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프로그램 구분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Master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Interface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Data Input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Creation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(Costing)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Schedule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(Monitor)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Report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</a:tr>
              <a:tr h="24950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돋움" pitchFamily="50" charset="-127"/>
                      </a:endParaRP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돋움" pitchFamily="50" charset="-127"/>
                        </a:rPr>
                        <a:t>●</a:t>
                      </a: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돋움" pitchFamily="50" charset="-127"/>
                      </a:endParaRP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8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개발완료 요청일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2013.05.16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모듈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목표원가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88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작성자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신 정 수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서명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일자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2013.05.16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88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컨설턴트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신 정 수</a:t>
                      </a: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서명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일자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2013.05.16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88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팀장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배 병 </a:t>
                      </a: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희</a:t>
                      </a: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서명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일자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88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개발자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고 현 철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서명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일자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9" name="Group 820"/>
          <p:cNvGraphicFramePr>
            <a:graphicFrameLocks noGrp="1"/>
          </p:cNvGraphicFramePr>
          <p:nvPr/>
        </p:nvGraphicFramePr>
        <p:xfrm>
          <a:off x="376061" y="4005080"/>
          <a:ext cx="9238086" cy="2332741"/>
        </p:xfrm>
        <a:graphic>
          <a:graphicData uri="http://schemas.openxmlformats.org/drawingml/2006/table">
            <a:tbl>
              <a:tblPr/>
              <a:tblGrid>
                <a:gridCol w="1575937"/>
                <a:gridCol w="1154760"/>
                <a:gridCol w="5248492"/>
                <a:gridCol w="1258897"/>
              </a:tblGrid>
              <a:tr h="306438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Document History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06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Date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담당자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변경 내용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사유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요청부서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담당자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kumimoji="1" lang="ko-KR" alt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Version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2013.05.16</a:t>
                      </a: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신정수</a:t>
                      </a: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초기작성</a:t>
                      </a: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V1.0</a:t>
                      </a: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roup 512"/>
          <p:cNvGraphicFramePr>
            <a:graphicFrameLocks noGrp="1"/>
          </p:cNvGraphicFramePr>
          <p:nvPr/>
        </p:nvGraphicFramePr>
        <p:xfrm>
          <a:off x="376061" y="343221"/>
          <a:ext cx="9153878" cy="4098885"/>
        </p:xfrm>
        <a:graphic>
          <a:graphicData uri="http://schemas.openxmlformats.org/drawingml/2006/table">
            <a:tbl>
              <a:tblPr/>
              <a:tblGrid>
                <a:gridCol w="2263247"/>
                <a:gridCol w="2260953"/>
                <a:gridCol w="2263245"/>
                <a:gridCol w="2366433"/>
              </a:tblGrid>
              <a:tr h="277389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Business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요구사항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58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요구사항정의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목표 </a:t>
                      </a: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수립시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 각 부문별로 수행할 업무와 일정을 정의하고 이의 준수 여부를 관리해야 함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180975" marR="0" lvl="0" indent="-180975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부분별로 각 업무가 수행되었는지 여부를 확인할 수 있는 현황관리 기능 필요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710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업무담당자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원가관리</a:t>
                      </a: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6772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개발에 따른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기대 효용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목표 </a:t>
                      </a: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수립시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 부문별 업무가 </a:t>
                      </a: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일정내에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 수행될 수 있도록 촉진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901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예상 세부화면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수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GB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1</a:t>
                      </a: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예상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On-Line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수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01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예상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Data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건수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710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예상 개발 소요 기간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2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901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권한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프로젝트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구성원으로 등록된 인원 전체</a:t>
                      </a: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901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기타요구사항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Group 399"/>
          <p:cNvGraphicFramePr>
            <a:graphicFrameLocks noGrp="1"/>
          </p:cNvGraphicFramePr>
          <p:nvPr/>
        </p:nvGraphicFramePr>
        <p:xfrm>
          <a:off x="376061" y="5391993"/>
          <a:ext cx="9153886" cy="649094"/>
        </p:xfrm>
        <a:graphic>
          <a:graphicData uri="http://schemas.openxmlformats.org/drawingml/2006/table">
            <a:tbl>
              <a:tblPr/>
              <a:tblGrid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</a:tblGrid>
              <a:tr h="324547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권한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전사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사업부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담당팀</a:t>
                      </a: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중요도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상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중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하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난이도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1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2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3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4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5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</a:tr>
              <a:tr h="3245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●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●</a:t>
                      </a: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●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" name="Text Box 346"/>
          <p:cNvSpPr txBox="1">
            <a:spLocks noChangeArrowheads="1"/>
          </p:cNvSpPr>
          <p:nvPr/>
        </p:nvSpPr>
        <p:spPr bwMode="auto">
          <a:xfrm>
            <a:off x="376066" y="6135189"/>
            <a:ext cx="1781257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914400" latinLnBrk="0"/>
            <a:r>
              <a:rPr lang="en-US" altLang="ko-KR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* </a:t>
            </a:r>
            <a:r>
              <a:rPr lang="ko-KR" altLang="en-US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난이도 </a:t>
            </a:r>
            <a:r>
              <a:rPr lang="en-US" altLang="ko-KR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( 1- </a:t>
            </a:r>
            <a:r>
              <a:rPr lang="ko-KR" altLang="en-US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단순</a:t>
            </a:r>
            <a:r>
              <a:rPr lang="en-US" altLang="ko-KR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, 5 – </a:t>
            </a:r>
            <a:r>
              <a:rPr lang="ko-KR" altLang="en-US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복잡 </a:t>
            </a:r>
            <a:r>
              <a:rPr lang="en-US" altLang="ko-KR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)</a:t>
            </a:r>
          </a:p>
        </p:txBody>
      </p:sp>
      <p:sp>
        <p:nvSpPr>
          <p:cNvPr id="8" name="Text Box 347"/>
          <p:cNvSpPr txBox="1">
            <a:spLocks noChangeArrowheads="1"/>
          </p:cNvSpPr>
          <p:nvPr/>
        </p:nvSpPr>
        <p:spPr bwMode="auto">
          <a:xfrm>
            <a:off x="344360" y="5085230"/>
            <a:ext cx="54694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914400" latinLnBrk="0"/>
            <a:r>
              <a:rPr lang="en-US" altLang="ko-KR" sz="1200" b="1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(</a:t>
            </a:r>
            <a:r>
              <a:rPr lang="ko-KR" altLang="en-US" sz="1200" b="1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분류</a:t>
            </a:r>
            <a:r>
              <a:rPr lang="en-US" altLang="ko-KR" sz="1200" b="1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)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86"/>
          <p:cNvSpPr>
            <a:spLocks noChangeArrowheads="1"/>
          </p:cNvSpPr>
          <p:nvPr/>
        </p:nvSpPr>
        <p:spPr bwMode="auto">
          <a:xfrm>
            <a:off x="234115" y="842272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 dirty="0">
              <a:solidFill>
                <a:srgbClr val="000000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14" name="AutoShape 279"/>
          <p:cNvSpPr>
            <a:spLocks noChangeArrowheads="1"/>
          </p:cNvSpPr>
          <p:nvPr/>
        </p:nvSpPr>
        <p:spPr bwMode="auto">
          <a:xfrm>
            <a:off x="5628488" y="858940"/>
            <a:ext cx="360362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17" name="AutoShape 279"/>
          <p:cNvSpPr>
            <a:spLocks noChangeArrowheads="1"/>
          </p:cNvSpPr>
          <p:nvPr/>
        </p:nvSpPr>
        <p:spPr bwMode="auto">
          <a:xfrm>
            <a:off x="5176516" y="85894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1230" y="858890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dirty="0" smtClean="0">
                <a:solidFill>
                  <a:sysClr val="windowText" lastClr="000000"/>
                </a:solidFill>
                <a:latin typeface="Arial"/>
                <a:ea typeface="가는각진제목체" pitchFamily="18" charset="-127"/>
              </a:rPr>
              <a:t>원가관리</a:t>
            </a:r>
          </a:p>
        </p:txBody>
      </p:sp>
      <p:sp>
        <p:nvSpPr>
          <p:cNvPr id="27" name="모서리가 둥근 직사각형 26"/>
          <p:cNvSpPr/>
          <p:nvPr/>
        </p:nvSpPr>
        <p:spPr bwMode="auto">
          <a:xfrm>
            <a:off x="416370" y="1269402"/>
            <a:ext cx="3636000" cy="287338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 dirty="0">
              <a:solidFill>
                <a:prstClr val="white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28" name="TextBox 33"/>
          <p:cNvSpPr txBox="1">
            <a:spLocks noChangeArrowheads="1"/>
          </p:cNvSpPr>
          <p:nvPr/>
        </p:nvSpPr>
        <p:spPr bwMode="auto">
          <a:xfrm>
            <a:off x="2089620" y="1305319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 pitchFamily="18" charset="-127"/>
                <a:sym typeface="Arial" charset="0"/>
              </a:rPr>
              <a:t>고객사</a:t>
            </a:r>
          </a:p>
        </p:txBody>
      </p:sp>
      <p:sp>
        <p:nvSpPr>
          <p:cNvPr id="29" name="TextBox 35"/>
          <p:cNvSpPr txBox="1">
            <a:spLocks noChangeArrowheads="1"/>
          </p:cNvSpPr>
          <p:nvPr/>
        </p:nvSpPr>
        <p:spPr bwMode="auto">
          <a:xfrm>
            <a:off x="1298834" y="1305319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 pitchFamily="18" charset="-127"/>
                <a:sym typeface="Arial" charset="0"/>
              </a:rPr>
              <a:t>차종</a:t>
            </a:r>
          </a:p>
        </p:txBody>
      </p:sp>
      <p:sp>
        <p:nvSpPr>
          <p:cNvPr id="30" name="TextBox 36"/>
          <p:cNvSpPr txBox="1">
            <a:spLocks noChangeArrowheads="1"/>
          </p:cNvSpPr>
          <p:nvPr/>
        </p:nvSpPr>
        <p:spPr bwMode="auto">
          <a:xfrm>
            <a:off x="477886" y="1305319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 pitchFamily="18" charset="-127"/>
                <a:sym typeface="Arial" charset="0"/>
              </a:rPr>
              <a:t>제품</a:t>
            </a:r>
          </a:p>
        </p:txBody>
      </p:sp>
      <p:grpSp>
        <p:nvGrpSpPr>
          <p:cNvPr id="2" name="그룹 69"/>
          <p:cNvGrpSpPr/>
          <p:nvPr/>
        </p:nvGrpSpPr>
        <p:grpSpPr>
          <a:xfrm>
            <a:off x="837169" y="1307470"/>
            <a:ext cx="360000" cy="226591"/>
            <a:chOff x="837169" y="1307470"/>
            <a:chExt cx="360000" cy="226591"/>
          </a:xfrm>
        </p:grpSpPr>
        <p:sp>
          <p:nvSpPr>
            <p:cNvPr id="33" name="TextBox 32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8" name="실행 단추: 앞으로 또는 다음 67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3" name="그룹 65"/>
          <p:cNvGrpSpPr/>
          <p:nvPr/>
        </p:nvGrpSpPr>
        <p:grpSpPr>
          <a:xfrm>
            <a:off x="1513540" y="1307502"/>
            <a:ext cx="360000" cy="226591"/>
            <a:chOff x="1701166" y="1307502"/>
            <a:chExt cx="360000" cy="226591"/>
          </a:xfrm>
        </p:grpSpPr>
        <p:sp>
          <p:nvSpPr>
            <p:cNvPr id="32" name="TextBox 31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9" name="실행 단추: 앞으로 또는 다음 68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4" name="그룹 70"/>
          <p:cNvGrpSpPr/>
          <p:nvPr/>
        </p:nvGrpSpPr>
        <p:grpSpPr>
          <a:xfrm>
            <a:off x="2424260" y="1307502"/>
            <a:ext cx="360000" cy="226591"/>
            <a:chOff x="2709337" y="1307502"/>
            <a:chExt cx="360000" cy="226591"/>
          </a:xfrm>
        </p:grpSpPr>
        <p:sp>
          <p:nvSpPr>
            <p:cNvPr id="31" name="TextBox 30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72" name="실행 단추: 앞으로 또는 다음 71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73" name="TextBox 33"/>
          <p:cNvSpPr txBox="1">
            <a:spLocks noChangeArrowheads="1"/>
          </p:cNvSpPr>
          <p:nvPr/>
        </p:nvSpPr>
        <p:spPr bwMode="auto">
          <a:xfrm>
            <a:off x="2902810" y="1306800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 pitchFamily="18" charset="-127"/>
                <a:sym typeface="Arial" charset="0"/>
              </a:rPr>
              <a:t>견적 제출연도</a:t>
            </a:r>
          </a:p>
        </p:txBody>
      </p:sp>
      <p:grpSp>
        <p:nvGrpSpPr>
          <p:cNvPr id="5" name="그룹 74"/>
          <p:cNvGrpSpPr/>
          <p:nvPr/>
        </p:nvGrpSpPr>
        <p:grpSpPr>
          <a:xfrm>
            <a:off x="3576350" y="1308983"/>
            <a:ext cx="360000" cy="226591"/>
            <a:chOff x="2709337" y="1307502"/>
            <a:chExt cx="360000" cy="226591"/>
          </a:xfrm>
        </p:grpSpPr>
        <p:sp>
          <p:nvSpPr>
            <p:cNvPr id="77" name="TextBox 76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1" name="실행 단추: 앞으로 또는 다음 8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85" name="직사각형 124"/>
          <p:cNvSpPr>
            <a:spLocks noChangeArrowheads="1"/>
          </p:cNvSpPr>
          <p:nvPr/>
        </p:nvSpPr>
        <p:spPr bwMode="auto">
          <a:xfrm>
            <a:off x="340611" y="1983050"/>
            <a:ext cx="5691889" cy="4275421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</p:txBody>
      </p:sp>
      <p:sp>
        <p:nvSpPr>
          <p:cNvPr id="92" name="AutoShape 279"/>
          <p:cNvSpPr>
            <a:spLocks noChangeArrowheads="1"/>
          </p:cNvSpPr>
          <p:nvPr/>
        </p:nvSpPr>
        <p:spPr bwMode="auto">
          <a:xfrm>
            <a:off x="5570488" y="206081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54" name="AutoShape 279"/>
          <p:cNvSpPr>
            <a:spLocks noChangeArrowheads="1"/>
          </p:cNvSpPr>
          <p:nvPr/>
        </p:nvSpPr>
        <p:spPr bwMode="auto">
          <a:xfrm>
            <a:off x="3800840" y="2060810"/>
            <a:ext cx="468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생성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56" name="AutoShape 279"/>
          <p:cNvSpPr>
            <a:spLocks noChangeArrowheads="1"/>
          </p:cNvSpPr>
          <p:nvPr/>
        </p:nvSpPr>
        <p:spPr bwMode="auto">
          <a:xfrm>
            <a:off x="4325171" y="206081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수정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59" name="AutoShape 279"/>
          <p:cNvSpPr>
            <a:spLocks noChangeArrowheads="1"/>
          </p:cNvSpPr>
          <p:nvPr/>
        </p:nvSpPr>
        <p:spPr bwMode="auto">
          <a:xfrm>
            <a:off x="4740277" y="206081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추가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60" name="AutoShape 279"/>
          <p:cNvSpPr>
            <a:spLocks noChangeArrowheads="1"/>
          </p:cNvSpPr>
          <p:nvPr/>
        </p:nvSpPr>
        <p:spPr bwMode="auto">
          <a:xfrm>
            <a:off x="5155383" y="206081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삭제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graphicFrame>
        <p:nvGraphicFramePr>
          <p:cNvPr id="64" name="Group 82"/>
          <p:cNvGraphicFramePr>
            <a:graphicFrameLocks noGrp="1"/>
          </p:cNvGraphicFramePr>
          <p:nvPr/>
        </p:nvGraphicFramePr>
        <p:xfrm>
          <a:off x="6149460" y="1033591"/>
          <a:ext cx="3528000" cy="3287280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화면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견적산출시 등록한 코드와 연계하여 목표원가관리용 코드를 생성하고 필요한 기초 정보를 등록함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1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개발계획과 중간 평가 일정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견적일정 프로그램 활용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정의된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Rule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에 따라 순번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~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종료일이 자동생성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1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  </a:t>
                      </a:r>
                      <a:r>
                        <a:rPr lang="ko-KR" altLang="en-US" sz="1000" b="1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일정관리 </a:t>
                      </a:r>
                      <a:r>
                        <a:rPr lang="en-US" altLang="ko-KR" sz="1000" b="1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Master</a:t>
                      </a:r>
                      <a:r>
                        <a:rPr lang="ko-KR" altLang="en-US" sz="1000" b="1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의 목표수립부문</a:t>
                      </a:r>
                      <a:r>
                        <a:rPr lang="en-US" altLang="ko-KR" sz="1000" b="1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</a:t>
                      </a:r>
                      <a:r>
                        <a:rPr lang="ko-KR" altLang="en-US" sz="1000" b="1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활용</a:t>
                      </a:r>
                      <a:endParaRPr lang="en-US" altLang="ko-KR" sz="1000" b="1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업무종료일과 처리여부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지연일은 견적 일정관리와 동일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6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2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위에서 입력한 내용을 저장하면 아래에 달력의 형식으로 일자가 보여지도록 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. </a:t>
                      </a: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2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3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수동 메일 공지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업무 담당 부서에게 업무 알림 메일을 보낼 수 있도록 함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.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버튼 누르면 메일 발송 가능한 화면이 팝업 됨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(Text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는 추후 확정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.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내용을 전달하는 확정된 메시지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.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수정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or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추가설정 사항 없음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자동 메일 공지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각 업무 종료일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2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일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(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협의 필요함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)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 전부터 업무 종료가 되지 않은 경우에 업무 알림 메일을 자동으로 발송함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.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발송 대상은 업무 담당 부서의 담당자로 등록된 사람이 대상임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. </a:t>
                      </a: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7" name="직사각형 66"/>
          <p:cNvSpPr/>
          <p:nvPr/>
        </p:nvSpPr>
        <p:spPr bwMode="auto">
          <a:xfrm>
            <a:off x="4827870" y="2500372"/>
            <a:ext cx="972000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wrap="none" anchor="ctr"/>
          <a:lstStyle/>
          <a:p>
            <a:pPr algn="ctr">
              <a:defRPr/>
            </a:pPr>
            <a:r>
              <a:rPr lang="ko-KR" altLang="en-US" sz="800" b="1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sym typeface="Arial"/>
              </a:rPr>
              <a:t>공지 메일 발송</a:t>
            </a:r>
            <a:endParaRPr lang="ko-KR" altLang="en-US" sz="800" b="1" dirty="0">
              <a:solidFill>
                <a:srgbClr val="000000"/>
              </a:solidFill>
              <a:latin typeface="Arial"/>
              <a:ea typeface="가는각진제목체" pitchFamily="18" charset="-127"/>
              <a:sym typeface="Arial"/>
            </a:endParaRPr>
          </a:p>
        </p:txBody>
      </p:sp>
      <p:sp>
        <p:nvSpPr>
          <p:cNvPr id="88" name="타원 87"/>
          <p:cNvSpPr/>
          <p:nvPr/>
        </p:nvSpPr>
        <p:spPr>
          <a:xfrm>
            <a:off x="395464" y="4278817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rgbClr val="FFFFFF"/>
                </a:solidFill>
                <a:latin typeface="Arial"/>
                <a:ea typeface="가는각진제목체" pitchFamily="18" charset="-127"/>
              </a:rPr>
              <a:t>2</a:t>
            </a:r>
            <a:endParaRPr lang="ko-KR" altLang="en-US" sz="1100" b="1" dirty="0" smtClean="0">
              <a:solidFill>
                <a:srgbClr val="FFFFFF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89" name="타원 88"/>
          <p:cNvSpPr/>
          <p:nvPr/>
        </p:nvSpPr>
        <p:spPr>
          <a:xfrm>
            <a:off x="4651067" y="2337302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rgbClr val="FFFFFF"/>
                </a:solidFill>
                <a:latin typeface="Arial"/>
                <a:ea typeface="가는각진제목체" pitchFamily="18" charset="-127"/>
              </a:rPr>
              <a:t>3</a:t>
            </a:r>
            <a:endParaRPr lang="ko-KR" altLang="en-US" sz="1100" b="1" dirty="0" smtClean="0">
              <a:solidFill>
                <a:srgbClr val="FFFFFF"/>
              </a:solidFill>
              <a:latin typeface="Arial"/>
              <a:ea typeface="가는각진제목체" pitchFamily="18" charset="-127"/>
            </a:endParaRPr>
          </a:p>
        </p:txBody>
      </p:sp>
      <p:graphicFrame>
        <p:nvGraphicFramePr>
          <p:cNvPr id="95" name="표 94"/>
          <p:cNvGraphicFramePr>
            <a:graphicFrameLocks noGrp="1"/>
          </p:cNvGraphicFramePr>
          <p:nvPr/>
        </p:nvGraphicFramePr>
        <p:xfrm>
          <a:off x="581309" y="4507431"/>
          <a:ext cx="5308315" cy="1343800"/>
        </p:xfrm>
        <a:graphic>
          <a:graphicData uri="http://schemas.openxmlformats.org/drawingml/2006/table">
            <a:tbl>
              <a:tblPr/>
              <a:tblGrid>
                <a:gridCol w="1299238"/>
                <a:gridCol w="445453"/>
                <a:gridCol w="445453"/>
                <a:gridCol w="445453"/>
                <a:gridCol w="445453"/>
                <a:gridCol w="445453"/>
                <a:gridCol w="445453"/>
                <a:gridCol w="445453"/>
                <a:gridCol w="445453"/>
                <a:gridCol w="445453"/>
              </a:tblGrid>
              <a:tr h="139637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업무명 </a:t>
                      </a:r>
                    </a:p>
                  </a:txBody>
                  <a:tcPr marL="8214" marR="8214" marT="8214" marB="0" anchor="ctr">
                    <a:lnL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582A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04</a:t>
                      </a:r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월 </a:t>
                      </a:r>
                      <a:r>
                        <a:rPr lang="en-US" altLang="ko-KR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15</a:t>
                      </a:r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일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582A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04</a:t>
                      </a:r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월 </a:t>
                      </a:r>
                      <a:r>
                        <a:rPr lang="en-US" altLang="ko-KR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16</a:t>
                      </a:r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일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582A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04</a:t>
                      </a:r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월 </a:t>
                      </a:r>
                      <a:r>
                        <a:rPr lang="en-US" altLang="ko-KR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17</a:t>
                      </a:r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일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582A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04</a:t>
                      </a:r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월 </a:t>
                      </a:r>
                      <a:r>
                        <a:rPr lang="en-US" altLang="ko-KR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18</a:t>
                      </a:r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일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582A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04</a:t>
                      </a:r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월 </a:t>
                      </a:r>
                      <a:r>
                        <a:rPr lang="en-US" altLang="ko-KR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19</a:t>
                      </a:r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일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582A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04</a:t>
                      </a:r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월 </a:t>
                      </a:r>
                      <a:r>
                        <a:rPr lang="en-US" altLang="ko-KR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20</a:t>
                      </a:r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일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582A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04</a:t>
                      </a:r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월 </a:t>
                      </a:r>
                      <a:r>
                        <a:rPr lang="en-US" altLang="ko-KR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21</a:t>
                      </a:r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일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582A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04</a:t>
                      </a:r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월 </a:t>
                      </a:r>
                      <a:r>
                        <a:rPr lang="en-US" altLang="ko-KR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22</a:t>
                      </a:r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일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582A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…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582A9"/>
                    </a:solidFill>
                  </a:tcPr>
                </a:tc>
              </a:tr>
              <a:tr h="1396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월 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582A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화 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582A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수 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582A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목 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582A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금 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582A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월 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582A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화 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582A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수 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582A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…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582A9"/>
                    </a:solidFill>
                  </a:tcPr>
                </a:tc>
              </a:tr>
              <a:tr h="139637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목표수익률 확정</a:t>
                      </a:r>
                    </a:p>
                  </a:txBody>
                  <a:tcPr marL="8214" marR="8214" marT="8214" marB="0" anchor="ctr">
                    <a:lnL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1EA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1EA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1EA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637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부문별 목표원가 확정</a:t>
                      </a:r>
                    </a:p>
                  </a:txBody>
                  <a:tcPr marL="8214" marR="8214" marT="8214" marB="0" anchor="ctr">
                    <a:lnL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1EA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1EA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1EA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1EA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637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부문별 원가절감계획 수립</a:t>
                      </a:r>
                      <a:r>
                        <a:rPr lang="en-US" altLang="ko-KR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영업</a:t>
                      </a:r>
                      <a:r>
                        <a:rPr lang="en-US" altLang="ko-KR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)</a:t>
                      </a:r>
                    </a:p>
                  </a:txBody>
                  <a:tcPr marL="8214" marR="8214" marT="8214" marB="0" anchor="ctr">
                    <a:lnL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1EA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1EAF5"/>
                    </a:solidFill>
                  </a:tcPr>
                </a:tc>
              </a:tr>
              <a:tr h="21849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부문별 원가절감계획 수립</a:t>
                      </a:r>
                      <a:r>
                        <a:rPr lang="en-US" altLang="ko-KR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생산기술</a:t>
                      </a:r>
                      <a:r>
                        <a:rPr lang="en-US" altLang="ko-KR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)</a:t>
                      </a:r>
                    </a:p>
                  </a:txBody>
                  <a:tcPr marL="8214" marR="8214" marT="8214" marB="0" anchor="ctr">
                    <a:lnL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1EA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1EAF5"/>
                    </a:solidFill>
                  </a:tcPr>
                </a:tc>
              </a:tr>
              <a:tr h="139637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부문별 원가절감계획 수립</a:t>
                      </a:r>
                      <a:r>
                        <a:rPr lang="en-US" altLang="ko-KR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설계</a:t>
                      </a:r>
                      <a:r>
                        <a:rPr lang="en-US" altLang="ko-KR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)</a:t>
                      </a:r>
                    </a:p>
                  </a:txBody>
                  <a:tcPr marL="8214" marR="8214" marT="8214" marB="0" anchor="ctr">
                    <a:lnL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1EA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1EAF5"/>
                    </a:solidFill>
                  </a:tcPr>
                </a:tc>
              </a:tr>
              <a:tr h="139637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부문별 원가절감계획 수립</a:t>
                      </a:r>
                      <a:r>
                        <a:rPr lang="en-US" altLang="ko-KR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구매</a:t>
                      </a:r>
                      <a:r>
                        <a:rPr lang="en-US" altLang="ko-KR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)</a:t>
                      </a:r>
                    </a:p>
                  </a:txBody>
                  <a:tcPr marL="8214" marR="8214" marT="8214" marB="0" anchor="ctr">
                    <a:lnL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1EA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1EAF5"/>
                    </a:solidFill>
                  </a:tcPr>
                </a:tc>
              </a:tr>
              <a:tr h="147851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경영진 보고</a:t>
                      </a:r>
                    </a:p>
                  </a:txBody>
                  <a:tcPr marL="8214" marR="8214" marT="8214" marB="0" anchor="ctr">
                    <a:lnL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90" name="직선 화살표 연결선 89"/>
          <p:cNvCxnSpPr/>
          <p:nvPr/>
        </p:nvCxnSpPr>
        <p:spPr bwMode="auto">
          <a:xfrm flipV="1">
            <a:off x="5010129" y="4395313"/>
            <a:ext cx="0" cy="144000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>
                <a:lumMod val="75000"/>
              </a:schemeClr>
            </a:solidFill>
            <a:prstDash val="solid"/>
            <a:round/>
            <a:headEnd type="none" w="med" len="med"/>
            <a:tailEnd type="diamond"/>
          </a:ln>
          <a:effectLst/>
        </p:spPr>
      </p:cxnSp>
      <p:sp>
        <p:nvSpPr>
          <p:cNvPr id="93" name="직사각형 92"/>
          <p:cNvSpPr/>
          <p:nvPr/>
        </p:nvSpPr>
        <p:spPr bwMode="auto">
          <a:xfrm>
            <a:off x="4549936" y="4194606"/>
            <a:ext cx="920386" cy="216030"/>
          </a:xfrm>
          <a:prstGeom prst="rect">
            <a:avLst/>
          </a:prstGeom>
          <a:noFill/>
          <a:ln w="9525" algn="ctr">
            <a:noFill/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r>
              <a:rPr lang="en-US" altLang="ko-KR" sz="700" b="1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Today</a:t>
            </a:r>
            <a:endParaRPr lang="ko-KR" altLang="en-US" sz="700" b="1" dirty="0" smtClean="0">
              <a:solidFill>
                <a:srgbClr val="000000"/>
              </a:solidFill>
              <a:latin typeface="Arial"/>
              <a:ea typeface="가는각진제목체" pitchFamily="18" charset="-127"/>
              <a:cs typeface="Arial" pitchFamily="34" charset="0"/>
            </a:endParaRPr>
          </a:p>
        </p:txBody>
      </p:sp>
      <p:graphicFrame>
        <p:nvGraphicFramePr>
          <p:cNvPr id="96" name="표 95"/>
          <p:cNvGraphicFramePr>
            <a:graphicFrameLocks noGrp="1"/>
          </p:cNvGraphicFramePr>
          <p:nvPr/>
        </p:nvGraphicFramePr>
        <p:xfrm>
          <a:off x="597679" y="2775980"/>
          <a:ext cx="5220000" cy="1295400"/>
        </p:xfrm>
        <a:graphic>
          <a:graphicData uri="http://schemas.openxmlformats.org/drawingml/2006/table">
            <a:tbl>
              <a:tblPr/>
              <a:tblGrid>
                <a:gridCol w="288000"/>
                <a:gridCol w="324000"/>
                <a:gridCol w="1116000"/>
                <a:gridCol w="468000"/>
                <a:gridCol w="648000"/>
                <a:gridCol w="648000"/>
                <a:gridCol w="288000"/>
                <a:gridCol w="648000"/>
                <a:gridCol w="468000"/>
                <a:gridCol w="324000"/>
              </a:tblGrid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선택  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순번 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업무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담당부서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시작일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종료일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기간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업무종료일 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처리 여부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지연일 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T10 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목표수익률 확정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ALL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2013-04-15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2013-04-17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2013-04-17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B0F0"/>
                          </a:solidFill>
                          <a:latin typeface="+mj-lt"/>
                          <a:ea typeface="가는각진제목체" pitchFamily="18" charset="-127"/>
                        </a:rPr>
                        <a:t>●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B0F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T20 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부문별 목표원가 확정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ALL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2013-04-18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2013-04-22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2013-04-22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B0F0"/>
                          </a:solidFill>
                          <a:latin typeface="+mj-lt"/>
                          <a:ea typeface="가는각진제목체" pitchFamily="18" charset="-127"/>
                        </a:rPr>
                        <a:t>● 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B0F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T30 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부문별 원가절감계획 수립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영업 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2013-04-23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2013-04-27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2013-04-02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B0F0"/>
                          </a:solidFill>
                          <a:latin typeface="+mj-lt"/>
                          <a:ea typeface="가는각진제목체" pitchFamily="18" charset="-127"/>
                        </a:rPr>
                        <a:t>●</a:t>
                      </a:r>
                      <a:r>
                        <a:rPr lang="ko-KR" altLang="en-US" sz="900" b="0" i="0" u="none" strike="noStrike" dirty="0">
                          <a:solidFill>
                            <a:srgbClr val="CC0000"/>
                          </a:solidFill>
                          <a:latin typeface="+mj-lt"/>
                          <a:ea typeface="가는각진제목체" pitchFamily="18" charset="-127"/>
                        </a:rPr>
                        <a:t> </a:t>
                      </a:r>
                      <a:endParaRPr lang="ko-KR" altLang="en-US" sz="900" b="0" i="0" u="none" strike="noStrike" dirty="0">
                        <a:solidFill>
                          <a:srgbClr val="00B0F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CC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T40 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부문별 원가절감계획 수립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생산기술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2013-04-23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2013-04-27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2013-04-28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B0F0"/>
                          </a:solidFill>
                          <a:latin typeface="+mj-lt"/>
                          <a:ea typeface="가는각진제목체" pitchFamily="18" charset="-127"/>
                        </a:rPr>
                        <a:t>●</a:t>
                      </a:r>
                      <a:r>
                        <a:rPr lang="ko-KR" altLang="en-US" sz="900" b="0" i="0" u="none" strike="noStrike" dirty="0">
                          <a:solidFill>
                            <a:srgbClr val="CC0000"/>
                          </a:solidFill>
                          <a:latin typeface="+mj-lt"/>
                          <a:ea typeface="가는각진제목체" pitchFamily="18" charset="-127"/>
                        </a:rPr>
                        <a:t> </a:t>
                      </a:r>
                      <a:endParaRPr lang="ko-KR" altLang="en-US" sz="900" b="0" i="0" u="none" strike="noStrike" dirty="0">
                        <a:solidFill>
                          <a:srgbClr val="00B0F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+1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일 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T50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부문별 원가절감계획 수립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설계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2013-04-23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2013-04-27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2013-04-27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B0F0"/>
                          </a:solidFill>
                          <a:latin typeface="+mj-lt"/>
                          <a:ea typeface="가는각진제목체" pitchFamily="18" charset="-127"/>
                        </a:rPr>
                        <a:t>●</a:t>
                      </a:r>
                      <a:r>
                        <a:rPr lang="ko-KR" altLang="en-US" sz="900" b="0" i="0" u="none" strike="noStrike" dirty="0">
                          <a:solidFill>
                            <a:srgbClr val="CC0000"/>
                          </a:solidFill>
                          <a:latin typeface="+mj-lt"/>
                          <a:ea typeface="가는각진제목체" pitchFamily="18" charset="-127"/>
                        </a:rPr>
                        <a:t> </a:t>
                      </a:r>
                      <a:endParaRPr lang="ko-KR" altLang="en-US" sz="900" b="0" i="0" u="none" strike="noStrike" dirty="0">
                        <a:solidFill>
                          <a:srgbClr val="00B0F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T60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부문별 원가절감계획 수립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구매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2013-04-23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2013-04-27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2013-04-27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B0F0"/>
                          </a:solidFill>
                          <a:latin typeface="+mj-lt"/>
                          <a:ea typeface="가는각진제목체" pitchFamily="18" charset="-127"/>
                        </a:rPr>
                        <a:t>●</a:t>
                      </a:r>
                      <a:r>
                        <a:rPr lang="ko-KR" altLang="en-US" sz="900" b="0" i="0" u="none" strike="noStrike" dirty="0">
                          <a:solidFill>
                            <a:srgbClr val="CC0000"/>
                          </a:solidFill>
                          <a:latin typeface="+mj-lt"/>
                          <a:ea typeface="가는각진제목체" pitchFamily="18" charset="-127"/>
                        </a:rPr>
                        <a:t> </a:t>
                      </a:r>
                      <a:endParaRPr lang="ko-KR" altLang="en-US" sz="900" b="0" i="0" u="none" strike="noStrike" dirty="0">
                        <a:solidFill>
                          <a:srgbClr val="00B0F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▣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T70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경영진 보고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원가관리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2013-04-28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2013-04-29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C00000"/>
                          </a:solidFill>
                          <a:latin typeface="+mj-lt"/>
                          <a:ea typeface="가는각진제목체" pitchFamily="18" charset="-127"/>
                        </a:rPr>
                        <a:t>● 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+1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일 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7" name="타원 86"/>
          <p:cNvSpPr/>
          <p:nvPr/>
        </p:nvSpPr>
        <p:spPr>
          <a:xfrm>
            <a:off x="434731" y="2623638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rgbClr val="FFFFFF"/>
                </a:solidFill>
                <a:latin typeface="Arial"/>
                <a:ea typeface="가는각진제목체" pitchFamily="18" charset="-127"/>
              </a:rPr>
              <a:t>1</a:t>
            </a:r>
            <a:endParaRPr lang="ko-KR" altLang="en-US" sz="1100" b="1" dirty="0" smtClean="0">
              <a:solidFill>
                <a:srgbClr val="FFFFFF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97" name="직사각형 96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98" name="직사각형 97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</a:rPr>
              <a:t>목표원가 대상 선정과 기초정보 등록</a:t>
            </a:r>
            <a:endParaRPr lang="ko-KR" altLang="en-US" sz="1000" dirty="0">
              <a:solidFill>
                <a:srgbClr val="000000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99" name="직사각형 98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01</a:t>
            </a:r>
            <a:endParaRPr lang="ko-KR" altLang="en-US" sz="1000" dirty="0" smtClean="0">
              <a:solidFill>
                <a:srgbClr val="000000"/>
              </a:solidFill>
              <a:latin typeface="Arial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0" name="직사각형 99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sp>
        <p:nvSpPr>
          <p:cNvPr id="101" name="직사각형 100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목표원가 코드 생성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(5/5)</a:t>
            </a:r>
            <a:endParaRPr lang="ko-KR" altLang="en-US" sz="1000" dirty="0" smtClean="0">
              <a:solidFill>
                <a:srgbClr val="000000"/>
              </a:solidFill>
              <a:latin typeface="Arial"/>
              <a:ea typeface="가는각진제목체" pitchFamily="18" charset="-127"/>
              <a:cs typeface="Arial" pitchFamily="34" charset="0"/>
            </a:endParaRPr>
          </a:p>
        </p:txBody>
      </p:sp>
      <p:graphicFrame>
        <p:nvGraphicFramePr>
          <p:cNvPr id="52" name="표 51"/>
          <p:cNvGraphicFramePr>
            <a:graphicFrameLocks noGrp="1"/>
          </p:cNvGraphicFramePr>
          <p:nvPr/>
        </p:nvGraphicFramePr>
        <p:xfrm>
          <a:off x="423872" y="2060810"/>
          <a:ext cx="1526732" cy="323850"/>
        </p:xfrm>
        <a:graphic>
          <a:graphicData uri="http://schemas.openxmlformats.org/drawingml/2006/table">
            <a:tbl>
              <a:tblPr/>
              <a:tblGrid>
                <a:gridCol w="763366"/>
                <a:gridCol w="763366"/>
              </a:tblGrid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명</a:t>
                      </a:r>
                      <a:endParaRPr lang="ko-KR" altLang="en-US" sz="8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</a:t>
                      </a:r>
                      <a:r>
                        <a:rPr lang="ko-KR" altLang="en-US" sz="8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코드</a:t>
                      </a:r>
                      <a:endParaRPr lang="ko-KR" altLang="en-US" sz="8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TM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제품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AA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차종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13007-TM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6" name="그룹 108"/>
          <p:cNvGrpSpPr/>
          <p:nvPr/>
        </p:nvGrpSpPr>
        <p:grpSpPr>
          <a:xfrm>
            <a:off x="344360" y="1730382"/>
            <a:ext cx="5515141" cy="252668"/>
            <a:chOff x="326717" y="1882882"/>
            <a:chExt cx="5515141" cy="252668"/>
          </a:xfrm>
        </p:grpSpPr>
        <p:sp>
          <p:nvSpPr>
            <p:cNvPr id="55" name="한쪽 모서리가 잘린 사각형 54"/>
            <p:cNvSpPr/>
            <p:nvPr/>
          </p:nvSpPr>
          <p:spPr bwMode="auto">
            <a:xfrm>
              <a:off x="326717" y="1885612"/>
              <a:ext cx="792000" cy="24993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프로젝트 관리</a:t>
              </a:r>
            </a:p>
          </p:txBody>
        </p:sp>
        <p:sp>
          <p:nvSpPr>
            <p:cNvPr id="57" name="한쪽 모서리가 잘린 사각형 56"/>
            <p:cNvSpPr/>
            <p:nvPr/>
          </p:nvSpPr>
          <p:spPr bwMode="auto">
            <a:xfrm>
              <a:off x="1110147" y="1885612"/>
              <a:ext cx="792000" cy="24993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대표사양관리</a:t>
              </a:r>
            </a:p>
          </p:txBody>
        </p:sp>
        <p:sp>
          <p:nvSpPr>
            <p:cNvPr id="58" name="한쪽 모서리가 잘린 사각형 57"/>
            <p:cNvSpPr/>
            <p:nvPr/>
          </p:nvSpPr>
          <p:spPr bwMode="auto">
            <a:xfrm>
              <a:off x="1894574" y="1885614"/>
              <a:ext cx="792000" cy="249936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담당자 정보</a:t>
              </a:r>
            </a:p>
          </p:txBody>
        </p:sp>
        <p:sp>
          <p:nvSpPr>
            <p:cNvPr id="61" name="한쪽 모서리가 잘린 사각형 60"/>
            <p:cNvSpPr/>
            <p:nvPr/>
          </p:nvSpPr>
          <p:spPr bwMode="auto">
            <a:xfrm>
              <a:off x="2680934" y="1882882"/>
              <a:ext cx="792000" cy="25266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판가 정보</a:t>
              </a:r>
            </a:p>
          </p:txBody>
        </p:sp>
        <p:sp>
          <p:nvSpPr>
            <p:cNvPr id="62" name="한쪽 모서리가 잘린 사각형 61"/>
            <p:cNvSpPr/>
            <p:nvPr/>
          </p:nvSpPr>
          <p:spPr bwMode="auto">
            <a:xfrm>
              <a:off x="3473044" y="1885614"/>
              <a:ext cx="792000" cy="249936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수량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/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할인율</a:t>
              </a:r>
            </a:p>
          </p:txBody>
        </p:sp>
        <p:sp>
          <p:nvSpPr>
            <p:cNvPr id="65" name="한쪽 모서리가 잘린 사각형 64"/>
            <p:cNvSpPr/>
            <p:nvPr/>
          </p:nvSpPr>
          <p:spPr bwMode="auto">
            <a:xfrm>
              <a:off x="4260030" y="1887268"/>
              <a:ext cx="792000" cy="248282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개발 및 평가 일정</a:t>
              </a:r>
            </a:p>
          </p:txBody>
        </p:sp>
        <p:sp>
          <p:nvSpPr>
            <p:cNvPr id="66" name="한쪽 모서리가 잘린 사각형 65"/>
            <p:cNvSpPr/>
            <p:nvPr/>
          </p:nvSpPr>
          <p:spPr bwMode="auto">
            <a:xfrm>
              <a:off x="5049858" y="1882882"/>
              <a:ext cx="792000" cy="252668"/>
            </a:xfrm>
            <a:prstGeom prst="snip1Rect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목표 수립일정</a:t>
              </a:r>
            </a:p>
          </p:txBody>
        </p:sp>
      </p:grp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7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chemeClr val="tx1"/>
          </a:solidFill>
          <a:prstDash val="dash"/>
          <a:round/>
          <a:headEnd/>
          <a:tailEnd/>
        </a:ln>
      </a:spPr>
      <a:bodyPr wrap="none" anchor="ctr"/>
      <a:lstStyle>
        <a:defPPr eaLnBrk="0" latinLnBrk="0" hangingPunct="0">
          <a:defRPr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8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chemeClr val="tx1"/>
          </a:solidFill>
          <a:prstDash val="dash"/>
          <a:round/>
          <a:headEnd/>
          <a:tailEnd/>
        </a:ln>
      </a:spPr>
      <a:bodyPr wrap="none" anchor="ctr"/>
      <a:lstStyle>
        <a:defPPr eaLnBrk="0" latinLnBrk="0" hangingPunct="0">
          <a:defRPr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6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rgbClr val="000000"/>
          </a:solidFill>
          <a:prstDash val="solid"/>
          <a:round/>
          <a:headEnd/>
          <a:tailEnd/>
        </a:ln>
      </a:spPr>
      <a:bodyPr wrap="none" rtlCol="0" anchor="ctr"/>
      <a:lstStyle>
        <a:defPPr algn="ctr" eaLnBrk="0" latinLnBrk="0" hangingPunct="0">
          <a:defRPr sz="1100"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9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rgbClr val="000000"/>
          </a:solidFill>
          <a:prstDash val="solid"/>
          <a:round/>
          <a:headEnd/>
          <a:tailEnd/>
        </a:ln>
      </a:spPr>
      <a:bodyPr wrap="none" rtlCol="0" anchor="ctr"/>
      <a:lstStyle>
        <a:defPPr algn="ctr" eaLnBrk="0" latinLnBrk="0" hangingPunct="0">
          <a:defRPr sz="1100"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10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rgbClr val="000000"/>
          </a:solidFill>
          <a:prstDash val="solid"/>
          <a:round/>
          <a:headEnd/>
          <a:tailEnd/>
        </a:ln>
      </a:spPr>
      <a:bodyPr wrap="none" rtlCol="0" anchor="ctr"/>
      <a:lstStyle>
        <a:defPPr algn="ctr" eaLnBrk="0" latinLnBrk="0" hangingPunct="0">
          <a:defRPr sz="1100"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11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rgbClr val="000000"/>
          </a:solidFill>
          <a:prstDash val="solid"/>
          <a:round/>
          <a:headEnd/>
          <a:tailEnd/>
        </a:ln>
      </a:spPr>
      <a:bodyPr wrap="none" rtlCol="0" anchor="ctr"/>
      <a:lstStyle>
        <a:defPPr algn="ctr" eaLnBrk="0" latinLnBrk="0" hangingPunct="0">
          <a:defRPr sz="1100"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12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rgbClr val="000000"/>
          </a:solidFill>
          <a:prstDash val="solid"/>
          <a:round/>
          <a:headEnd/>
          <a:tailEnd/>
        </a:ln>
      </a:spPr>
      <a:bodyPr wrap="none" rtlCol="0" anchor="ctr"/>
      <a:lstStyle>
        <a:defPPr algn="ctr" eaLnBrk="0" latinLnBrk="0" hangingPunct="0">
          <a:defRPr sz="1100"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66180</TotalTime>
  <Words>585</Words>
  <Application>Microsoft Office PowerPoint</Application>
  <PresentationFormat>A4 용지(210x297mm)</PresentationFormat>
  <Paragraphs>328</Paragraphs>
  <Slides>4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7</vt:i4>
      </vt:variant>
      <vt:variant>
        <vt:lpstr>슬라이드 제목</vt:lpstr>
      </vt:variant>
      <vt:variant>
        <vt:i4>4</vt:i4>
      </vt:variant>
    </vt:vector>
  </HeadingPairs>
  <TitlesOfParts>
    <vt:vector size="11" baseType="lpstr">
      <vt:lpstr>7_tb4_onscreen_v2.1</vt:lpstr>
      <vt:lpstr>8_tb4_onscreen_v2.1</vt:lpstr>
      <vt:lpstr>6_tb4_onscreen_v2.1</vt:lpstr>
      <vt:lpstr>9_tb4_onscreen_v2.1</vt:lpstr>
      <vt:lpstr>10_tb4_onscreen_v2.1</vt:lpstr>
      <vt:lpstr>11_tb4_onscreen_v2.1</vt:lpstr>
      <vt:lpstr>12_tb4_onscreen_v2.1</vt:lpstr>
      <vt:lpstr>슬라이드 0</vt:lpstr>
      <vt:lpstr>슬라이드 1</vt:lpstr>
      <vt:lpstr>슬라이드 2</vt:lpstr>
      <vt:lpstr>슬라이드 3</vt:lpstr>
    </vt:vector>
  </TitlesOfParts>
  <Company>Samil PwC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김성은</dc:creator>
  <cp:lastModifiedBy>Windows User</cp:lastModifiedBy>
  <cp:revision>8178</cp:revision>
  <cp:lastPrinted>2012-11-21T23:07:40Z</cp:lastPrinted>
  <dcterms:created xsi:type="dcterms:W3CDTF">2011-12-22T02:00:23Z</dcterms:created>
  <dcterms:modified xsi:type="dcterms:W3CDTF">2013-05-16T06:52:22Z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B template version">
    <vt:lpwstr>6</vt:lpwstr>
  </property>
  <property fmtid="{D5CDD505-2E9C-101B-9397-08002B2CF9AE}" pid="3" name="TB template type">
    <vt:lpwstr>Onscreen</vt:lpwstr>
  </property>
  <property fmtid="{D5CDD505-2E9C-101B-9397-08002B2CF9AE}" pid="4" name="Template created by">
    <vt:lpwstr>PwC</vt:lpwstr>
  </property>
  <property fmtid="{D5CDD505-2E9C-101B-9397-08002B2CF9AE}" pid="5" name="Template version">
    <vt:lpwstr>6</vt:lpwstr>
  </property>
</Properties>
</file>