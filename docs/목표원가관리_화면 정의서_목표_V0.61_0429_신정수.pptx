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haansoftxls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562" r:id="rId1"/>
    <p:sldMasterId id="2147484636" r:id="rId2"/>
  </p:sldMasterIdLst>
  <p:notesMasterIdLst>
    <p:notesMasterId r:id="rId35"/>
  </p:notesMasterIdLst>
  <p:handoutMasterIdLst>
    <p:handoutMasterId r:id="rId36"/>
  </p:handoutMasterIdLst>
  <p:sldIdLst>
    <p:sldId id="2297" r:id="rId3"/>
    <p:sldId id="2298" r:id="rId4"/>
    <p:sldId id="2296" r:id="rId5"/>
    <p:sldId id="2304" r:id="rId6"/>
    <p:sldId id="2300" r:id="rId7"/>
    <p:sldId id="2267" r:id="rId8"/>
    <p:sldId id="2268" r:id="rId9"/>
    <p:sldId id="2271" r:id="rId10"/>
    <p:sldId id="2270" r:id="rId11"/>
    <p:sldId id="2301" r:id="rId12"/>
    <p:sldId id="2302" r:id="rId13"/>
    <p:sldId id="2303" r:id="rId14"/>
    <p:sldId id="2306" r:id="rId15"/>
    <p:sldId id="2305" r:id="rId16"/>
    <p:sldId id="2308" r:id="rId17"/>
    <p:sldId id="2272" r:id="rId18"/>
    <p:sldId id="2274" r:id="rId19"/>
    <p:sldId id="2273" r:id="rId20"/>
    <p:sldId id="2291" r:id="rId21"/>
    <p:sldId id="2292" r:id="rId22"/>
    <p:sldId id="2293" r:id="rId23"/>
    <p:sldId id="2275" r:id="rId24"/>
    <p:sldId id="2276" r:id="rId25"/>
    <p:sldId id="2277" r:id="rId26"/>
    <p:sldId id="2278" r:id="rId27"/>
    <p:sldId id="2279" r:id="rId28"/>
    <p:sldId id="2280" r:id="rId29"/>
    <p:sldId id="2281" r:id="rId30"/>
    <p:sldId id="2294" r:id="rId31"/>
    <p:sldId id="2295" r:id="rId32"/>
    <p:sldId id="2287" r:id="rId33"/>
    <p:sldId id="2288" r:id="rId34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CC"/>
    <a:srgbClr val="FF9999"/>
    <a:srgbClr val="292929"/>
    <a:srgbClr val="000000"/>
    <a:srgbClr val="FF9966"/>
    <a:srgbClr val="CC0000"/>
    <a:srgbClr val="DC6900"/>
    <a:srgbClr val="FFFF66"/>
    <a:srgbClr val="333333"/>
    <a:srgbClr val="FFCC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6" autoAdjust="0"/>
    <p:restoredTop sz="36295" autoAdjust="0"/>
  </p:normalViewPr>
  <p:slideViewPr>
    <p:cSldViewPr snapToObjects="1">
      <p:cViewPr>
        <p:scale>
          <a:sx n="78" d="100"/>
          <a:sy n="78" d="100"/>
        </p:scale>
        <p:origin x="-1260" y="156"/>
      </p:cViewPr>
      <p:guideLst>
        <p:guide orient="horz" pos="1706"/>
        <p:guide orient="horz" pos="3339"/>
        <p:guide orient="horz" pos="3929"/>
        <p:guide pos="217"/>
        <p:guide pos="534"/>
        <p:guide pos="444"/>
        <p:guide pos="1487"/>
        <p:guide pos="2530"/>
        <p:guide pos="3120"/>
        <p:guide pos="5706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6" d="100"/>
          <a:sy n="46" d="100"/>
        </p:scale>
        <p:origin x="-3036" y="-90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5/6/2013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5/6/2013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20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27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19750" name="Line 6"/>
          <p:cNvSpPr>
            <a:spLocks noChangeShapeType="1"/>
          </p:cNvSpPr>
          <p:nvPr/>
        </p:nvSpPr>
        <p:spPr bwMode="auto">
          <a:xfrm>
            <a:off x="182563" y="777875"/>
            <a:ext cx="951388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ctr" defTabSz="914400" eaLnBrk="0" latinLnBrk="0" hangingPunct="0">
              <a:defRPr/>
            </a:pPr>
            <a:endParaRPr kumimoji="0" lang="ko-KR" altLang="en-US" sz="1400" b="1" dirty="0">
              <a:solidFill>
                <a:srgbClr val="3A4972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9389306" y="473800"/>
            <a:ext cx="307975" cy="285750"/>
          </a:xfrm>
          <a:prstGeom prst="rect">
            <a:avLst/>
          </a:prstGeom>
          <a:solidFill>
            <a:srgbClr val="666699"/>
          </a:solidFill>
          <a:ln w="9525">
            <a:solidFill>
              <a:srgbClr val="666699"/>
            </a:solidFill>
            <a:miter lim="800000"/>
            <a:headEnd/>
            <a:tailEnd/>
          </a:ln>
        </p:spPr>
        <p:txBody>
          <a:bodyPr wrap="none" lIns="54000" tIns="54000" rIns="54000" bIns="54000" anchor="ctr"/>
          <a:lstStyle/>
          <a:p>
            <a:pPr algn="ctr" defTabSz="914400">
              <a:defRPr/>
            </a:pPr>
            <a:fld id="{65AB3F9B-28E7-499A-A094-26270E7EAA92}" type="slidenum">
              <a:rPr kumimoji="0" lang="en-GB" altLang="ko-KR" sz="1100" b="1" smtClean="0">
                <a:solidFill>
                  <a:schemeClr val="bg1"/>
                </a:solidFill>
              </a:rPr>
              <a:pPr algn="ctr" defTabSz="914400">
                <a:defRPr/>
              </a:pPr>
              <a:t>‹#›</a:t>
            </a:fld>
            <a:endParaRPr kumimoji="0" lang="en-GB" altLang="ko-KR" sz="11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7" r:id="rId1"/>
    <p:sldLayoutId id="214748463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1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화면 목록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66211" y="990386"/>
          <a:ext cx="8928000" cy="5220000"/>
        </p:xfrm>
        <a:graphic>
          <a:graphicData uri="http://schemas.openxmlformats.org/drawingml/2006/table">
            <a:tbl>
              <a:tblPr/>
              <a:tblGrid>
                <a:gridCol w="432000"/>
                <a:gridCol w="1764000"/>
                <a:gridCol w="2196000"/>
                <a:gridCol w="4536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#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주요정보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 생성 및 기초정보 관리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관리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대표코드 생성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/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관리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지정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담당자 정보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담당자 입력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판가 정보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예상 판가와 양산기간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할인율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연도별 물량과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TCI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조건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(4/5)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개발 및 평가일정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도면출도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Event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SOP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일정계획과 중간평가 시기 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(5/5)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목표수립일정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목표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수립시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단계별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&amp;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일정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산출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정의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목표배부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확정과 절감계획등록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I/F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Mapping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설계원가와 개발단가 입력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자재단가 확정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;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가공비 주요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(1/N)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가공비 주요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(2/N)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화면 목록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66211" y="990386"/>
          <a:ext cx="8928000" cy="3600000"/>
        </p:xfrm>
        <a:graphic>
          <a:graphicData uri="http://schemas.openxmlformats.org/drawingml/2006/table">
            <a:tbl>
              <a:tblPr/>
              <a:tblGrid>
                <a:gridCol w="432000"/>
                <a:gridCol w="1764000"/>
                <a:gridCol w="2196000"/>
                <a:gridCol w="4536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#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주요정보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 rowSpan="5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가공비 주요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(3/N)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가공비 산출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차이분석</a:t>
                      </a:r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en-US" altLang="ko-KR" sz="1300" b="1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달성도 평가</a:t>
                      </a:r>
                      <a:endParaRPr lang="ko-KR" altLang="en-US" sz="13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 상세 등록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달성도 평가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rowSpan="3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</a:t>
                      </a:r>
                      <a:r>
                        <a:rPr lang="ko-KR" altLang="en-US" sz="1300" b="0" i="0" u="none" strike="noStrike" kern="12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재배부와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절감계획 수정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실적원가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실적 달성도 평가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</a:t>
            </a:r>
            <a:r>
              <a:rPr lang="en-US" altLang="ko-KR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UI </a:t>
            </a:r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설계 변경 이력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71" name="표 70"/>
          <p:cNvGraphicFramePr>
            <a:graphicFrameLocks noGrp="1"/>
          </p:cNvGraphicFramePr>
          <p:nvPr/>
        </p:nvGraphicFramePr>
        <p:xfrm>
          <a:off x="332471" y="990386"/>
          <a:ext cx="8748000" cy="5206800"/>
        </p:xfrm>
        <a:graphic>
          <a:graphicData uri="http://schemas.openxmlformats.org/drawingml/2006/table">
            <a:tbl>
              <a:tblPr/>
              <a:tblGrid>
                <a:gridCol w="1080000"/>
                <a:gridCol w="900000"/>
                <a:gridCol w="1080000"/>
                <a:gridCol w="2124000"/>
                <a:gridCol w="3564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일자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버전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변경자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변경항목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변경내역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2013/04/22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V0.49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최초작성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N/A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2013/04/23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V0.50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목표코드 생성화면의 삭제 기능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Header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명 변경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  <a:sym typeface="Wingdings" pitchFamily="2" charset="2"/>
                        </a:rPr>
                        <a:t> ‘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  <a:sym typeface="Wingdings" pitchFamily="2" charset="2"/>
                        </a:rPr>
                        <a:t>프로젝트 코드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  <a:sym typeface="Wingdings" pitchFamily="2" charset="2"/>
                        </a:rPr>
                        <a:t>’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사양관리 탭의 입력 상세 기능 설명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판가정보 탭의 이력관리 기능 포함 설명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할인율 탭의 실행 단추 기능 조정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(4/5)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개발 및 평가일정 탭의 달성도 평가시기 입력방법 재정의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중간 달성도 평가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총괄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Report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위해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 기능 부여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사양관리 탭의 입력 상세 기능 설명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판가정보 탭의 이력관리 기능 포함 설명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2013/04/25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목표코드 생성시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견적목록에서 출발하지 않음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별도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프로젝트관리 생성 방법 전면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재작성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확정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설명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(UI,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내역 완료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). </a:t>
                      </a:r>
                      <a:r>
                        <a:rPr lang="en-US" altLang="ko-KR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 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미확정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 변경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목표원가 상세 내역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5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개로 구성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2013/04/29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V0.61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추가사항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결과값 불러오기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75" name="직선 연결선 74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</a:t>
            </a:r>
            <a:r>
              <a:rPr lang="en-US" altLang="ko-KR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UI </a:t>
            </a:r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설계 변경 이력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75" name="직선 연결선 74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332471" y="990386"/>
          <a:ext cx="8748000" cy="5352120"/>
        </p:xfrm>
        <a:graphic>
          <a:graphicData uri="http://schemas.openxmlformats.org/drawingml/2006/table">
            <a:tbl>
              <a:tblPr/>
              <a:tblGrid>
                <a:gridCol w="1080000"/>
                <a:gridCol w="900000"/>
                <a:gridCol w="1080000"/>
                <a:gridCol w="2124000"/>
                <a:gridCol w="3564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일자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버전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변경자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변경항목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변경내역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2013/04/29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V0.61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목표가이드 산출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예시 파일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참조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구성하는 원가 항목은 </a:t>
                      </a:r>
                      <a:r>
                        <a:rPr lang="ko-KR" altLang="en-US" sz="1300" b="1" i="0" u="none" strike="noStrike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미확정이나</a:t>
                      </a:r>
                      <a:r>
                        <a:rPr lang="en-US" altLang="ko-KR" sz="1300" b="1" i="0" u="none" strike="noStrike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견적산출</a:t>
                      </a:r>
                      <a:r>
                        <a:rPr lang="en-US" altLang="ko-KR" sz="1300" b="1" i="0" u="none" strike="noStrike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300" b="1" i="0" u="none" strike="noStrike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수익성 분석과 동일함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확정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 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</a:t>
                      </a:r>
                      <a:r>
                        <a:rPr lang="en-US" altLang="ko-KR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수익성 분석의 경상이익률 기준</a:t>
                      </a:r>
                      <a:r>
                        <a:rPr lang="en-US" altLang="ko-KR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1" i="0" u="none" strike="noStrike" baseline="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연합계</a:t>
                      </a:r>
                      <a:r>
                        <a:rPr lang="en-US" altLang="ko-KR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</a:t>
                      </a:r>
                      <a:r>
                        <a:rPr lang="ko-KR" altLang="en-US" sz="1200" kern="12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ko-KR" altLang="en-US" sz="12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및 절감 계획 활동 등록</a:t>
                      </a:r>
                      <a:r>
                        <a:rPr lang="en-US" altLang="ko-KR" sz="12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(1/3)</a:t>
                      </a:r>
                      <a:endParaRPr lang="ko-KR" altLang="en-US" sz="12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22956" y="1038815"/>
          <a:ext cx="3528000" cy="52672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이미 등록된 프로젝트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조회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코드에 등록된 견적제출일 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따라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목록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신규로 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삭제된 내역을 저장함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(7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탭 모두에 적용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팝업으로 신규 개발 프로젝트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정보입력창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Key-In.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마스터에 등록된 정보 중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검색→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등록된 견적코드 중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목표와 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1:N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성립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입력된 정보를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수정해야하는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경우 특정 항목 활성화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나타나는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팝업창에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):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정보 등록 후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프로젝트 코드를 자동으로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 생성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T +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 </a:t>
                      </a:r>
                      <a:r>
                        <a:rPr lang="en-US" altLang="ko-KR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Seq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하이픈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’-’ +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코드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프로젝트의 사양 중 대표항목 지정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하위의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사양별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견적코드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버전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대표사양으로 지정된 항목을 선택하여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자동으로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대표선정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해제 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선택해제 모두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-PMS Code: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추후 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PMS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코드가 생성되면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→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양산품목의 품번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하여 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(ERP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 채번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을 이용하여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Validation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수행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견적에서 입력된 정보 가져오기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사양정보는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Key-In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 가능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대표사양으로 지정한 사유입력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메모 기능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Key-In)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변경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신규지정 경우 고려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행 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팝업창에서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 입력하도록함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견적코드는 필수항목 아님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직사각형 11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4994888" y="64348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258457" y="117887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0" name="직사각형 124"/>
          <p:cNvSpPr>
            <a:spLocks noChangeArrowheads="1"/>
          </p:cNvSpPr>
          <p:nvPr/>
        </p:nvSpPr>
        <p:spPr bwMode="auto">
          <a:xfrm>
            <a:off x="326718" y="2082017"/>
            <a:ext cx="5705782" cy="1800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55" name="AutoShape 279"/>
          <p:cNvSpPr>
            <a:spLocks noChangeArrowheads="1"/>
          </p:cNvSpPr>
          <p:nvPr/>
        </p:nvSpPr>
        <p:spPr bwMode="auto">
          <a:xfrm>
            <a:off x="5570488" y="214342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8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26719" y="4369224"/>
            <a:ext cx="5705782" cy="1422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446671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122" name="표 121"/>
          <p:cNvGraphicFramePr>
            <a:graphicFrameLocks noGrp="1"/>
          </p:cNvGraphicFramePr>
          <p:nvPr/>
        </p:nvGraphicFramePr>
        <p:xfrm>
          <a:off x="390970" y="4885975"/>
          <a:ext cx="5598209" cy="843330"/>
        </p:xfrm>
        <a:graphic>
          <a:graphicData uri="http://schemas.openxmlformats.org/drawingml/2006/table">
            <a:tbl>
              <a:tblPr/>
              <a:tblGrid>
                <a:gridCol w="169420"/>
                <a:gridCol w="705912"/>
                <a:gridCol w="864000"/>
                <a:gridCol w="900000"/>
                <a:gridCol w="576000"/>
                <a:gridCol w="468000"/>
                <a:gridCol w="291777"/>
                <a:gridCol w="393265"/>
                <a:gridCol w="329835"/>
                <a:gridCol w="396000"/>
                <a:gridCol w="504000"/>
              </a:tblGrid>
              <a:tr h="16192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견적원가 코드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코드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Code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사유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13007-TM-T00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T13007-TMA-T01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일반형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13007-TMB-Q01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13007-TMC-Q01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최고급형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8" name="AutoShape 279"/>
          <p:cNvSpPr>
            <a:spLocks noChangeArrowheads="1"/>
          </p:cNvSpPr>
          <p:nvPr/>
        </p:nvSpPr>
        <p:spPr bwMode="auto">
          <a:xfrm>
            <a:off x="4306185" y="446671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29" name="AutoShape 279"/>
          <p:cNvSpPr>
            <a:spLocks noChangeArrowheads="1"/>
          </p:cNvSpPr>
          <p:nvPr/>
        </p:nvSpPr>
        <p:spPr bwMode="auto">
          <a:xfrm>
            <a:off x="5149053" y="446671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0" name="직사각형 139"/>
          <p:cNvSpPr/>
          <p:nvPr/>
        </p:nvSpPr>
        <p:spPr bwMode="auto">
          <a:xfrm>
            <a:off x="360615" y="5841400"/>
            <a:ext cx="4356000" cy="46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lIns="36000" rIns="36000" rtlCol="0" anchor="ctr" anchorCtr="0"/>
          <a:lstStyle/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※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각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Tab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간 관계</a:t>
            </a:r>
            <a:endParaRPr lang="en-US" altLang="ko-KR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프로젝트 관리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에서 특정 프로젝트를 선택하여야 다음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4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개의 탭으로 이동 가능</a:t>
            </a:r>
            <a:endParaRPr lang="en-US" altLang="ko-KR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대표사양 관리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이하에서는 좌상단에 선택된  프로젝트의 프로젝트 명과 목표원가 코드 표시</a:t>
            </a:r>
          </a:p>
        </p:txBody>
      </p:sp>
      <p:graphicFrame>
        <p:nvGraphicFramePr>
          <p:cNvPr id="141" name="표 140"/>
          <p:cNvGraphicFramePr>
            <a:graphicFrameLocks noGrp="1"/>
          </p:cNvGraphicFramePr>
          <p:nvPr/>
        </p:nvGraphicFramePr>
        <p:xfrm>
          <a:off x="384116" y="4468809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9" name="그룹 105"/>
          <p:cNvGrpSpPr/>
          <p:nvPr/>
        </p:nvGrpSpPr>
        <p:grpSpPr>
          <a:xfrm>
            <a:off x="326717" y="1832082"/>
            <a:ext cx="5515141" cy="252668"/>
            <a:chOff x="326717" y="1882882"/>
            <a:chExt cx="5515141" cy="252668"/>
          </a:xfrm>
        </p:grpSpPr>
        <p:sp>
          <p:nvSpPr>
            <p:cNvPr id="90" name="한쪽 모서리가 잘린 사각형 8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89" name="한쪽 모서리가 잘린 사각형 88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23" name="한쪽 모서리가 잘린 사각형 12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33" name="한쪽 모서리가 잘린 사각형 132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87" name="한쪽 모서리가 잘린 사각형 86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04" name="한쪽 모서리가 잘린 사각형 103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4" name="한쪽 모서리가 잘린 사각형 133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grpSp>
        <p:nvGrpSpPr>
          <p:cNvPr id="10" name="그룹 106"/>
          <p:cNvGrpSpPr/>
          <p:nvPr/>
        </p:nvGrpSpPr>
        <p:grpSpPr>
          <a:xfrm>
            <a:off x="331108" y="4118308"/>
            <a:ext cx="5515141" cy="252668"/>
            <a:chOff x="326717" y="1882882"/>
            <a:chExt cx="5515141" cy="252668"/>
          </a:xfrm>
        </p:grpSpPr>
        <p:sp>
          <p:nvSpPr>
            <p:cNvPr id="108" name="한쪽 모서리가 잘린 사각형 107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09" name="한쪽 모서리가 잘린 사각형 108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0" name="한쪽 모서리가 잘린 사각형 109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91" name="타원 90"/>
          <p:cNvSpPr/>
          <p:nvPr/>
        </p:nvSpPr>
        <p:spPr>
          <a:xfrm>
            <a:off x="1050567" y="394450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258457" y="164996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4" name="직사각형 7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76" name="AutoShape 279"/>
          <p:cNvSpPr>
            <a:spLocks noChangeArrowheads="1"/>
          </p:cNvSpPr>
          <p:nvPr/>
        </p:nvSpPr>
        <p:spPr bwMode="auto">
          <a:xfrm>
            <a:off x="4736970" y="214342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48690" y="2402330"/>
          <a:ext cx="4524996" cy="1002960"/>
        </p:xfrm>
        <a:graphic>
          <a:graphicData uri="http://schemas.openxmlformats.org/drawingml/2006/table">
            <a:tbl>
              <a:tblPr/>
              <a:tblGrid>
                <a:gridCol w="360000"/>
                <a:gridCol w="792000"/>
                <a:gridCol w="972000"/>
                <a:gridCol w="498498"/>
                <a:gridCol w="498498"/>
                <a:gridCol w="576000"/>
                <a:gridCol w="828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13013-TM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T13008-RA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R/AXLE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13018-R/A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T13009-RA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R/AXLE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13023-R/A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T13010-ST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그렌져 시트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그렌져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13024-ST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표 70"/>
          <p:cNvGraphicFramePr>
            <a:graphicFrameLocks noGrp="1"/>
          </p:cNvGraphicFramePr>
          <p:nvPr/>
        </p:nvGraphicFramePr>
        <p:xfrm>
          <a:off x="448690" y="3459865"/>
          <a:ext cx="4686300" cy="346320"/>
        </p:xfrm>
        <a:graphic>
          <a:graphicData uri="http://schemas.openxmlformats.org/drawingml/2006/table">
            <a:tbl>
              <a:tblPr/>
              <a:tblGrid>
                <a:gridCol w="713891"/>
                <a:gridCol w="571113"/>
                <a:gridCol w="571113"/>
                <a:gridCol w="571113"/>
                <a:gridCol w="571113"/>
                <a:gridCol w="939164"/>
                <a:gridCol w="748793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BFBFB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13013-TM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5153729" y="214342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4727619" y="446671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9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74184"/>
            <a:ext cx="5691889" cy="1817498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0084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325171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740277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155383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1" name="표 60"/>
          <p:cNvGraphicFramePr>
            <a:graphicFrameLocks noGrp="1"/>
          </p:cNvGraphicFramePr>
          <p:nvPr/>
        </p:nvGraphicFramePr>
        <p:xfrm>
          <a:off x="488380" y="2511555"/>
          <a:ext cx="2778820" cy="1133475"/>
        </p:xfrm>
        <a:graphic>
          <a:graphicData uri="http://schemas.openxmlformats.org/drawingml/2006/table">
            <a:tbl>
              <a:tblPr/>
              <a:tblGrid>
                <a:gridCol w="367858"/>
                <a:gridCol w="520075"/>
                <a:gridCol w="443966"/>
                <a:gridCol w="294921"/>
                <a:gridCol w="792000"/>
                <a:gridCol w="36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이름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직급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소속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Role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배병희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김지원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&amp;&amp;&amp;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변속기설계팀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ㅌㅌㅌ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책임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$$$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구매팀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WWW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직사각형 124"/>
          <p:cNvSpPr>
            <a:spLocks noChangeArrowheads="1"/>
          </p:cNvSpPr>
          <p:nvPr/>
        </p:nvSpPr>
        <p:spPr bwMode="auto">
          <a:xfrm>
            <a:off x="341252" y="4362497"/>
            <a:ext cx="5691889" cy="180288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65" name="AutoShape 279"/>
          <p:cNvSpPr>
            <a:spLocks noChangeArrowheads="1"/>
          </p:cNvSpPr>
          <p:nvPr/>
        </p:nvSpPr>
        <p:spPr bwMode="auto">
          <a:xfrm>
            <a:off x="5571129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3801481" y="4434509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4325812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3" name="AutoShape 279"/>
          <p:cNvSpPr>
            <a:spLocks noChangeArrowheads="1"/>
          </p:cNvSpPr>
          <p:nvPr/>
        </p:nvSpPr>
        <p:spPr bwMode="auto">
          <a:xfrm>
            <a:off x="4740918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4" name="AutoShape 279"/>
          <p:cNvSpPr>
            <a:spLocks noChangeArrowheads="1"/>
          </p:cNvSpPr>
          <p:nvPr/>
        </p:nvSpPr>
        <p:spPr bwMode="auto">
          <a:xfrm>
            <a:off x="5156024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33591"/>
          <a:ext cx="3528000" cy="4970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5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93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담당자 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견적단계에 입력된 정보를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code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앞자리가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 정보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수정 가능하도록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 선택된 행 정보 삭제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삭제된 정보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방식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부문과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Role: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화면에서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콤보박스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조직정보에서 검색하여 선택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직급과 소속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 선택시 자동으로 인식하여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52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판가정보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양산기간과 초도판가 정보를 입력함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영업부문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입력된 정보를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팝업으로 나타나는 산출된 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    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중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="1" dirty="0" smtClean="0">
                          <a:solidFill>
                            <a:srgbClr val="FF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시장판가는 가져오지 않음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 정보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수정 가능하도록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 선택된 행 정보 삭제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삭제된 정보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입력할 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불러오기로 견적시 입력정보 가져온 후 수정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생성된 대표사양 코드를 불러옴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사양변경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추가에 따라 수정 가능하도록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통화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거래 통화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후 콤보박스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 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예상 판가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협의된 판가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후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Key-In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-SOP/EOP: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양산개시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종료 예상일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후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Key-In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80" name="직사각형 79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344360" y="1717130"/>
            <a:ext cx="5515141" cy="252668"/>
            <a:chOff x="326717" y="1882882"/>
            <a:chExt cx="5515141" cy="252668"/>
          </a:xfrm>
        </p:grpSpPr>
        <p:sp>
          <p:nvSpPr>
            <p:cNvPr id="125" name="한쪽 모서리가 잘린 사각형 124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26" name="한쪽 모서리가 잘린 사각형 125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27" name="한쪽 모서리가 잘린 사각형 126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28" name="한쪽 모서리가 잘린 사각형 127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29" name="한쪽 모서리가 잘린 사각형 128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30" name="한쪽 모서리가 잘린 사각형 129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1" name="한쪽 모서리가 잘린 사각형 130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344360" y="4112462"/>
            <a:ext cx="5515141" cy="252668"/>
            <a:chOff x="326717" y="1882882"/>
            <a:chExt cx="5515141" cy="252668"/>
          </a:xfrm>
        </p:grpSpPr>
        <p:sp>
          <p:nvSpPr>
            <p:cNvPr id="133" name="한쪽 모서리가 잘린 사각형 132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34" name="한쪽 모서리가 잘린 사각형 133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35" name="한쪽 모서리가 잘린 사각형 134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36" name="한쪽 모서리가 잘린 사각형 135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37" name="한쪽 모서리가 잘린 사각형 136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38" name="한쪽 모서리가 잘린 사각형 137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9" name="한쪽 모서리가 잘린 사각형 138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71" name="타원 70"/>
          <p:cNvSpPr/>
          <p:nvPr/>
        </p:nvSpPr>
        <p:spPr>
          <a:xfrm>
            <a:off x="2562777" y="395694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1797171" y="15567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74" name="표 73"/>
          <p:cNvGraphicFramePr>
            <a:graphicFrameLocks noGrp="1"/>
          </p:cNvGraphicFramePr>
          <p:nvPr/>
        </p:nvGraphicFramePr>
        <p:xfrm>
          <a:off x="503290" y="4851295"/>
          <a:ext cx="3990469" cy="323850"/>
        </p:xfrm>
        <a:graphic>
          <a:graphicData uri="http://schemas.openxmlformats.org/drawingml/2006/table">
            <a:tbl>
              <a:tblPr/>
              <a:tblGrid>
                <a:gridCol w="246469"/>
                <a:gridCol w="504000"/>
                <a:gridCol w="1044000"/>
                <a:gridCol w="396000"/>
                <a:gridCol w="576000"/>
                <a:gridCol w="612000"/>
                <a:gridCol w="612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통화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예상 판가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EOP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KRW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2021.06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6" name="직사각형 6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410620" y="2047558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표 81"/>
          <p:cNvGraphicFramePr>
            <a:graphicFrameLocks noGrp="1"/>
          </p:cNvGraphicFramePr>
          <p:nvPr/>
        </p:nvGraphicFramePr>
        <p:xfrm>
          <a:off x="384116" y="4427834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9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9138"/>
            <a:ext cx="5691889" cy="216058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20891"/>
          <a:ext cx="3528000" cy="2612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7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연도별 수량 및 할인율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기능을 이용하여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관리대상 사양에 대하여 견적단계에 입력된 값을 가져옴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팝업으로 나타나는 산출된 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 중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-Key-In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 가능하며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특정 행을 추가로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할수 있음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추가시 원가코드는 해당프로젝트 하위에 생성된 목표원가 코드 중 선택 가능하도록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돋보기 팝업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연도는 판가정보의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SOP/ EOP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를 이용하여 일치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할인율은 전년도 대비 판가 할인율을 의미함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입력제한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수량은 자연수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할인율은 소수점 둘째자리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(3/5)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418873" y="2511872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매출 수량 관리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469378" y="3375992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수주가 할인율 관리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5571129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3801481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4325812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1" name="AutoShape 279"/>
          <p:cNvSpPr>
            <a:spLocks noChangeArrowheads="1"/>
          </p:cNvSpPr>
          <p:nvPr/>
        </p:nvSpPr>
        <p:spPr bwMode="auto">
          <a:xfrm>
            <a:off x="474091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56024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110" name="한쪽 모서리가 잘린 사각형 10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6" name="한쪽 모서리가 잘린 사각형 115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7" name="한쪽 모서리가 잘린 사각형 116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55" name="타원 54"/>
          <p:cNvSpPr/>
          <p:nvPr/>
        </p:nvSpPr>
        <p:spPr>
          <a:xfrm>
            <a:off x="3360637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7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533662" y="2745100"/>
          <a:ext cx="5109631" cy="323850"/>
        </p:xfrm>
        <a:graphic>
          <a:graphicData uri="http://schemas.openxmlformats.org/drawingml/2006/table">
            <a:tbl>
              <a:tblPr/>
              <a:tblGrid>
                <a:gridCol w="357631"/>
                <a:gridCol w="504000"/>
                <a:gridCol w="1116000"/>
                <a:gridCol w="432000"/>
                <a:gridCol w="432000"/>
                <a:gridCol w="432000"/>
                <a:gridCol w="432000"/>
                <a:gridCol w="432000"/>
                <a:gridCol w="432000"/>
                <a:gridCol w="54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2017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2021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1,200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11,300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547138" y="3609220"/>
          <a:ext cx="4526048" cy="323850"/>
        </p:xfrm>
        <a:graphic>
          <a:graphicData uri="http://schemas.openxmlformats.org/drawingml/2006/table">
            <a:tbl>
              <a:tblPr/>
              <a:tblGrid>
                <a:gridCol w="350048"/>
                <a:gridCol w="468000"/>
                <a:gridCol w="1116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선택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원가코드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2014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2017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□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직사각형 57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423872" y="2087314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9138"/>
            <a:ext cx="5691889" cy="425663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20891"/>
          <a:ext cx="3528000" cy="53392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및 평가 일정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일정 관리와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중간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평가시기 관리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단추는 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 각각에 대하여 별도로 기능을 둔다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PMS code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가 입력된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코드를 기준으로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관련 내역을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할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SOP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는 판가정보에서 입력된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활용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단계의 각 도면 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,Proto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고정값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 없음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I/F.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불가능한 경우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(&amp;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달력에서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단계의 각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Event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Proto, Pilot1/2, PP 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고정값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 없음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개시일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I/F.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불가능한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  클릭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달력에서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양산개시 월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판가정보에서 입력된 정보를 바탕으로 자동생성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 판가정보에서 수정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기간 중 중간평가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&amp;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평가시기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불러오기를 클릭하면 도변출도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~SOP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 입력된 정보를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바탕으로 자동생성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평가완료는 수정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일정한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Rule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 따라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1~3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중간평가와 최종평가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산출개시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평가완료 일정은 자동생성됨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이상의 중간평가가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중간평가가 필요한 경우 기존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1~3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중간평가 중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를 수정하고 삽입함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차수는 콤보박스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(Max7),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시기는 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Key-In,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일자는 달력에서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EX&gt; 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평가 추가시 기존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차로 수정하고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행삽입→정보입력→저장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’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(4/5)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504124" y="2407608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도면 출도 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504124" y="3324736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개발단계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6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110" name="한쪽 모서리가 잘린 사각형 10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6" name="한쪽 모서리가 잘린 사각형 115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7" name="한쪽 모서리가 잘린 사각형 116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55" name="타원 54"/>
          <p:cNvSpPr/>
          <p:nvPr/>
        </p:nvSpPr>
        <p:spPr>
          <a:xfrm>
            <a:off x="4120493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504124" y="4967714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달성도 평가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504124" y="4445739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[SOP]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76" name="그룹 75"/>
          <p:cNvGrpSpPr/>
          <p:nvPr/>
        </p:nvGrpSpPr>
        <p:grpSpPr>
          <a:xfrm>
            <a:off x="3656820" y="2420860"/>
            <a:ext cx="2128423" cy="215900"/>
            <a:chOff x="3801481" y="2565010"/>
            <a:chExt cx="2128423" cy="215900"/>
          </a:xfrm>
        </p:grpSpPr>
        <p:sp>
          <p:nvSpPr>
            <p:cNvPr id="48" name="AutoShape 279"/>
            <p:cNvSpPr>
              <a:spLocks noChangeArrowheads="1"/>
            </p:cNvSpPr>
            <p:nvPr/>
          </p:nvSpPr>
          <p:spPr bwMode="auto">
            <a:xfrm>
              <a:off x="5571129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저장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50" name="AutoShape 279"/>
            <p:cNvSpPr>
              <a:spLocks noChangeArrowheads="1"/>
            </p:cNvSpPr>
            <p:nvPr/>
          </p:nvSpPr>
          <p:spPr bwMode="auto">
            <a:xfrm>
              <a:off x="4740918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수정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51" name="AutoShape 279"/>
            <p:cNvSpPr>
              <a:spLocks noChangeArrowheads="1"/>
            </p:cNvSpPr>
            <p:nvPr/>
          </p:nvSpPr>
          <p:spPr bwMode="auto">
            <a:xfrm>
              <a:off x="4325812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추가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52" name="AutoShape 279"/>
            <p:cNvSpPr>
              <a:spLocks noChangeArrowheads="1"/>
            </p:cNvSpPr>
            <p:nvPr/>
          </p:nvSpPr>
          <p:spPr bwMode="auto">
            <a:xfrm>
              <a:off x="5156024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삭제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58" name="AutoShape 279"/>
            <p:cNvSpPr>
              <a:spLocks noChangeArrowheads="1"/>
            </p:cNvSpPr>
            <p:nvPr/>
          </p:nvSpPr>
          <p:spPr bwMode="auto">
            <a:xfrm>
              <a:off x="3801481" y="2565010"/>
              <a:ext cx="46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불러오기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</p:grpSp>
      <p:graphicFrame>
        <p:nvGraphicFramePr>
          <p:cNvPr id="78" name="표 77"/>
          <p:cNvGraphicFramePr>
            <a:graphicFrameLocks noGrp="1"/>
          </p:cNvGraphicFramePr>
          <p:nvPr/>
        </p:nvGraphicFramePr>
        <p:xfrm>
          <a:off x="504124" y="4661769"/>
          <a:ext cx="1270000" cy="161925"/>
        </p:xfrm>
        <a:graphic>
          <a:graphicData uri="http://schemas.openxmlformats.org/drawingml/2006/table">
            <a:tbl>
              <a:tblPr/>
              <a:tblGrid>
                <a:gridCol w="559179"/>
                <a:gridCol w="710821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2014-07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9" name="표 78"/>
          <p:cNvGraphicFramePr>
            <a:graphicFrameLocks noGrp="1"/>
          </p:cNvGraphicFramePr>
          <p:nvPr/>
        </p:nvGraphicFramePr>
        <p:xfrm>
          <a:off x="504124" y="3540766"/>
          <a:ext cx="2265500" cy="809625"/>
        </p:xfrm>
        <a:graphic>
          <a:graphicData uri="http://schemas.openxmlformats.org/drawingml/2006/table">
            <a:tbl>
              <a:tblPr/>
              <a:tblGrid>
                <a:gridCol w="368300"/>
                <a:gridCol w="457200"/>
                <a:gridCol w="720000"/>
                <a:gridCol w="72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개시일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2013-06-02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2014-03-30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2014-04-01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2014-04-30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Pilot2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2014-05-01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2014-06-15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PP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2014-06-16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2014-06-30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표 79"/>
          <p:cNvGraphicFramePr>
            <a:graphicFrameLocks noGrp="1"/>
          </p:cNvGraphicFramePr>
          <p:nvPr/>
        </p:nvGraphicFramePr>
        <p:xfrm>
          <a:off x="504124" y="5183744"/>
          <a:ext cx="3440414" cy="971550"/>
        </p:xfrm>
        <a:graphic>
          <a:graphicData uri="http://schemas.openxmlformats.org/drawingml/2006/table">
            <a:tbl>
              <a:tblPr/>
              <a:tblGrid>
                <a:gridCol w="367606"/>
                <a:gridCol w="864000"/>
                <a:gridCol w="713030"/>
                <a:gridCol w="747889"/>
                <a:gridCol w="747889"/>
              </a:tblGrid>
              <a:tr h="3238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 개시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 완료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2013-05-31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2014-03-30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2014-04-14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Pilot2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2014-06-15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2014-06-30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달성도 평가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 + 6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N/A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2014-08-20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82" name="그룹 81"/>
          <p:cNvGrpSpPr/>
          <p:nvPr/>
        </p:nvGrpSpPr>
        <p:grpSpPr>
          <a:xfrm>
            <a:off x="3656820" y="3330616"/>
            <a:ext cx="2128423" cy="215900"/>
            <a:chOff x="3801481" y="2565010"/>
            <a:chExt cx="2128423" cy="215900"/>
          </a:xfrm>
        </p:grpSpPr>
        <p:sp>
          <p:nvSpPr>
            <p:cNvPr id="83" name="AutoShape 279"/>
            <p:cNvSpPr>
              <a:spLocks noChangeArrowheads="1"/>
            </p:cNvSpPr>
            <p:nvPr/>
          </p:nvSpPr>
          <p:spPr bwMode="auto">
            <a:xfrm>
              <a:off x="5571129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저장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84" name="AutoShape 279"/>
            <p:cNvSpPr>
              <a:spLocks noChangeArrowheads="1"/>
            </p:cNvSpPr>
            <p:nvPr/>
          </p:nvSpPr>
          <p:spPr bwMode="auto">
            <a:xfrm>
              <a:off x="4740918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수정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86" name="AutoShape 279"/>
            <p:cNvSpPr>
              <a:spLocks noChangeArrowheads="1"/>
            </p:cNvSpPr>
            <p:nvPr/>
          </p:nvSpPr>
          <p:spPr bwMode="auto">
            <a:xfrm>
              <a:off x="4325812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추가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87" name="AutoShape 279"/>
            <p:cNvSpPr>
              <a:spLocks noChangeArrowheads="1"/>
            </p:cNvSpPr>
            <p:nvPr/>
          </p:nvSpPr>
          <p:spPr bwMode="auto">
            <a:xfrm>
              <a:off x="5156024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삭제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88" name="AutoShape 279"/>
            <p:cNvSpPr>
              <a:spLocks noChangeArrowheads="1"/>
            </p:cNvSpPr>
            <p:nvPr/>
          </p:nvSpPr>
          <p:spPr bwMode="auto">
            <a:xfrm>
              <a:off x="3801481" y="2565010"/>
              <a:ext cx="46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불러오기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</p:grpSp>
      <p:sp>
        <p:nvSpPr>
          <p:cNvPr id="90" name="AutoShape 279"/>
          <p:cNvSpPr>
            <a:spLocks noChangeArrowheads="1"/>
          </p:cNvSpPr>
          <p:nvPr/>
        </p:nvSpPr>
        <p:spPr bwMode="auto">
          <a:xfrm>
            <a:off x="5426468" y="444477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4" name="AutoShape 279"/>
          <p:cNvSpPr>
            <a:spLocks noChangeArrowheads="1"/>
          </p:cNvSpPr>
          <p:nvPr/>
        </p:nvSpPr>
        <p:spPr bwMode="auto">
          <a:xfrm>
            <a:off x="4903808" y="4444772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95" name="그룹 94"/>
          <p:cNvGrpSpPr/>
          <p:nvPr/>
        </p:nvGrpSpPr>
        <p:grpSpPr>
          <a:xfrm>
            <a:off x="3656820" y="4903206"/>
            <a:ext cx="2128423" cy="215900"/>
            <a:chOff x="3801481" y="2565010"/>
            <a:chExt cx="2128423" cy="215900"/>
          </a:xfrm>
        </p:grpSpPr>
        <p:sp>
          <p:nvSpPr>
            <p:cNvPr id="96" name="AutoShape 279"/>
            <p:cNvSpPr>
              <a:spLocks noChangeArrowheads="1"/>
            </p:cNvSpPr>
            <p:nvPr/>
          </p:nvSpPr>
          <p:spPr bwMode="auto">
            <a:xfrm>
              <a:off x="5571129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저장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2" name="AutoShape 279"/>
            <p:cNvSpPr>
              <a:spLocks noChangeArrowheads="1"/>
            </p:cNvSpPr>
            <p:nvPr/>
          </p:nvSpPr>
          <p:spPr bwMode="auto">
            <a:xfrm>
              <a:off x="4740918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수정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3" name="AutoShape 279"/>
            <p:cNvSpPr>
              <a:spLocks noChangeArrowheads="1"/>
            </p:cNvSpPr>
            <p:nvPr/>
          </p:nvSpPr>
          <p:spPr bwMode="auto">
            <a:xfrm>
              <a:off x="4325812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추가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4" name="AutoShape 279"/>
            <p:cNvSpPr>
              <a:spLocks noChangeArrowheads="1"/>
            </p:cNvSpPr>
            <p:nvPr/>
          </p:nvSpPr>
          <p:spPr bwMode="auto">
            <a:xfrm>
              <a:off x="5156024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삭제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5" name="AutoShape 279"/>
            <p:cNvSpPr>
              <a:spLocks noChangeArrowheads="1"/>
            </p:cNvSpPr>
            <p:nvPr/>
          </p:nvSpPr>
          <p:spPr bwMode="auto">
            <a:xfrm>
              <a:off x="3801481" y="2565010"/>
              <a:ext cx="46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불러오기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</p:grpSp>
      <p:sp>
        <p:nvSpPr>
          <p:cNvPr id="106" name="직사각형 10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107" name="표 106"/>
          <p:cNvGraphicFramePr>
            <a:graphicFrameLocks noGrp="1"/>
          </p:cNvGraphicFramePr>
          <p:nvPr/>
        </p:nvGraphicFramePr>
        <p:xfrm>
          <a:off x="505804" y="2621398"/>
          <a:ext cx="1782826" cy="647700"/>
        </p:xfrm>
        <a:graphic>
          <a:graphicData uri="http://schemas.openxmlformats.org/drawingml/2006/table">
            <a:tbl>
              <a:tblPr/>
              <a:tblGrid>
                <a:gridCol w="367629"/>
                <a:gridCol w="659197"/>
                <a:gridCol w="756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2014-02-28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2013-05-31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23872" y="2047558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3050"/>
            <a:ext cx="5691889" cy="42754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0084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325171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740277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155383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33591"/>
          <a:ext cx="3528000" cy="32872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9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개발계획과 중간 평가 일정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견적일정 프로그램 활용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정의된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Rule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에 따라 순번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종료일이 자동생성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업무종료일과 처리여부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지연일은 견적 일정관리와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위에서 입력한 내용을 저장하면 아래에 달력의 형식으로 일자가 보여지도록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수동 메일 공지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 담당 부서에게 업무 알림 메일을 보낼 수 있도록 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버튼 누르면 메일 발송 가능한 화면이 팝업 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(Text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는 추후 확정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내용을 전달하는 확정된 메시지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수정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or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추가설정 사항 없음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자동 메일 공지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각 업무 종료일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협의 필요함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전부터 업무 종료가 되지 않은 경우에 업무 알림 메일을 자동으로 발송함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발송 대상은 업무 담당 부서의 담당자로 등록된 사람이 대상임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>
            <a:off x="4827870" y="2500372"/>
            <a:ext cx="972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>
              <a:defRPr/>
            </a:pPr>
            <a:r>
              <a:rPr lang="ko-KR" altLang="en-US" sz="8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sym typeface="Arial"/>
              </a:rPr>
              <a:t>공지 메일 발송</a:t>
            </a:r>
            <a:endParaRPr lang="ko-KR" altLang="en-US" sz="800" b="1" dirty="0">
              <a:solidFill>
                <a:srgbClr val="000000"/>
              </a:solidFill>
              <a:latin typeface="+mj-lt"/>
              <a:ea typeface="가는각진제목체" pitchFamily="18" charset="-127"/>
              <a:sym typeface="Arial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395464" y="427881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10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4651067" y="233730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/>
        </p:nvGraphicFramePr>
        <p:xfrm>
          <a:off x="581309" y="4507431"/>
          <a:ext cx="5308315" cy="1343800"/>
        </p:xfrm>
        <a:graphic>
          <a:graphicData uri="http://schemas.openxmlformats.org/drawingml/2006/table">
            <a:tbl>
              <a:tblPr/>
              <a:tblGrid>
                <a:gridCol w="1299238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</a:tblGrid>
              <a:tr h="13963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업무명 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15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16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17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19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20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21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22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</a:tr>
              <a:tr h="1396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수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목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금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수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목표수익률 확정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목표원가 확정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21849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4785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경영진 보고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0" name="직선 화살표 연결선 89"/>
          <p:cNvCxnSpPr/>
          <p:nvPr/>
        </p:nvCxnSpPr>
        <p:spPr bwMode="auto">
          <a:xfrm flipV="1">
            <a:off x="5010129" y="4395313"/>
            <a:ext cx="0" cy="144000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diamond"/>
          </a:ln>
          <a:effectLst/>
        </p:spPr>
      </p:cxnSp>
      <p:sp>
        <p:nvSpPr>
          <p:cNvPr id="93" name="직사각형 92"/>
          <p:cNvSpPr/>
          <p:nvPr/>
        </p:nvSpPr>
        <p:spPr bwMode="auto">
          <a:xfrm>
            <a:off x="4549936" y="4194606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en-US" altLang="ko-KR" sz="7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Today</a:t>
            </a:r>
            <a:endParaRPr lang="ko-KR" altLang="en-US" sz="7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96" name="표 95"/>
          <p:cNvGraphicFramePr>
            <a:graphicFrameLocks noGrp="1"/>
          </p:cNvGraphicFramePr>
          <p:nvPr/>
        </p:nvGraphicFramePr>
        <p:xfrm>
          <a:off x="597679" y="2775980"/>
          <a:ext cx="5220000" cy="1295400"/>
        </p:xfrm>
        <a:graphic>
          <a:graphicData uri="http://schemas.openxmlformats.org/drawingml/2006/table">
            <a:tbl>
              <a:tblPr/>
              <a:tblGrid>
                <a:gridCol w="288000"/>
                <a:gridCol w="324000"/>
                <a:gridCol w="1116000"/>
                <a:gridCol w="468000"/>
                <a:gridCol w="648000"/>
                <a:gridCol w="648000"/>
                <a:gridCol w="288000"/>
                <a:gridCol w="648000"/>
                <a:gridCol w="468000"/>
                <a:gridCol w="324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순번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업무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담당부서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시작일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종료일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기간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업무종료일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처리 여부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지연일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T10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목표수익률 확정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ALL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T20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목표원가 확정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ALL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T30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2013-04-02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T40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+1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T50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T60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T70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경영진 보고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2013-04-29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latin typeface="+mj-lt"/>
                          <a:ea typeface="가는각진제목체" pitchFamily="18" charset="-127"/>
                        </a:rPr>
                        <a:t>●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+1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타원 86"/>
          <p:cNvSpPr/>
          <p:nvPr/>
        </p:nvSpPr>
        <p:spPr>
          <a:xfrm>
            <a:off x="434731" y="262363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9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(5/5)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423872" y="2060810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3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55" name="한쪽 모서리가 잘린 사각형 54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57" name="한쪽 모서리가 잘린 사각형 56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58" name="한쪽 모서리가 잘린 사각형 57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61" name="한쪽 모서리가 잘린 사각형 60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62" name="한쪽 모서리가 잘린 사각형 61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65" name="한쪽 모서리가 잘린 사각형 64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설정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확정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4" name="직사각형 124"/>
          <p:cNvSpPr>
            <a:spLocks noChangeArrowheads="1"/>
          </p:cNvSpPr>
          <p:nvPr/>
        </p:nvSpPr>
        <p:spPr bwMode="auto">
          <a:xfrm>
            <a:off x="344360" y="2205038"/>
            <a:ext cx="5705134" cy="303691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429070" y="2852920"/>
          <a:ext cx="5559779" cy="764682"/>
        </p:xfrm>
        <a:graphic>
          <a:graphicData uri="http://schemas.openxmlformats.org/drawingml/2006/table">
            <a:tbl>
              <a:tblPr/>
              <a:tblGrid>
                <a:gridCol w="256259"/>
                <a:gridCol w="292867"/>
                <a:gridCol w="292867"/>
                <a:gridCol w="915210"/>
                <a:gridCol w="841993"/>
                <a:gridCol w="329476"/>
                <a:gridCol w="402692"/>
                <a:gridCol w="292867"/>
                <a:gridCol w="467273"/>
                <a:gridCol w="467273"/>
                <a:gridCol w="377972"/>
                <a:gridCol w="623030"/>
              </a:tblGrid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 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T13007-TMA-T01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0.3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Group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T13009-TRA-T01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0.5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Group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T13010-TRA-T01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0.0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N/A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Group 82"/>
          <p:cNvGraphicFramePr>
            <a:graphicFrameLocks noGrp="1"/>
          </p:cNvGraphicFramePr>
          <p:nvPr/>
        </p:nvGraphicFramePr>
        <p:xfrm>
          <a:off x="6149460" y="1022950"/>
          <a:ext cx="3528000" cy="39151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입력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/OEM/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사양으로 검색가능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포함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는 필수 조회조건 아님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따라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목록 표시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특정 프로젝트를 선택하여야 다음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개의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으로 이동 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탭은 자체 조회 기능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X)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간에는 선후관계 성립하지 않음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표시하고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최종값과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차이원인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기능 버튼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:Rule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의한 목표수익률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산출한 정보는 저장함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산출 </a:t>
                      </a:r>
                      <a:r>
                        <a:rPr lang="en-US" altLang="ko-KR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Rule:</a:t>
                      </a: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수익성 분석의  경상이익률</a:t>
                      </a:r>
                      <a:endParaRPr lang="en-US" altLang="ko-KR" sz="1000" b="1" baseline="0" dirty="0" smtClean="0">
                        <a:solidFill>
                          <a:srgbClr val="0000CC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               (</a:t>
                      </a:r>
                      <a:r>
                        <a:rPr lang="ko-KR" altLang="en-US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합계연도 기준</a:t>
                      </a: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ko-KR" sz="1100" b="1" dirty="0" smtClean="0">
                        <a:solidFill>
                          <a:srgbClr val="0000CC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Data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 시 선택을 클릭하고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일치하는 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:Rule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의한 산출값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수익률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원가관리에서 수기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20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 이내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Text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–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Guide’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수익률은 소수점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첫째자리까지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입력하고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Guide,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목표수익률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공통으로 적용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0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sp>
        <p:nvSpPr>
          <p:cNvPr id="76" name="모서리가 둥근 직사각형 75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8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79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2" name="TextBox 81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3" name="실행 단추: 앞으로 또는 다음 8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5" name="TextBox 9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6" name="실행 단추: 앞으로 또는 다음 9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2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104" name="TextBox 103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5" name="실행 단추: 앞으로 또는 다음 104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6" name="타원 105"/>
          <p:cNvSpPr/>
          <p:nvPr/>
        </p:nvSpPr>
        <p:spPr>
          <a:xfrm>
            <a:off x="272350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7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9" name="TextBox 10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0" name="실행 단추: 앞으로 또는 다음 10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6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4" name="AutoShape 279"/>
          <p:cNvSpPr>
            <a:spLocks noChangeArrowheads="1"/>
          </p:cNvSpPr>
          <p:nvPr/>
        </p:nvSpPr>
        <p:spPr bwMode="auto">
          <a:xfrm>
            <a:off x="5595888" y="24507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5" name="AutoShape 279"/>
          <p:cNvSpPr>
            <a:spLocks noChangeArrowheads="1"/>
          </p:cNvSpPr>
          <p:nvPr/>
        </p:nvSpPr>
        <p:spPr bwMode="auto">
          <a:xfrm>
            <a:off x="5168071" y="24507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6" name="AutoShape 279"/>
          <p:cNvSpPr>
            <a:spLocks noChangeArrowheads="1"/>
          </p:cNvSpPr>
          <p:nvPr/>
        </p:nvSpPr>
        <p:spPr bwMode="auto">
          <a:xfrm>
            <a:off x="4487030" y="2459090"/>
            <a:ext cx="612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Guide </a:t>
            </a: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687518" y="2857110"/>
            <a:ext cx="3348000" cy="284553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5" name="설명선 2(강조선) 54"/>
          <p:cNvSpPr/>
          <p:nvPr/>
        </p:nvSpPr>
        <p:spPr bwMode="auto">
          <a:xfrm>
            <a:off x="543637" y="2287734"/>
            <a:ext cx="1240923" cy="455076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2349"/>
              <a:gd name="adj5" fmla="val 115290"/>
              <a:gd name="adj6" fmla="val 138791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조회조건에 일치하는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정보 표시</a:t>
            </a:r>
          </a:p>
        </p:txBody>
      </p:sp>
      <p:sp>
        <p:nvSpPr>
          <p:cNvPr id="56" name="오른쪽 중괄호 55"/>
          <p:cNvSpPr/>
          <p:nvPr/>
        </p:nvSpPr>
        <p:spPr bwMode="auto">
          <a:xfrm rot="5400000">
            <a:off x="4718429" y="3456051"/>
            <a:ext cx="115442" cy="468000"/>
          </a:xfrm>
          <a:prstGeom prst="rightBrace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0" name="오른쪽 중괄호 59"/>
          <p:cNvSpPr/>
          <p:nvPr/>
        </p:nvSpPr>
        <p:spPr bwMode="auto">
          <a:xfrm rot="5400000">
            <a:off x="5631329" y="3384051"/>
            <a:ext cx="115442" cy="612000"/>
          </a:xfrm>
          <a:prstGeom prst="rightBrace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2" name="직사각형 61"/>
          <p:cNvSpPr/>
          <p:nvPr/>
        </p:nvSpPr>
        <p:spPr bwMode="auto">
          <a:xfrm>
            <a:off x="4930729" y="4005080"/>
            <a:ext cx="886391" cy="28804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직접입력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(Key-In)</a:t>
            </a:r>
          </a:p>
        </p:txBody>
      </p:sp>
      <p:cxnSp>
        <p:nvCxnSpPr>
          <p:cNvPr id="70" name="직선 연결선 69"/>
          <p:cNvCxnSpPr>
            <a:stCxn id="62" idx="0"/>
            <a:endCxn id="56" idx="1"/>
          </p:cNvCxnSpPr>
          <p:nvPr/>
        </p:nvCxnSpPr>
        <p:spPr bwMode="auto">
          <a:xfrm flipH="1" flipV="1">
            <a:off x="4776150" y="3747772"/>
            <a:ext cx="597775" cy="2573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29292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1" name="직선 연결선 70"/>
          <p:cNvCxnSpPr>
            <a:stCxn id="62" idx="0"/>
            <a:endCxn id="60" idx="1"/>
          </p:cNvCxnSpPr>
          <p:nvPr/>
        </p:nvCxnSpPr>
        <p:spPr bwMode="auto">
          <a:xfrm flipV="1">
            <a:off x="5373925" y="3747772"/>
            <a:ext cx="315125" cy="2573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29292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0" name="직사각형 99"/>
          <p:cNvSpPr/>
          <p:nvPr/>
        </p:nvSpPr>
        <p:spPr bwMode="auto">
          <a:xfrm>
            <a:off x="4052800" y="2857111"/>
            <a:ext cx="468400" cy="760492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3" name="설명선 2(강조선) 102"/>
          <p:cNvSpPr/>
          <p:nvPr/>
        </p:nvSpPr>
        <p:spPr bwMode="auto">
          <a:xfrm>
            <a:off x="2470750" y="3920370"/>
            <a:ext cx="1008140" cy="455076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8648"/>
              <a:gd name="adj5" fmla="val -60527"/>
              <a:gd name="adj6" fmla="val 173905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‘Guide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버튼으로 값 산출</a:t>
            </a:r>
          </a:p>
        </p:txBody>
      </p:sp>
      <p:sp>
        <p:nvSpPr>
          <p:cNvPr id="117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18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19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4994888" y="64348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414880" y="4521850"/>
            <a:ext cx="4392000" cy="46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lIns="36000" rIns="36000" rtlCol="0" anchor="ctr" anchorCtr="0"/>
          <a:lstStyle/>
          <a:p>
            <a:pPr eaLnBrk="0" latinLnBrk="0" hangingPunct="0">
              <a:lnSpc>
                <a:spcPct val="90000"/>
              </a:lnSpc>
            </a:pPr>
            <a:r>
              <a:rPr lang="en-US" altLang="ko-KR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※</a:t>
            </a:r>
            <a:r>
              <a:rPr lang="ko-KR" altLang="en-US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각 </a:t>
            </a:r>
            <a:r>
              <a:rPr lang="en-US" altLang="ko-KR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Tab</a:t>
            </a:r>
            <a:r>
              <a:rPr lang="ko-KR" altLang="en-US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간 관계</a:t>
            </a:r>
            <a:endParaRPr lang="en-US" altLang="ko-KR" sz="10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수익률 관리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에서 특정 목표원가 코드를 선택하여야 다음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4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개의 탭으로 이동 가능</a:t>
            </a:r>
            <a:endParaRPr lang="en-US" altLang="ko-KR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대표사양 관리 이하에서는 좌상단에 선택된  프로젝트의 프로젝트 명과 목표원가 코드 표시</a:t>
            </a:r>
          </a:p>
        </p:txBody>
      </p:sp>
      <p:grpSp>
        <p:nvGrpSpPr>
          <p:cNvPr id="69" name="그룹 68"/>
          <p:cNvGrpSpPr/>
          <p:nvPr/>
        </p:nvGrpSpPr>
        <p:grpSpPr>
          <a:xfrm>
            <a:off x="344360" y="1963400"/>
            <a:ext cx="5496340" cy="252000"/>
            <a:chOff x="344360" y="1963400"/>
            <a:chExt cx="5496340" cy="252000"/>
          </a:xfrm>
        </p:grpSpPr>
        <p:sp>
          <p:nvSpPr>
            <p:cNvPr id="51" name="한쪽 모서리가 잘린 사각형 50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46" name="한쪽 모서리가 잘린 사각형 45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49" name="한쪽 모서리가 잘린 사각형 48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50" name="한쪽 모서리가 잘린 사각형 4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8" name="타원 67"/>
          <p:cNvSpPr/>
          <p:nvPr/>
        </p:nvSpPr>
        <p:spPr>
          <a:xfrm>
            <a:off x="258588" y="181938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설정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 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</a:t>
            </a:r>
          </a:p>
        </p:txBody>
      </p:sp>
      <p:sp>
        <p:nvSpPr>
          <p:cNvPr id="54" name="직사각형 124"/>
          <p:cNvSpPr>
            <a:spLocks noChangeArrowheads="1"/>
          </p:cNvSpPr>
          <p:nvPr/>
        </p:nvSpPr>
        <p:spPr bwMode="auto">
          <a:xfrm>
            <a:off x="344360" y="2217950"/>
            <a:ext cx="5688000" cy="35153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58" name="Group 82"/>
          <p:cNvGraphicFramePr>
            <a:graphicFrameLocks noGrp="1"/>
          </p:cNvGraphicFramePr>
          <p:nvPr/>
        </p:nvGraphicFramePr>
        <p:xfrm>
          <a:off x="6149460" y="1022950"/>
          <a:ext cx="3528000" cy="31615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산출과 부문별배부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 활용할 원가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불러오기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기존에 산출된 견적원가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중에서 선택함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‘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관리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선택된 항목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찾기 기능 부여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/OEM/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중 동일한 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사양으로 지정된 코드만 선택가능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Validation)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선택한 코드의 원가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산출값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이때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원가산출에 사용된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자재단가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투자비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 관련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들도 불러온다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표시는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X).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불러온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목표원가 쪽에 저장하고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다음에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본 화면을 조회하는 경우 해당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보이도록 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단위당 금액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물량을 반영한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총금액과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단위당 금액 중 선택 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Default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값은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총금액으로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하며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변경가능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총금액인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경우 단위는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백만원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단위당인경우 원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sp>
        <p:nvSpPr>
          <p:cNvPr id="76" name="모서리가 둥근 직사각형 75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8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79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2" name="TextBox 81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3" name="실행 단추: 앞으로 또는 다음 8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5" name="TextBox 9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6" name="실행 단추: 앞으로 또는 다음 9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2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104" name="TextBox 103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5" name="실행 단추: 앞으로 또는 다음 104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7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9" name="TextBox 10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0" name="실행 단추: 앞으로 또는 다음 10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6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344360" y="1963400"/>
            <a:ext cx="5496340" cy="252000"/>
            <a:chOff x="344360" y="1963400"/>
            <a:chExt cx="5496340" cy="252000"/>
          </a:xfrm>
        </p:grpSpPr>
        <p:sp>
          <p:nvSpPr>
            <p:cNvPr id="43" name="한쪽 모서리가 잘린 사각형 42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44" name="한쪽 모서리가 잘린 사각형 43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45" name="한쪽 모서리가 잘린 사각형 4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47" name="한쪽 모서리가 잘린 사각형 46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48" name="한쪽 모서리가 잘린 사각형 47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8" name="타원 67"/>
          <p:cNvSpPr/>
          <p:nvPr/>
        </p:nvSpPr>
        <p:spPr>
          <a:xfrm>
            <a:off x="1098193" y="179499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416370" y="228903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428654" y="3104978"/>
          <a:ext cx="5468638" cy="2484322"/>
        </p:xfrm>
        <a:graphic>
          <a:graphicData uri="http://schemas.openxmlformats.org/drawingml/2006/table">
            <a:tbl>
              <a:tblPr/>
              <a:tblGrid>
                <a:gridCol w="653758"/>
                <a:gridCol w="601860"/>
                <a:gridCol w="601860"/>
                <a:gridCol w="601860"/>
                <a:gridCol w="601860"/>
                <a:gridCol w="601860"/>
                <a:gridCol w="601860"/>
                <a:gridCol w="601860"/>
                <a:gridCol w="601860"/>
              </a:tblGrid>
              <a:tr h="162023"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백만원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물 량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21,286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393,783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9,387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173,658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4,900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90,653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2,070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2,173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2,642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2,774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2,912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19,765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3,489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7,012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7,401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7,509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7,620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54,979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1,237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22,877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10,459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21,436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22,294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22,533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22,783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165,397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108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1,955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  82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271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1,322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1,654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5,503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1,494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1,764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6,849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842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12,203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23,578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22,767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22,895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23,152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175,005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  87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842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2,816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110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700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1,346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3837416" y="2289032"/>
          <a:ext cx="1116000" cy="432000"/>
        </p:xfrm>
        <a:graphic>
          <a:graphicData uri="http://schemas.openxmlformats.org/drawingml/2006/table">
            <a:tbl>
              <a:tblPr/>
              <a:tblGrid>
                <a:gridCol w="1116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9" name="그룹 68"/>
          <p:cNvGrpSpPr/>
          <p:nvPr/>
        </p:nvGrpSpPr>
        <p:grpSpPr>
          <a:xfrm>
            <a:off x="5049527" y="2420860"/>
            <a:ext cx="899421" cy="215900"/>
            <a:chOff x="3656820" y="2781040"/>
            <a:chExt cx="899421" cy="215900"/>
          </a:xfrm>
        </p:grpSpPr>
        <p:sp>
          <p:nvSpPr>
            <p:cNvPr id="62" name="AutoShape 279"/>
            <p:cNvSpPr>
              <a:spLocks noChangeArrowheads="1"/>
            </p:cNvSpPr>
            <p:nvPr/>
          </p:nvSpPr>
          <p:spPr bwMode="auto">
            <a:xfrm>
              <a:off x="4197466" y="278104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저장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65" name="AutoShape 279"/>
            <p:cNvSpPr>
              <a:spLocks noChangeArrowheads="1"/>
            </p:cNvSpPr>
            <p:nvPr/>
          </p:nvSpPr>
          <p:spPr bwMode="auto">
            <a:xfrm>
              <a:off x="3656820" y="2781040"/>
              <a:ext cx="46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불러오기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6970" y="2507732"/>
            <a:ext cx="198000" cy="1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직사각형 51"/>
          <p:cNvSpPr/>
          <p:nvPr/>
        </p:nvSpPr>
        <p:spPr bwMode="auto">
          <a:xfrm>
            <a:off x="442254" y="3284980"/>
            <a:ext cx="655939" cy="2304320"/>
          </a:xfrm>
          <a:prstGeom prst="rect">
            <a:avLst/>
          </a:prstGeom>
          <a:solidFill>
            <a:srgbClr val="FF9999">
              <a:alpha val="20000"/>
            </a:srgbClr>
          </a:solidFill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5" name="설명선 2(강조선) 54"/>
          <p:cNvSpPr/>
          <p:nvPr/>
        </p:nvSpPr>
        <p:spPr bwMode="auto">
          <a:xfrm>
            <a:off x="1206196" y="5818664"/>
            <a:ext cx="2047471" cy="455076"/>
          </a:xfrm>
          <a:prstGeom prst="accentCallout2">
            <a:avLst>
              <a:gd name="adj1" fmla="val 33039"/>
              <a:gd name="adj2" fmla="val -1761"/>
              <a:gd name="adj3" fmla="val 33039"/>
              <a:gd name="adj4" fmla="val -7843"/>
              <a:gd name="adj5" fmla="val -48136"/>
              <a:gd name="adj6" fmla="val -23826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선택한 원가코드의 모든 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항목별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금액을 표시함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440754" y="3284980"/>
            <a:ext cx="5448871" cy="215458"/>
          </a:xfrm>
          <a:prstGeom prst="rect">
            <a:avLst/>
          </a:prstGeom>
          <a:solidFill>
            <a:srgbClr val="FF9999">
              <a:alpha val="20000"/>
            </a:srgbClr>
          </a:solidFill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1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3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4832222" y="2828576"/>
            <a:ext cx="1116000" cy="215900"/>
            <a:chOff x="4832222" y="2828576"/>
            <a:chExt cx="1116000" cy="215900"/>
          </a:xfrm>
        </p:grpSpPr>
        <p:sp>
          <p:nvSpPr>
            <p:cNvPr id="51" name="AutoShape 279"/>
            <p:cNvSpPr>
              <a:spLocks noChangeArrowheads="1"/>
            </p:cNvSpPr>
            <p:nvPr/>
          </p:nvSpPr>
          <p:spPr bwMode="auto">
            <a:xfrm>
              <a:off x="4832222" y="2828576"/>
              <a:ext cx="1116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err="1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총금액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단위당 금액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70" name="실행 단추: 앞으로 또는 다음 69">
              <a:hlinkClick r:id="" action="ppaction://noaction" highlightClick="1"/>
            </p:cNvPr>
            <p:cNvSpPr/>
            <p:nvPr/>
          </p:nvSpPr>
          <p:spPr bwMode="auto">
            <a:xfrm rot="5400000">
              <a:off x="5756746" y="285943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목표절감액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 부여 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31" name="Group 82"/>
          <p:cNvGraphicFramePr>
            <a:graphicFrameLocks noGrp="1"/>
          </p:cNvGraphicFramePr>
          <p:nvPr/>
        </p:nvGraphicFramePr>
        <p:xfrm>
          <a:off x="6149460" y="1026115"/>
          <a:ext cx="3526994" cy="3671280"/>
        </p:xfrm>
        <a:graphic>
          <a:graphicData uri="http://schemas.openxmlformats.org/drawingml/2006/table">
            <a:tbl>
              <a:tblPr/>
              <a:tblGrid>
                <a:gridCol w="574994"/>
                <a:gridCol w="2952000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절감 배부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산출된 내역이 있어야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5-1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협의된 목표 수익률과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기준이 되는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현상원가를 바탕으로 부문별 목표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산출함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개당 기준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logic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따라 목표금액을 산출함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산출된 금액을 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Default: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목표로 도달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해야하는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금액을 표시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절감해야하는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금액으로 표시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기존 원가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–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기초 정보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관리에서 확정한 최종 목표 수익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수익률을 이용하여 산출한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절감대상 총원가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(∑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연간 합계기준 원가항목별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판가제외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산출된 절감 대상 금액을 각 부문별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원가항목별로 집계함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 선택과 관계없이 절감목표금액으로 표시함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Arial"/>
              <a:ea typeface="가는각진제목체"/>
            </a:endParaRPr>
          </a:p>
        </p:txBody>
      </p:sp>
      <p:sp>
        <p:nvSpPr>
          <p:cNvPr id="54" name="직사각형 53"/>
          <p:cNvSpPr/>
          <p:nvPr/>
        </p:nvSpPr>
        <p:spPr bwMode="auto">
          <a:xfrm rot="20651343">
            <a:off x="6742699" y="4959197"/>
            <a:ext cx="2376330" cy="9360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목표금액으로 </a:t>
            </a:r>
            <a:endParaRPr lang="en-US" altLang="ko-KR" sz="18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선택한 화면</a:t>
            </a:r>
          </a:p>
        </p:txBody>
      </p:sp>
      <p:sp>
        <p:nvSpPr>
          <p:cNvPr id="57" name="모서리가 둥근 직사각형 56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9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6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64" name="TextBox 6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5" name="실행 단추: 앞으로 또는 다음 64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71" name="TextBox 7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76" name="TextBox 7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7" name="실행 단추: 앞으로 또는 다음 7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8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5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직사각형 124"/>
          <p:cNvSpPr>
            <a:spLocks noChangeArrowheads="1"/>
          </p:cNvSpPr>
          <p:nvPr/>
        </p:nvSpPr>
        <p:spPr bwMode="auto">
          <a:xfrm>
            <a:off x="344360" y="2051703"/>
            <a:ext cx="5688000" cy="42570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344360" y="1797154"/>
            <a:ext cx="5496340" cy="252000"/>
            <a:chOff x="344360" y="1963400"/>
            <a:chExt cx="5496340" cy="252000"/>
          </a:xfrm>
        </p:grpSpPr>
        <p:sp>
          <p:nvSpPr>
            <p:cNvPr id="52" name="한쪽 모서리가 잘린 사각형 51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53" name="한쪽 모서리가 잘린 사각형 5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55" name="한쪽 모서리가 잘린 사각형 5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56" name="한쪽 모서리가 잘린 사각형 5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1" name="타원 60"/>
          <p:cNvSpPr/>
          <p:nvPr/>
        </p:nvSpPr>
        <p:spPr>
          <a:xfrm>
            <a:off x="2106333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465138" y="209840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AutoShape 279"/>
          <p:cNvSpPr>
            <a:spLocks noChangeArrowheads="1"/>
          </p:cNvSpPr>
          <p:nvPr/>
        </p:nvSpPr>
        <p:spPr bwMode="auto">
          <a:xfrm>
            <a:off x="4280526" y="21083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836324" y="21083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산출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451801" y="2513828"/>
          <a:ext cx="5437823" cy="2643120"/>
        </p:xfrm>
        <a:graphic>
          <a:graphicData uri="http://schemas.openxmlformats.org/drawingml/2006/table">
            <a:tbl>
              <a:tblPr/>
              <a:tblGrid>
                <a:gridCol w="576855"/>
                <a:gridCol w="607621"/>
                <a:gridCol w="607621"/>
                <a:gridCol w="607621"/>
                <a:gridCol w="607621"/>
                <a:gridCol w="607621"/>
                <a:gridCol w="607621"/>
                <a:gridCol w="607621"/>
                <a:gridCol w="607621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179,812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75,991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31,909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38,796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40,735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42,761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39,221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128,083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102,967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108,680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110,265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111,895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109,100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45,411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45,397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429,365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360,165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372,764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376,289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379,945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373,530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3,304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1,366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1,542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1,630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5,874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4,185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3,700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3,879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48,531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24,288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11,997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8,399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4,640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10,920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54,845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25,903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1,718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13,591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444,857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415,907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391,722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390,019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389,989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403,514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3,863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25,086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49,271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50,974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51,004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37,485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-0.88%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5.69%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11.17%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11.56%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11.57%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8.50%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93" name="그룹 92"/>
          <p:cNvGrpSpPr/>
          <p:nvPr/>
        </p:nvGrpSpPr>
        <p:grpSpPr>
          <a:xfrm>
            <a:off x="4701536" y="2289032"/>
            <a:ext cx="1260000" cy="215900"/>
            <a:chOff x="4736970" y="2252586"/>
            <a:chExt cx="1260000" cy="215900"/>
          </a:xfrm>
        </p:grpSpPr>
        <p:sp>
          <p:nvSpPr>
            <p:cNvPr id="109" name="AutoShape 279"/>
            <p:cNvSpPr>
              <a:spLocks noChangeArrowheads="1"/>
            </p:cNvSpPr>
            <p:nvPr/>
          </p:nvSpPr>
          <p:spPr bwMode="auto">
            <a:xfrm>
              <a:off x="4736970" y="2252586"/>
              <a:ext cx="1260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목표금액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절감목표금액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11" name="실행 단추: 앞으로 또는 다음 110">
              <a:hlinkClick r:id="" action="ppaction://noaction" highlightClick="1"/>
            </p:cNvPr>
            <p:cNvSpPr/>
            <p:nvPr/>
          </p:nvSpPr>
          <p:spPr bwMode="auto">
            <a:xfrm rot="5400000">
              <a:off x="5805494" y="228344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66" name="직사각형 124"/>
          <p:cNvSpPr>
            <a:spLocks noChangeArrowheads="1"/>
          </p:cNvSpPr>
          <p:nvPr/>
        </p:nvSpPr>
        <p:spPr bwMode="auto">
          <a:xfrm>
            <a:off x="616198" y="5240299"/>
            <a:ext cx="1820381" cy="876783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477292" y="519267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806707" y="5321849"/>
          <a:ext cx="1435100" cy="504000"/>
        </p:xfrm>
        <a:graphic>
          <a:graphicData uri="http://schemas.openxmlformats.org/drawingml/2006/table">
            <a:tbl>
              <a:tblPr/>
              <a:tblGrid>
                <a:gridCol w="812800"/>
                <a:gridCol w="622300"/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목표수익율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8.50%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677227" y="536126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677227" y="561499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4" name="직사각형 124"/>
          <p:cNvSpPr>
            <a:spLocks noChangeArrowheads="1"/>
          </p:cNvSpPr>
          <p:nvPr/>
        </p:nvSpPr>
        <p:spPr bwMode="auto">
          <a:xfrm>
            <a:off x="2718624" y="5242859"/>
            <a:ext cx="2450406" cy="1008000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2579717" y="51952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 7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86" name="표 85"/>
          <p:cNvGraphicFramePr>
            <a:graphicFrameLocks noGrp="1"/>
          </p:cNvGraphicFramePr>
          <p:nvPr/>
        </p:nvGraphicFramePr>
        <p:xfrm>
          <a:off x="2818989" y="5321849"/>
          <a:ext cx="2006600" cy="864000"/>
        </p:xfrm>
        <a:graphic>
          <a:graphicData uri="http://schemas.openxmlformats.org/drawingml/2006/table">
            <a:tbl>
              <a:tblPr/>
              <a:tblGrid>
                <a:gridCol w="599127"/>
                <a:gridCol w="684717"/>
                <a:gridCol w="722756"/>
              </a:tblGrid>
              <a:tr h="14400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목표절감금액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21,190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10,595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생산기술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감가상각비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5,347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목표절감액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 부여 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31" name="Group 82"/>
          <p:cNvGraphicFramePr>
            <a:graphicFrameLocks noGrp="1"/>
          </p:cNvGraphicFramePr>
          <p:nvPr/>
        </p:nvGraphicFramePr>
        <p:xfrm>
          <a:off x="6149460" y="1026115"/>
          <a:ext cx="3526994" cy="1775280"/>
        </p:xfrm>
        <a:graphic>
          <a:graphicData uri="http://schemas.openxmlformats.org/drawingml/2006/table">
            <a:tbl>
              <a:tblPr/>
              <a:tblGrid>
                <a:gridCol w="574994"/>
                <a:gridCol w="2952000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절감 배부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산출된 내역이 있어야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5-2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을 선택한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 정보는 표시하지 않음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항목별로 절감금액을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현재대비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숫자는 손익효과를 의미함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양수인경우 손익 증가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 경우 목표 증가액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∙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그외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긱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 경우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Arial"/>
              <a:ea typeface="가는각진제목체"/>
            </a:endParaRPr>
          </a:p>
        </p:txBody>
      </p:sp>
      <p:sp>
        <p:nvSpPr>
          <p:cNvPr id="57" name="모서리가 둥근 직사각형 56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9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6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64" name="TextBox 6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5" name="실행 단추: 앞으로 또는 다음 64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71" name="TextBox 7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76" name="TextBox 7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7" name="실행 단추: 앞으로 또는 다음 7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8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5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직사각형 124"/>
          <p:cNvSpPr>
            <a:spLocks noChangeArrowheads="1"/>
          </p:cNvSpPr>
          <p:nvPr/>
        </p:nvSpPr>
        <p:spPr bwMode="auto">
          <a:xfrm>
            <a:off x="344360" y="2051703"/>
            <a:ext cx="5688000" cy="42570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50"/>
          <p:cNvGrpSpPr/>
          <p:nvPr/>
        </p:nvGrpSpPr>
        <p:grpSpPr>
          <a:xfrm>
            <a:off x="344360" y="1797154"/>
            <a:ext cx="5496340" cy="252000"/>
            <a:chOff x="344360" y="1963400"/>
            <a:chExt cx="5496340" cy="252000"/>
          </a:xfrm>
        </p:grpSpPr>
        <p:sp>
          <p:nvSpPr>
            <p:cNvPr id="52" name="한쪽 모서리가 잘린 사각형 51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53" name="한쪽 모서리가 잘린 사각형 5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55" name="한쪽 모서리가 잘린 사각형 5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56" name="한쪽 모서리가 잘린 사각형 5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1" name="타원 60"/>
          <p:cNvSpPr/>
          <p:nvPr/>
        </p:nvSpPr>
        <p:spPr>
          <a:xfrm>
            <a:off x="2106333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465138" y="209840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AutoShape 279"/>
          <p:cNvSpPr>
            <a:spLocks noChangeArrowheads="1"/>
          </p:cNvSpPr>
          <p:nvPr/>
        </p:nvSpPr>
        <p:spPr bwMode="auto">
          <a:xfrm>
            <a:off x="4280526" y="21083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836324" y="21083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산출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463996" y="2502778"/>
          <a:ext cx="5283200" cy="2627880"/>
        </p:xfrm>
        <a:graphic>
          <a:graphicData uri="http://schemas.openxmlformats.org/drawingml/2006/table">
            <a:tbl>
              <a:tblPr/>
              <a:tblGrid>
                <a:gridCol w="609600"/>
                <a:gridCol w="584200"/>
                <a:gridCol w="584200"/>
                <a:gridCol w="584200"/>
                <a:gridCol w="584200"/>
                <a:gridCol w="584200"/>
                <a:gridCol w="584200"/>
                <a:gridCol w="584200"/>
                <a:gridCol w="584200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50,317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50,298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21,256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8,926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10,852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11,395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11,961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10,971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35,828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28,803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30,400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30,844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31,300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30,518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12,699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120,104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100,747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104,272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105,258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106,280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104,486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924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1,643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1,171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1,035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1,047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1,085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13,575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6,794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3,356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2,350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3,055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15,342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7,246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3,802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124,438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116,340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124,438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116,340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9" name="직사각형 78"/>
          <p:cNvSpPr/>
          <p:nvPr/>
        </p:nvSpPr>
        <p:spPr bwMode="auto">
          <a:xfrm rot="20651343">
            <a:off x="6559503" y="4497201"/>
            <a:ext cx="2376330" cy="1223573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절감목표금액으로 </a:t>
            </a:r>
            <a:endParaRPr lang="en-US" altLang="ko-KR" sz="18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선택한 화면</a:t>
            </a:r>
          </a:p>
        </p:txBody>
      </p:sp>
      <p:sp>
        <p:nvSpPr>
          <p:cNvPr id="93" name="직사각형 124"/>
          <p:cNvSpPr>
            <a:spLocks noChangeArrowheads="1"/>
          </p:cNvSpPr>
          <p:nvPr/>
        </p:nvSpPr>
        <p:spPr bwMode="auto">
          <a:xfrm>
            <a:off x="616198" y="5240299"/>
            <a:ext cx="1820381" cy="876783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477292" y="519267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102" name="표 101"/>
          <p:cNvGraphicFramePr>
            <a:graphicFrameLocks noGrp="1"/>
          </p:cNvGraphicFramePr>
          <p:nvPr/>
        </p:nvGraphicFramePr>
        <p:xfrm>
          <a:off x="806707" y="5321849"/>
          <a:ext cx="1435100" cy="504000"/>
        </p:xfrm>
        <a:graphic>
          <a:graphicData uri="http://schemas.openxmlformats.org/drawingml/2006/table">
            <a:tbl>
              <a:tblPr/>
              <a:tblGrid>
                <a:gridCol w="812800"/>
                <a:gridCol w="622300"/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목표수익율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8.50%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" name="TextBox 102"/>
          <p:cNvSpPr txBox="1">
            <a:spLocks noChangeArrowheads="1"/>
          </p:cNvSpPr>
          <p:nvPr/>
        </p:nvSpPr>
        <p:spPr bwMode="auto">
          <a:xfrm>
            <a:off x="677227" y="536126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677227" y="561499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5" name="직사각형 124"/>
          <p:cNvSpPr>
            <a:spLocks noChangeArrowheads="1"/>
          </p:cNvSpPr>
          <p:nvPr/>
        </p:nvSpPr>
        <p:spPr bwMode="auto">
          <a:xfrm>
            <a:off x="2718624" y="5242859"/>
            <a:ext cx="2450406" cy="1008000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9" name="타원 108"/>
          <p:cNvSpPr/>
          <p:nvPr/>
        </p:nvSpPr>
        <p:spPr>
          <a:xfrm>
            <a:off x="2579717" y="51952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 7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110" name="표 109"/>
          <p:cNvGraphicFramePr>
            <a:graphicFrameLocks noGrp="1"/>
          </p:cNvGraphicFramePr>
          <p:nvPr/>
        </p:nvGraphicFramePr>
        <p:xfrm>
          <a:off x="2818989" y="5321849"/>
          <a:ext cx="2006600" cy="864000"/>
        </p:xfrm>
        <a:graphic>
          <a:graphicData uri="http://schemas.openxmlformats.org/drawingml/2006/table">
            <a:tbl>
              <a:tblPr/>
              <a:tblGrid>
                <a:gridCol w="599127"/>
                <a:gridCol w="684717"/>
                <a:gridCol w="722756"/>
              </a:tblGrid>
              <a:tr h="14400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목표절감금액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21,190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10,595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생산기술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감가상각비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5,347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11" name="그룹 110"/>
          <p:cNvGrpSpPr/>
          <p:nvPr/>
        </p:nvGrpSpPr>
        <p:grpSpPr>
          <a:xfrm>
            <a:off x="4701536" y="2289032"/>
            <a:ext cx="1260000" cy="215900"/>
            <a:chOff x="4736970" y="2252586"/>
            <a:chExt cx="1260000" cy="215900"/>
          </a:xfrm>
        </p:grpSpPr>
        <p:sp>
          <p:nvSpPr>
            <p:cNvPr id="112" name="AutoShape 279"/>
            <p:cNvSpPr>
              <a:spLocks noChangeArrowheads="1"/>
            </p:cNvSpPr>
            <p:nvPr/>
          </p:nvSpPr>
          <p:spPr bwMode="auto">
            <a:xfrm>
              <a:off x="4736970" y="2252586"/>
              <a:ext cx="1260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목표금액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절감목표금액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13" name="실행 단추: 앞으로 또는 다음 112">
              <a:hlinkClick r:id="" action="ppaction://noaction" highlightClick="1"/>
            </p:cNvPr>
            <p:cNvSpPr/>
            <p:nvPr/>
          </p:nvSpPr>
          <p:spPr bwMode="auto">
            <a:xfrm rot="5400000">
              <a:off x="5805494" y="228344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목표를 수립하기 위한 기초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정의된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따라 자동생성함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관련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Rule: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 목표 </a:t>
            </a:r>
            <a:r>
              <a:rPr kumimoji="0" lang="ko-KR" altLang="en-US" sz="105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절감액을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각 현상원가의 비율로 안분하며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원가항목별로 절감 목표 대상 부서를 사전에 정의함</a:t>
            </a:r>
            <a:endParaRPr kumimoji="0" lang="ko-KR" altLang="en-US" sz="105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사례는 첨부파일 참조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활용할 기초 자료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판가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/TCI/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수량 정보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목표원가 기초정보관리에 입력된 내용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 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②  목표수익률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선택한 견적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endParaRPr kumimoji="0" lang="en-US" altLang="ko-KR" sz="110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 총원가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입력된 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/TCI/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수량정보를 바탕으로 해당 사양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목표원가 코드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총 매출액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(∑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물량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판가는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초도판가와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연도별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TCI Rate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적용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 매출액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(1-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목표수익률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 절감 목표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합계를 기준으로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선택한 현상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견적원가의 총원가 － 목표 총원가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계산함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백만원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단위가 아닌 원단위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 목표의 원가 항목별 배부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합계를 기준으로 총 절감목표금액을 각 원가 항목에 배부함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 관리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절감대상으로 정의된 항목에만 배부 수행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항목별 배부 금액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=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 절감 목표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 항목이 차지하는 비율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절감대상으로 정의된 항목 중 해당원가의 비율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(4)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판가의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판가 기준에 따름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등록한 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수익성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분석시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사용된 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등록한 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× 10%.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물량효과는 고려하지 않으며 연도별로 각각 산출함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(5)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부문별 목표원가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연도별 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&amp;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합계값을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각 연도의 금액 비율로 안분함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판가는 연도별 목표 판가 적용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금액을 물량으로 나누어 단위당 목표원가를 산출함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해당연도 물량이 없는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전체 물량으로 나눈 값을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/>
        </p:nvGraphicFramePr>
        <p:xfrm>
          <a:off x="7761390" y="931892"/>
          <a:ext cx="1139301" cy="961285"/>
        </p:xfrm>
        <a:graphic>
          <a:graphicData uri="http://schemas.openxmlformats.org/presentationml/2006/ole">
            <p:oleObj spid="_x0000_s1026" name="Worksheet" showAsIcon="1" r:id="rId3" imgW="914400" imgH="771480" progId="Excel.Sheet.8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사례는 첨부파일 참조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계속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(6)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 목표금액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선택된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부문별 목표원가를  사용하여 연도별로 절감 목표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금액으로 산출하며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손익증가 효과를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물량은 고정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이익률은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0)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(7)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절감할 원가를 부문별로 정리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연간합계의 단위당 기준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 원가항목 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등록된 사항에 따름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 설명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목표원가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부분별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금액을 산출함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산출된 금액을 저장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 금액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화면에 표시되는 정보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목표금액과 절감목표금액이 각각 산출되며 선택 내역에 따라 화면에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                     Default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항목은 목표금액임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82654"/>
            <a:ext cx="435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9182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5586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26518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67450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계산하기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12870"/>
          <a:ext cx="3528000" cy="535584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목표원가와 목표 달성 계획을 등록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검색조건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특정 사양단위까지 선택해야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사양이 모두 필수조건 임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좌측부터 선택시 우측의 선택 가능항목이 줄어들 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3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절감목표와 달성계획 등록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를 참조하여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최종 목표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 계획도 등록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조회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실행 단추 기능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해당코드에 입력된 정보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최초에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없는 경우 생성 버튼을 통해 현재원가와 배부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를 불러와 기초 정보를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원가관리만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산출대상 원가항목에 따름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재료비는 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와 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 두개 항목으로 구분</a:t>
                      </a:r>
                      <a:endParaRPr lang="en-US" altLang="ko-KR" sz="1000" b="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계산하기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수정가능 하도록 활성화하고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최종목표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 입력 후 차이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절감목표가 자동 산출되도록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정보 확인 후 최종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후 수정 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기초정보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프로젝트명과 사양정보 및 원가코드 표시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견적원가와 배부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Guide: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연산없이 가져오기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견적원가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최종견적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or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배부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Guide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시 참조한 현상원가 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배부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Guide: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부문별 배부 기준으로 기존에 산출한 값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최종 목표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부문별 협의결과에 따른 최종 목표금액 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(Key-In)</a:t>
                      </a: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2-4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차이와 절감 목표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최종 목표 입력 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계산하기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’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를 실행하면 자동산출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최종목표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배부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Guide’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현재원가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최종목표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2-5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조정사유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  -Guide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와 최종 목표간 차이 원인을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Text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입력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2-6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절감 목표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최대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):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절감 목표금액과 계획 등록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  -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부문은 콤보박스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금액은 클릭시 별도의 창으로 이동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절감액 및 절감 계획 활동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(1/3)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절감목표와  달성계획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등록</a:t>
            </a: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4069974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53" name="그룹 74"/>
          <p:cNvGrpSpPr/>
          <p:nvPr/>
        </p:nvGrpSpPr>
        <p:grpSpPr>
          <a:xfrm>
            <a:off x="4337214" y="1313028"/>
            <a:ext cx="360000" cy="226591"/>
            <a:chOff x="2709337" y="1307502"/>
            <a:chExt cx="360000" cy="226591"/>
          </a:xfrm>
        </p:grpSpPr>
        <p:sp>
          <p:nvSpPr>
            <p:cNvPr id="55" name="TextBox 5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8" name="실행 단추: 앞으로 또는 다음 5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한쪽 모서리가 잘린 사각형 60"/>
          <p:cNvSpPr/>
          <p:nvPr/>
        </p:nvSpPr>
        <p:spPr bwMode="auto">
          <a:xfrm>
            <a:off x="1664290" y="1740516"/>
            <a:ext cx="1584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부문별 목표원가 상세 내역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5" name="타원 64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23871" y="2636890"/>
          <a:ext cx="5585345" cy="2880000"/>
        </p:xfrm>
        <a:graphic>
          <a:graphicData uri="http://schemas.openxmlformats.org/drawingml/2006/table">
            <a:tbl>
              <a:tblPr/>
              <a:tblGrid>
                <a:gridCol w="82170"/>
                <a:gridCol w="112674"/>
                <a:gridCol w="465547"/>
                <a:gridCol w="525814"/>
                <a:gridCol w="563372"/>
                <a:gridCol w="450698"/>
                <a:gridCol w="450698"/>
                <a:gridCol w="826279"/>
                <a:gridCol w="450698"/>
                <a:gridCol w="262907"/>
                <a:gridCol w="396000"/>
                <a:gridCol w="262907"/>
                <a:gridCol w="360000"/>
                <a:gridCol w="375581"/>
              </a:tblGrid>
              <a:tr h="180000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견적원가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배부 </a:t>
                      </a:r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Guide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조정사유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523,250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539,450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16,200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446,000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16,000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추가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TCI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3,476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410,000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수입자재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Nego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難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39,334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24,334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근로자 요구사항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1,500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1,500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29,000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28,700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  300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투자비 절감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1,300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1,300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101,750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85,550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-16,200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70,500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54,300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-16,200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3.10%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11.28%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8.69%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" name="타원 70"/>
          <p:cNvSpPr/>
          <p:nvPr/>
        </p:nvSpPr>
        <p:spPr>
          <a:xfrm>
            <a:off x="338610" y="156999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4465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82654"/>
            <a:ext cx="435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9182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5586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26518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67450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계산하기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20891"/>
          <a:ext cx="3528000" cy="49039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목표원가와 목표 달성 계획을 등록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상세 절감계획 등록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목표의 상세 내역을 등록하는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목표 등록 화면에서 금액을 클릭하여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pop-Up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창으로 등록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조회가 모두 가능하며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바탕에서 확정시 수정 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우선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을 선택한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금액란을 클릭해야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이 생성되고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에서 입력된 내역이 표시됨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3-1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부문과 원가항목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기존에 좌측에 입력된 부분과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해당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Row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의 원가 항목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3-2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절감계획서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파일 첨부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(1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3-3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절감계획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절감계획서의 내용에 따라 상세 내역을 등록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 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’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버튼으로 행 추가 가능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삭제도 가능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 Level1,2,3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은 원가절감 유형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Master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에 따라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콤보박스로 선택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금액은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으로 입력되며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합계는 저장시 자동 생성 후 부문별 절감 목표로 입력됨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3-4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자재별 절감 계획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부문이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’or’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구매관리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’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인 경우만 해당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-Part No.: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자재목록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불러온 현재원가 계산시 재료비를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구성하는 모든 자재품목을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List Up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. C/O,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신규 구분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견적원가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기존에 계산되어 있는 금액 가져옴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입력 담당자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구매부문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합계는 자동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현재원가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절감목표로 자동산출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’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검증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절감계획의 합계금액과 자재별 절감계획의 절감 목표 합계 금액이 상이하면 저장 불가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&amp; Error Message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표시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절감액 및 절감 계획 활동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(2/3)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절감목표와  달성계획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등록</a:t>
            </a: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4069974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337214" y="1313028"/>
            <a:ext cx="360000" cy="226591"/>
            <a:chOff x="2709337" y="1307502"/>
            <a:chExt cx="360000" cy="226591"/>
          </a:xfrm>
        </p:grpSpPr>
        <p:sp>
          <p:nvSpPr>
            <p:cNvPr id="55" name="TextBox 5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8" name="실행 단추: 앞으로 또는 다음 5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한쪽 모서리가 잘린 사각형 60"/>
          <p:cNvSpPr/>
          <p:nvPr/>
        </p:nvSpPr>
        <p:spPr bwMode="auto">
          <a:xfrm>
            <a:off x="1664290" y="1740516"/>
            <a:ext cx="1584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부문별 목표원가 상세 내역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5" name="타원 64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4465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423871" y="2636890"/>
          <a:ext cx="5549345" cy="2880000"/>
        </p:xfrm>
        <a:graphic>
          <a:graphicData uri="http://schemas.openxmlformats.org/drawingml/2006/table">
            <a:tbl>
              <a:tblPr/>
              <a:tblGrid>
                <a:gridCol w="82170"/>
                <a:gridCol w="112674"/>
                <a:gridCol w="465547"/>
                <a:gridCol w="525814"/>
                <a:gridCol w="563372"/>
                <a:gridCol w="450698"/>
                <a:gridCol w="450698"/>
                <a:gridCol w="826279"/>
                <a:gridCol w="450698"/>
                <a:gridCol w="262907"/>
                <a:gridCol w="360000"/>
                <a:gridCol w="262907"/>
                <a:gridCol w="360000"/>
                <a:gridCol w="375581"/>
              </a:tblGrid>
              <a:tr h="180000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현재원가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(①)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배부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Guide</a:t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(②)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목표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(③)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(③-②)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조정사유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(①-③)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523,250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539,450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16,200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446,000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16,000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추가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TCI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3,476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410,000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수입자재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Nego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難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39,334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24,334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근로자 요구사항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1,500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1,500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29,000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28,700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  300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투자비 절감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1,300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1,300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500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150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101,750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85,550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-16,200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70,500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54,300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-16,200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3.10%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11.28%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8.69%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7" name="직사각형 56"/>
          <p:cNvSpPr/>
          <p:nvPr/>
        </p:nvSpPr>
        <p:spPr bwMode="auto">
          <a:xfrm>
            <a:off x="4581135" y="3525520"/>
            <a:ext cx="396000" cy="216030"/>
          </a:xfrm>
          <a:prstGeom prst="rect">
            <a:avLst/>
          </a:prstGeom>
          <a:solidFill>
            <a:srgbClr val="FF9999">
              <a:alpha val="58000"/>
            </a:srgbClr>
          </a:solidFill>
          <a:ln w="28575" algn="ctr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66" name="구부러진 연결선 65"/>
          <p:cNvCxnSpPr>
            <a:stCxn id="57" idx="2"/>
            <a:endCxn id="67" idx="1"/>
          </p:cNvCxnSpPr>
          <p:nvPr/>
        </p:nvCxnSpPr>
        <p:spPr bwMode="auto">
          <a:xfrm rot="5400000">
            <a:off x="4101930" y="3884395"/>
            <a:ext cx="820050" cy="534360"/>
          </a:xfrm>
          <a:prstGeom prst="curvedConnector2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6" name="폭발 2 85"/>
          <p:cNvSpPr>
            <a:spLocks noChangeAspect="1"/>
          </p:cNvSpPr>
          <p:nvPr/>
        </p:nvSpPr>
        <p:spPr bwMode="auto">
          <a:xfrm>
            <a:off x="4232900" y="3849185"/>
            <a:ext cx="1052364" cy="612000"/>
          </a:xfrm>
          <a:prstGeom prst="irregularSeal2">
            <a:avLst/>
          </a:prstGeom>
          <a:solidFill>
            <a:schemeClr val="tx2">
              <a:lumMod val="75000"/>
            </a:schemeClr>
          </a:solidFill>
          <a:ln w="2857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Click</a:t>
            </a:r>
            <a:r>
              <a:rPr lang="ko-KR" altLang="en-US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&amp;</a:t>
            </a:r>
          </a:p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Pop-Up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맑은 고딕" pitchFamily="50" charset="-127"/>
              <a:cs typeface="Arial" pitchFamily="34" charset="0"/>
            </a:endParaRPr>
          </a:p>
        </p:txBody>
      </p:sp>
      <p:graphicFrame>
        <p:nvGraphicFramePr>
          <p:cNvPr id="83" name="표 82"/>
          <p:cNvGraphicFramePr>
            <a:graphicFrameLocks noGrp="1"/>
          </p:cNvGraphicFramePr>
          <p:nvPr/>
        </p:nvGraphicFramePr>
        <p:xfrm>
          <a:off x="560390" y="2452530"/>
          <a:ext cx="3683963" cy="3924900"/>
        </p:xfrm>
        <a:graphic>
          <a:graphicData uri="http://schemas.openxmlformats.org/drawingml/2006/table">
            <a:tbl>
              <a:tblPr/>
              <a:tblGrid>
                <a:gridCol w="961849"/>
                <a:gridCol w="97400"/>
                <a:gridCol w="711895"/>
                <a:gridCol w="720000"/>
                <a:gridCol w="711895"/>
                <a:gridCol w="480924"/>
              </a:tblGrid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#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Level1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Level2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Level3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국산화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글로벌 소싱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업체변경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976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A4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자재별 절감 계획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Part 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현재원가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4,000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520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3,480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A45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B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3,962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532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3,430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A45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12,876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1,402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11,474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A45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2,638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맑은 고딕"/>
                        </a:rPr>
                        <a:t>22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2,616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A45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5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21,000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5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 flipH="1" flipV="1">
            <a:off x="3581214" y="4254000"/>
            <a:ext cx="663561" cy="615200"/>
          </a:xfrm>
          <a:prstGeom prst="rect">
            <a:avLst/>
          </a:prstGeom>
          <a:noFill/>
          <a:ln w="2857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6" name="AutoShape 279"/>
          <p:cNvSpPr>
            <a:spLocks noChangeArrowheads="1"/>
          </p:cNvSpPr>
          <p:nvPr/>
        </p:nvSpPr>
        <p:spPr bwMode="auto">
          <a:xfrm>
            <a:off x="3812765" y="3248725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0" name="AutoShape 279"/>
          <p:cNvSpPr>
            <a:spLocks noChangeArrowheads="1"/>
          </p:cNvSpPr>
          <p:nvPr/>
        </p:nvSpPr>
        <p:spPr bwMode="auto">
          <a:xfrm>
            <a:off x="3368814" y="3248595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2" name="AutoShape 279"/>
          <p:cNvSpPr>
            <a:spLocks noChangeArrowheads="1"/>
          </p:cNvSpPr>
          <p:nvPr/>
        </p:nvSpPr>
        <p:spPr bwMode="auto">
          <a:xfrm>
            <a:off x="2924862" y="3248595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715" y="3032565"/>
            <a:ext cx="1428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" name="AutoShape 279"/>
          <p:cNvSpPr>
            <a:spLocks noChangeArrowheads="1"/>
          </p:cNvSpPr>
          <p:nvPr/>
        </p:nvSpPr>
        <p:spPr bwMode="auto">
          <a:xfrm>
            <a:off x="2480910" y="3248595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402477" y="235403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6" grpId="0" animBg="1"/>
      <p:bldP spid="80" grpId="0" animBg="1"/>
      <p:bldP spid="82" grpId="0" animBg="1"/>
      <p:bldP spid="84" grpId="0" animBg="1"/>
      <p:bldP spid="5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82654"/>
            <a:ext cx="435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3199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970091"/>
          <a:ext cx="3528000" cy="291421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3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최종 목표원가와 목표 달성 계획을 조회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46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등록한 목표 절감액의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자재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부문별 상세 내역을 조회하는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는 없으며 조회만 하는 화면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‘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절감목표와  달성계획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화면에서 모두 입력됨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세부 자재별 절감 목표금액을 보여주는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조회조건은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‘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절감목표와  달성계획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과 동일하며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b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절감목표와  달성계획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에서 코드가 선택되어 있는 경우 탭이동으로 자동 조회 가능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화면구성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견적원가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절감목표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계획 달성 화면과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계획 달성 화면과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재료비 세부내역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견적원가 산출시 입고 단위 기준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  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계산된 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부문별 목표 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Header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는 고정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금액은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‘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절감목표와  달성계획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에 입력된 값을 가져옴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절감액 및 절감 계획 활동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(3/3)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절감목표와  달성계획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등록</a:t>
            </a: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4069974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337214" y="1313028"/>
            <a:ext cx="360000" cy="226591"/>
            <a:chOff x="2709337" y="1307502"/>
            <a:chExt cx="360000" cy="226591"/>
          </a:xfrm>
        </p:grpSpPr>
        <p:sp>
          <p:nvSpPr>
            <p:cNvPr id="55" name="TextBox 5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8" name="실행 단추: 앞으로 또는 다음 5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한쪽 모서리가 잘린 사각형 60"/>
          <p:cNvSpPr/>
          <p:nvPr/>
        </p:nvSpPr>
        <p:spPr bwMode="auto">
          <a:xfrm>
            <a:off x="1640540" y="1740516"/>
            <a:ext cx="1584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부문별 목표원가 상세 내역</a:t>
            </a:r>
          </a:p>
        </p:txBody>
      </p:sp>
      <p:sp>
        <p:nvSpPr>
          <p:cNvPr id="71" name="타원 70"/>
          <p:cNvSpPr/>
          <p:nvPr/>
        </p:nvSpPr>
        <p:spPr>
          <a:xfrm>
            <a:off x="1698657" y="156999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428245" y="2440315"/>
          <a:ext cx="5209400" cy="3788400"/>
        </p:xfrm>
        <a:graphic>
          <a:graphicData uri="http://schemas.openxmlformats.org/drawingml/2006/table">
            <a:tbl>
              <a:tblPr/>
              <a:tblGrid>
                <a:gridCol w="97400"/>
                <a:gridCol w="252000"/>
                <a:gridCol w="252000"/>
                <a:gridCol w="180000"/>
                <a:gridCol w="540000"/>
                <a:gridCol w="540000"/>
                <a:gridCol w="540000"/>
                <a:gridCol w="432000"/>
                <a:gridCol w="468000"/>
                <a:gridCol w="504000"/>
                <a:gridCol w="468000"/>
                <a:gridCol w="468000"/>
                <a:gridCol w="468000"/>
              </a:tblGrid>
              <a:tr h="1800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견적원가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구매관리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539,450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30,360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446,000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26,810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520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B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3,962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12,876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1,402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2,638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425,000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E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42,240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1,690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F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7,094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G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350,000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10,194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48,500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28,700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85,550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35,360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54,550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35,360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14,643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15,717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423872" y="2048175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단계별 현상원가 산출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X-02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BOM I/F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8" name="직사각형 124"/>
          <p:cNvSpPr>
            <a:spLocks noChangeArrowheads="1"/>
          </p:cNvSpPr>
          <p:nvPr/>
        </p:nvSpPr>
        <p:spPr bwMode="auto">
          <a:xfrm>
            <a:off x="397494" y="1709774"/>
            <a:ext cx="5591356" cy="128742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59" name="표 58"/>
          <p:cNvGraphicFramePr>
            <a:graphicFrameLocks noGrp="1"/>
          </p:cNvGraphicFramePr>
          <p:nvPr/>
        </p:nvGraphicFramePr>
        <p:xfrm>
          <a:off x="560392" y="1795920"/>
          <a:ext cx="2992861" cy="1024372"/>
        </p:xfrm>
        <a:graphic>
          <a:graphicData uri="http://schemas.openxmlformats.org/drawingml/2006/table">
            <a:tbl>
              <a:tblPr/>
              <a:tblGrid>
                <a:gridCol w="432000"/>
                <a:gridCol w="1408861"/>
                <a:gridCol w="576000"/>
                <a:gridCol w="576000"/>
              </a:tblGrid>
              <a:tr h="2560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선택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차종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사양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5609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13007-TMA-T01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마이티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일반형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9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13007-TMB-T01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마이티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고급형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9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▣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13007-TMC-T01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마이티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최고급형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2" name="Group 82"/>
          <p:cNvGraphicFramePr>
            <a:graphicFrameLocks noGrp="1"/>
          </p:cNvGraphicFramePr>
          <p:nvPr/>
        </p:nvGraphicFramePr>
        <p:xfrm>
          <a:off x="6136760" y="1026115"/>
          <a:ext cx="3528000" cy="1833881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PDM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하여 보여준다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/OEM/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프로젝트로 검색가능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프로젝트의 사양 정보를 표시하고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선택된 항목의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0" indent="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불러옴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3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사양에 해당하는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Display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4" name="AutoShape 279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6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저장</a:t>
            </a:r>
          </a:p>
        </p:txBody>
      </p:sp>
      <p:sp>
        <p:nvSpPr>
          <p:cNvPr id="68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조회</a:t>
            </a:r>
          </a:p>
        </p:txBody>
      </p:sp>
      <p:sp>
        <p:nvSpPr>
          <p:cNvPr id="69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258588" y="1637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72" name="직사각형 71"/>
          <p:cNvSpPr/>
          <p:nvPr/>
        </p:nvSpPr>
        <p:spPr bwMode="auto">
          <a:xfrm>
            <a:off x="560390" y="1784345"/>
            <a:ext cx="2988000" cy="288000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5" name="직사각형 124"/>
          <p:cNvSpPr>
            <a:spLocks noChangeArrowheads="1"/>
          </p:cNvSpPr>
          <p:nvPr/>
        </p:nvSpPr>
        <p:spPr bwMode="auto">
          <a:xfrm>
            <a:off x="397493" y="3448323"/>
            <a:ext cx="5668621" cy="26643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272680" y="333766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77" name="표 76"/>
          <p:cNvGraphicFramePr>
            <a:graphicFrameLocks noGrp="1"/>
          </p:cNvGraphicFramePr>
          <p:nvPr/>
        </p:nvGraphicFramePr>
        <p:xfrm>
          <a:off x="428872" y="3667905"/>
          <a:ext cx="5592703" cy="2277618"/>
        </p:xfrm>
        <a:graphic>
          <a:graphicData uri="http://schemas.openxmlformats.org/drawingml/2006/table">
            <a:tbl>
              <a:tblPr/>
              <a:tblGrid>
                <a:gridCol w="276576"/>
                <a:gridCol w="296407"/>
                <a:gridCol w="308692"/>
                <a:gridCol w="617384"/>
                <a:gridCol w="2580586"/>
                <a:gridCol w="769998"/>
                <a:gridCol w="743060"/>
              </a:tblGrid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No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Lv.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Part No.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Part Name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변경자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변경일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PAD-FRT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X8800..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SPONGE-FRT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 ASSY-RR BACK, RH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SPONGE-RR BACK, RH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FRAME ASSY-FRT BACK,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WIRE No.1 - FRT BACK FRM ASSY,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INSERT WIRE No.1-RR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INSERT WIRE No.2-RR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INSERT WIRE No.3-RR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VELCRO No.1-RR CUSH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VELCRO No.2-RR CUSH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 ONLY-RR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CTR H/REST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8" name="직사각형 77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sp>
        <p:nvSpPr>
          <p:cNvPr id="79" name="모서리가 둥근 직사각형 78"/>
          <p:cNvSpPr/>
          <p:nvPr/>
        </p:nvSpPr>
        <p:spPr bwMode="auto">
          <a:xfrm>
            <a:off x="428871" y="1268413"/>
            <a:ext cx="4202479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1" name="TextBox 33"/>
          <p:cNvSpPr txBox="1">
            <a:spLocks noChangeArrowheads="1"/>
          </p:cNvSpPr>
          <p:nvPr/>
        </p:nvSpPr>
        <p:spPr bwMode="auto">
          <a:xfrm>
            <a:off x="19500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3" name="TextBox 35"/>
          <p:cNvSpPr txBox="1">
            <a:spLocks noChangeArrowheads="1"/>
          </p:cNvSpPr>
          <p:nvPr/>
        </p:nvSpPr>
        <p:spPr bwMode="auto">
          <a:xfrm>
            <a:off x="12955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4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8" name="실행 단추: 앞으로 또는 다음 8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0276" y="1317118"/>
            <a:ext cx="360000" cy="226591"/>
            <a:chOff x="1701166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3" name="TextBox 9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4" name="실행 단추: 앞으로 또는 다음 9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5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102" name="TextBox 10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4" name="실행 단추: 앞으로 또는 다음 10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5" name="타원 104"/>
          <p:cNvSpPr/>
          <p:nvPr/>
        </p:nvSpPr>
        <p:spPr>
          <a:xfrm>
            <a:off x="272350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6" name="AutoShape 279"/>
          <p:cNvSpPr>
            <a:spLocks noChangeArrowheads="1"/>
          </p:cNvSpPr>
          <p:nvPr/>
        </p:nvSpPr>
        <p:spPr bwMode="auto">
          <a:xfrm>
            <a:off x="5385130" y="1844910"/>
            <a:ext cx="504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107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9" name="TextBox 10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0" name="실행 단추: 앞으로 또는 다음 10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5" name="직사각형 44"/>
          <p:cNvSpPr/>
          <p:nvPr/>
        </p:nvSpPr>
        <p:spPr bwMode="auto">
          <a:xfrm rot="20651343">
            <a:off x="6393200" y="4089636"/>
            <a:ext cx="2376330" cy="1223573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추가 수정 예정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단계별 현상원가 산출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BOM Mapping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45" name="Group 82"/>
          <p:cNvGraphicFramePr>
            <a:graphicFrameLocks noGrp="1"/>
          </p:cNvGraphicFramePr>
          <p:nvPr/>
        </p:nvGraphicFramePr>
        <p:xfrm>
          <a:off x="6149460" y="1026115"/>
          <a:ext cx="3528000" cy="1710294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수동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Mapping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/OEM/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사양으로 검색가능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목표원가관리시스템의 견적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3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끌어옴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47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저장</a:t>
            </a: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조회</a:t>
            </a: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설계</a:t>
            </a:r>
          </a:p>
        </p:txBody>
      </p:sp>
      <p:sp>
        <p:nvSpPr>
          <p:cNvPr id="52" name="직사각형 124"/>
          <p:cNvSpPr>
            <a:spLocks noChangeArrowheads="1"/>
          </p:cNvSpPr>
          <p:nvPr/>
        </p:nvSpPr>
        <p:spPr bwMode="auto">
          <a:xfrm>
            <a:off x="397494" y="1709775"/>
            <a:ext cx="5591356" cy="1791235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502273" y="1879310"/>
          <a:ext cx="5314847" cy="14776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418167"/>
                <a:gridCol w="432060"/>
                <a:gridCol w="360050"/>
                <a:gridCol w="720100"/>
                <a:gridCol w="2160300"/>
                <a:gridCol w="576080"/>
                <a:gridCol w="648090"/>
              </a:tblGrid>
              <a:tr h="2160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코드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No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Lv.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Part No.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Part Name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변경자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변경일자</a:t>
                      </a:r>
                      <a:endParaRPr lang="ko-KR" altLang="en-US" sz="10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5848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1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X88…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PAD-FRT CUSH, LH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  <a:tr h="18588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X8800..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SPONGE-FRT CUSH, LH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  <a:tr h="23961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3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X88…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 ASSY-RR BACK, RH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  <a:tr h="23961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4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X88…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SPONGE-RR BACK, RH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  <a:tr h="18588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5</a:t>
                      </a:r>
                      <a:endParaRPr lang="ko-KR" altLang="en-US" sz="10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X88…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FRAME ASSY-FRT BACK, LH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</a:tbl>
          </a:graphicData>
        </a:graphic>
      </p:graphicFrame>
      <p:sp>
        <p:nvSpPr>
          <p:cNvPr id="54" name="타원 53"/>
          <p:cNvSpPr/>
          <p:nvPr/>
        </p:nvSpPr>
        <p:spPr>
          <a:xfrm>
            <a:off x="258588" y="163776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55" name="직사각형 124"/>
          <p:cNvSpPr>
            <a:spLocks noChangeArrowheads="1"/>
          </p:cNvSpPr>
          <p:nvPr/>
        </p:nvSpPr>
        <p:spPr bwMode="auto">
          <a:xfrm>
            <a:off x="397493" y="3645030"/>
            <a:ext cx="5668621" cy="26643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258588" y="352160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428872" y="3864612"/>
          <a:ext cx="5592703" cy="2277618"/>
        </p:xfrm>
        <a:graphic>
          <a:graphicData uri="http://schemas.openxmlformats.org/drawingml/2006/table">
            <a:tbl>
              <a:tblPr/>
              <a:tblGrid>
                <a:gridCol w="276576"/>
                <a:gridCol w="296407"/>
                <a:gridCol w="308692"/>
                <a:gridCol w="617384"/>
                <a:gridCol w="2580586"/>
                <a:gridCol w="769998"/>
                <a:gridCol w="743060"/>
              </a:tblGrid>
              <a:tr h="1626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No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Lv.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Part No.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Part Name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변경자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변경일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PAD-FRT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X8800..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SPONGE-FRT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 ASSY-RR BACK, RH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SPONGE-RR BACK, RH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FRAME ASSY-FRT BACK,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WIRE No.1 - FRT BACK FRM ASSY,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INSERT WIRE No.1-RR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INSERT WIRE No.2-RR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INSERT WIRE No.3-RR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VELCRO No.1-RR CUSH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VELCRO No.2-RR CUSH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 ONLY-RR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CTR H/REST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0" name="모서리가 둥근 직사각형 59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1" name="TextBox 33"/>
          <p:cNvSpPr txBox="1">
            <a:spLocks noChangeArrowheads="1"/>
          </p:cNvSpPr>
          <p:nvPr/>
        </p:nvSpPr>
        <p:spPr bwMode="auto">
          <a:xfrm>
            <a:off x="19500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6" name="TextBox 35"/>
          <p:cNvSpPr txBox="1">
            <a:spLocks noChangeArrowheads="1"/>
          </p:cNvSpPr>
          <p:nvPr/>
        </p:nvSpPr>
        <p:spPr bwMode="auto">
          <a:xfrm>
            <a:off x="12955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67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74" name="TextBox 7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0" name="실행 단추: 앞으로 또는 다음 7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0276" y="1317118"/>
            <a:ext cx="360000" cy="226591"/>
            <a:chOff x="1701166" y="1307502"/>
            <a:chExt cx="360000" cy="226591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2" name="TextBox 9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6" name="실행 단추: 앞으로 또는 다음 9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3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111" name="TextBox 11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2" name="실행 단추: 앞으로 또는 다음 11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3" name="타원 112"/>
          <p:cNvSpPr/>
          <p:nvPr/>
        </p:nvSpPr>
        <p:spPr>
          <a:xfrm>
            <a:off x="272350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14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16" name="TextBox 11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7" name="실행 단추: 앞으로 또는 다음 11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8" name="TextBox 33"/>
          <p:cNvSpPr txBox="1">
            <a:spLocks noChangeArrowheads="1"/>
          </p:cNvSpPr>
          <p:nvPr/>
        </p:nvSpPr>
        <p:spPr bwMode="auto">
          <a:xfrm>
            <a:off x="4649942" y="1327692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</a:p>
        </p:txBody>
      </p:sp>
      <p:grpSp>
        <p:nvGrpSpPr>
          <p:cNvPr id="7" name="그룹 70"/>
          <p:cNvGrpSpPr/>
          <p:nvPr/>
        </p:nvGrpSpPr>
        <p:grpSpPr>
          <a:xfrm>
            <a:off x="4953050" y="1327692"/>
            <a:ext cx="360000" cy="226591"/>
            <a:chOff x="2709337" y="1307502"/>
            <a:chExt cx="360000" cy="226591"/>
          </a:xfrm>
        </p:grpSpPr>
        <p:sp>
          <p:nvSpPr>
            <p:cNvPr id="120" name="TextBox 11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1" name="실행 단추: 앞으로 또는 다음 12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58" name="직사각형 57"/>
          <p:cNvSpPr/>
          <p:nvPr/>
        </p:nvSpPr>
        <p:spPr bwMode="auto">
          <a:xfrm rot="20651343">
            <a:off x="6393200" y="4077090"/>
            <a:ext cx="2376330" cy="1223573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추가 수정 예정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단계별 현상원가 산출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BOM Mapping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8" name="직사각형 124"/>
          <p:cNvSpPr>
            <a:spLocks noChangeArrowheads="1"/>
          </p:cNvSpPr>
          <p:nvPr/>
        </p:nvSpPr>
        <p:spPr bwMode="auto">
          <a:xfrm>
            <a:off x="272350" y="1248110"/>
            <a:ext cx="5832000" cy="5966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9" name="직사각형 124"/>
          <p:cNvSpPr>
            <a:spLocks noChangeArrowheads="1"/>
          </p:cNvSpPr>
          <p:nvPr/>
        </p:nvSpPr>
        <p:spPr bwMode="auto">
          <a:xfrm>
            <a:off x="249200" y="2328259"/>
            <a:ext cx="5832000" cy="354908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258588" y="220483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63" name="Group 82"/>
          <p:cNvGraphicFramePr>
            <a:graphicFrameLocks noGrp="1"/>
          </p:cNvGraphicFramePr>
          <p:nvPr/>
        </p:nvGraphicFramePr>
        <p:xfrm>
          <a:off x="6136760" y="1026115"/>
          <a:ext cx="3528000" cy="17323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E-BBOM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수동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Mapping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E-B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에 라인을 추가 혹은 삭제가능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228600" indent="-22860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테이블을 택하면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양쪽에 적용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두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나란히 배치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E-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입고단위 기준으로 수동으로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Match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라인을 맞추는 방식으로  동일 선상의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Match)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5" name="AutoShape 279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68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저장</a:t>
            </a:r>
          </a:p>
        </p:txBody>
      </p:sp>
      <p:sp>
        <p:nvSpPr>
          <p:cNvPr id="69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조회</a:t>
            </a:r>
          </a:p>
        </p:txBody>
      </p: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설계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/>
        </p:nvGraphicFramePr>
        <p:xfrm>
          <a:off x="427945" y="2780911"/>
          <a:ext cx="2447999" cy="19888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49515"/>
                <a:gridCol w="257806"/>
                <a:gridCol w="322012"/>
                <a:gridCol w="537182"/>
                <a:gridCol w="1081484"/>
              </a:tblGrid>
              <a:tr h="3255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코드</a:t>
                      </a:r>
                      <a:endParaRPr lang="ko-KR" altLang="en-US" sz="8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No</a:t>
                      </a:r>
                      <a:endParaRPr lang="ko-KR" altLang="en-US" sz="8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Lv.</a:t>
                      </a:r>
                      <a:endParaRPr lang="ko-KR" altLang="en-US" sz="8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Part No.</a:t>
                      </a:r>
                      <a:endParaRPr lang="ko-KR" altLang="en-US" sz="8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Part Name</a:t>
                      </a:r>
                      <a:endParaRPr lang="ko-KR" altLang="en-US" sz="800" b="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879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1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X88…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PAD-FRT CUSH, LH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  <a:tr h="17146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130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X8800..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SPONGE-FRT CUSH, LH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  <a:tr h="185883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39615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3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X88…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 ASSY-RR BACK, RH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  <a:tr h="239615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4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X88…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SPONGE-RR BACK, RH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  <a:tr h="185883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5</a:t>
                      </a:r>
                      <a:endParaRPr lang="ko-KR" altLang="en-US" sz="800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  <a:sym typeface="Arial"/>
                        </a:rPr>
                        <a:t>X88…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  <a:sym typeface="Arial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FRAME ASSY-FRT BACK, LH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2998352" y="2780912"/>
          <a:ext cx="2990498" cy="2688352"/>
        </p:xfrm>
        <a:graphic>
          <a:graphicData uri="http://schemas.openxmlformats.org/drawingml/2006/table">
            <a:tbl>
              <a:tblPr/>
              <a:tblGrid>
                <a:gridCol w="202738"/>
                <a:gridCol w="217275"/>
                <a:gridCol w="226280"/>
                <a:gridCol w="452560"/>
                <a:gridCol w="1891645"/>
              </a:tblGrid>
              <a:tr h="3503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No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Lv.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Part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No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Part Name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PAD-FRT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X8800..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SPONGE-FRT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2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 ASSY-RR BACK, RH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0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SLAB SPONGE-RR BACK, RH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FRAME ASSY-FRT BACK,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X88…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WIRE No.1 - FRT BACK FRM ASSY,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INSERT WIRE No.1-RR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INSERT WIRE No.2-RR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INSERT WIRE No.3-RR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VELCRO No.1-RR CUSH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VELCRO No.2-RR CUSH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PAD ONLY-RR CUSH, LH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XXXX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CTR H/REST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5" name="Picture 3"/>
          <p:cNvPicPr>
            <a:picLocks noChangeAspect="1" noChangeArrowheads="1"/>
          </p:cNvPicPr>
          <p:nvPr/>
        </p:nvPicPr>
        <p:blipFill>
          <a:blip r:embed="rId3" cstate="print"/>
          <a:srcRect l="66232" t="39690" r="31626" b="58009"/>
          <a:stretch>
            <a:fillRect/>
          </a:stretch>
        </p:blipFill>
        <p:spPr bwMode="auto">
          <a:xfrm>
            <a:off x="416370" y="1334490"/>
            <a:ext cx="36005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직사각형 75"/>
          <p:cNvSpPr/>
          <p:nvPr/>
        </p:nvSpPr>
        <p:spPr bwMode="auto">
          <a:xfrm>
            <a:off x="433044" y="1358945"/>
            <a:ext cx="360000" cy="180000"/>
          </a:xfrm>
          <a:prstGeom prst="rect">
            <a:avLst/>
          </a:prstGeom>
          <a:noFill/>
          <a:ln w="15875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811145" y="1269214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cxnSp>
        <p:nvCxnSpPr>
          <p:cNvPr id="78" name="직선 화살표 연결선 77"/>
          <p:cNvCxnSpPr>
            <a:endCxn id="79" idx="1"/>
          </p:cNvCxnSpPr>
          <p:nvPr/>
        </p:nvCxnSpPr>
        <p:spPr bwMode="auto">
          <a:xfrm>
            <a:off x="2000590" y="3259271"/>
            <a:ext cx="1872260" cy="5399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C00000"/>
            </a:solidFill>
            <a:prstDash val="solid"/>
            <a:round/>
            <a:headEnd type="oval" w="med" len="med"/>
            <a:tailEnd type="arrow"/>
          </a:ln>
          <a:effectLst/>
        </p:spPr>
      </p:cxnSp>
      <p:sp>
        <p:nvSpPr>
          <p:cNvPr id="79" name="왼쪽 중괄호 78"/>
          <p:cNvSpPr/>
          <p:nvPr/>
        </p:nvSpPr>
        <p:spPr bwMode="auto">
          <a:xfrm>
            <a:off x="3872850" y="3187261"/>
            <a:ext cx="216000" cy="252000"/>
          </a:xfrm>
          <a:prstGeom prst="leftBrace">
            <a:avLst/>
          </a:prstGeom>
          <a:noFill/>
          <a:ln w="158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81" name="왼쪽 중괄호 80"/>
          <p:cNvSpPr/>
          <p:nvPr/>
        </p:nvSpPr>
        <p:spPr bwMode="auto">
          <a:xfrm>
            <a:off x="3872850" y="3633496"/>
            <a:ext cx="189739" cy="288000"/>
          </a:xfrm>
          <a:prstGeom prst="leftBrace">
            <a:avLst/>
          </a:prstGeom>
          <a:noFill/>
          <a:ln w="158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가는각진제목체" pitchFamily="18" charset="-127"/>
              <a:ea typeface="가는각진제목체" pitchFamily="18" charset="-127"/>
            </a:endParaRPr>
          </a:p>
        </p:txBody>
      </p:sp>
      <p:cxnSp>
        <p:nvCxnSpPr>
          <p:cNvPr id="82" name="직선 화살표 연결선 81"/>
          <p:cNvCxnSpPr>
            <a:endCxn id="81" idx="1"/>
          </p:cNvCxnSpPr>
          <p:nvPr/>
        </p:nvCxnSpPr>
        <p:spPr bwMode="auto">
          <a:xfrm>
            <a:off x="2000590" y="3643751"/>
            <a:ext cx="1872260" cy="13374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C00000"/>
            </a:solidFill>
            <a:prstDash val="solid"/>
            <a:round/>
            <a:headEnd type="oval" w="med" len="med"/>
            <a:tailEnd type="arrow"/>
          </a:ln>
          <a:effectLst/>
        </p:spPr>
      </p:cxnSp>
      <p:sp>
        <p:nvSpPr>
          <p:cNvPr id="83" name="직사각형 82"/>
          <p:cNvSpPr/>
          <p:nvPr/>
        </p:nvSpPr>
        <p:spPr bwMode="auto">
          <a:xfrm>
            <a:off x="400178" y="3072163"/>
            <a:ext cx="5632915" cy="1019675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281738" y="1124681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8" name="직사각형 27"/>
          <p:cNvSpPr/>
          <p:nvPr/>
        </p:nvSpPr>
        <p:spPr bwMode="auto">
          <a:xfrm rot="20651343">
            <a:off x="6393200" y="4077090"/>
            <a:ext cx="2376330" cy="1223573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추가 수정 예정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3199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943380"/>
          <a:ext cx="3528000" cy="443821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3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단계별 현상원가 차이 분석 수행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3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 산출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단계별 차이내역을 분석하는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차수를 포함함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프로젝트 관리의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개발일정 관리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탭상 중간평가 시기중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차수 콤보박스에 중간관리 일정 차수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실행 단추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최초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가 없는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현상원가가 재산출 된 경우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등 차이분석이 필요한 경우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삭제를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구분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자재별 재료비 내역 포함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비교대상이 되는 전단계 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 평가시는 견적원가일 수 있으며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단계마다 바뀜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비교 대상이 되는 전단계 원가를 의미하며 그에 맞게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Header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당 단계원가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비교기준이 되는 현단계 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단계마다 바뀜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차수에 맞게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Header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시작도 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Proto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완료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Pilot2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완료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차이금액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손익차이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매출액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매출총이익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영업이익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 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 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매출액과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29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55" name="TextBox 5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8" name="실행 단추: 앞으로 또는 다음 5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한쪽 모서리가 잘린 사각형 60"/>
          <p:cNvSpPr/>
          <p:nvPr/>
        </p:nvSpPr>
        <p:spPr bwMode="auto">
          <a:xfrm>
            <a:off x="1664290" y="1740516"/>
            <a:ext cx="1584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-</a:t>
            </a:r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누적</a:t>
            </a:r>
          </a:p>
        </p:txBody>
      </p: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423872" y="2048175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39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40" name="TextBox 3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1" name="실행 단추: 앞으로 또는 다음 4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438107" y="2555355"/>
          <a:ext cx="5464136" cy="3015840"/>
        </p:xfrm>
        <a:graphic>
          <a:graphicData uri="http://schemas.openxmlformats.org/drawingml/2006/table">
            <a:tbl>
              <a:tblPr/>
              <a:tblGrid>
                <a:gridCol w="108123"/>
                <a:gridCol w="216000"/>
                <a:gridCol w="216000"/>
                <a:gridCol w="216000"/>
                <a:gridCol w="424013"/>
                <a:gridCol w="468000"/>
                <a:gridCol w="468000"/>
                <a:gridCol w="720000"/>
                <a:gridCol w="396000"/>
                <a:gridCol w="720000"/>
                <a:gridCol w="396000"/>
                <a:gridCol w="720000"/>
                <a:gridCol w="396000"/>
              </a:tblGrid>
              <a:tr h="107950">
                <a:tc rowSpan="2"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 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 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차이금액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차이내역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950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620,000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매출원가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423,683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410,230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9,580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326,683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315,007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7,803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22,927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549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3,920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3,962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3,883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12,876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12,618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2,638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2,506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299,334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292,080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7,254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42,240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40,128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2,112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1,267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7,094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6,952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-245,000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부대비용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3,874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수율 차이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부대비용률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관세율차이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직접인원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M/H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임률차이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29,700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투자금액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물량차이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내용연수차이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금형비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11,640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Utility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1,940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 제조경비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2,943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매출총이익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196,317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214,770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18,453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판매비와관리비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적용판가차이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-250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판관비율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165,317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183,520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-18,203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14,748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6,222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타원 42"/>
          <p:cNvSpPr/>
          <p:nvPr/>
        </p:nvSpPr>
        <p:spPr>
          <a:xfrm>
            <a:off x="272350" y="160942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AutoShape 279"/>
          <p:cNvSpPr>
            <a:spLocks noChangeArrowheads="1"/>
          </p:cNvSpPr>
          <p:nvPr/>
        </p:nvSpPr>
        <p:spPr bwMode="auto">
          <a:xfrm>
            <a:off x="475976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AutoShape 279"/>
          <p:cNvSpPr>
            <a:spLocks noChangeArrowheads="1"/>
          </p:cNvSpPr>
          <p:nvPr/>
        </p:nvSpPr>
        <p:spPr bwMode="auto">
          <a:xfrm>
            <a:off x="518045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3199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970091"/>
          <a:ext cx="3528000" cy="123781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3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단계별 현상원가 차이 분석의 </a:t>
                      </a:r>
                      <a:r>
                        <a:rPr lang="ko-KR" altLang="en-US" sz="1000" b="1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누적 금액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 표시 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46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조회조건 및 각 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실행단추는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 차이분석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과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전단계원가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="1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두번째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열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가 항상 최초 견적원가로 고정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차이내역은 최초차이분석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당단계까지의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금액을 누적으로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29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55" name="TextBox 5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8" name="실행 단추: 앞으로 또는 다음 5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한쪽 모서리가 잘린 사각형 60"/>
          <p:cNvSpPr/>
          <p:nvPr/>
        </p:nvSpPr>
        <p:spPr bwMode="auto">
          <a:xfrm>
            <a:off x="1664290" y="1740516"/>
            <a:ext cx="1584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-</a:t>
            </a:r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누적</a:t>
            </a:r>
          </a:p>
        </p:txBody>
      </p: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423872" y="2048175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40" name="TextBox 3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1" name="실행 단추: 앞으로 또는 다음 4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438107" y="2555355"/>
          <a:ext cx="5464136" cy="3015840"/>
        </p:xfrm>
        <a:graphic>
          <a:graphicData uri="http://schemas.openxmlformats.org/drawingml/2006/table">
            <a:tbl>
              <a:tblPr/>
              <a:tblGrid>
                <a:gridCol w="108123"/>
                <a:gridCol w="216000"/>
                <a:gridCol w="216000"/>
                <a:gridCol w="216000"/>
                <a:gridCol w="424013"/>
                <a:gridCol w="468000"/>
                <a:gridCol w="468000"/>
                <a:gridCol w="720000"/>
                <a:gridCol w="396000"/>
                <a:gridCol w="720000"/>
                <a:gridCol w="396000"/>
                <a:gridCol w="720000"/>
                <a:gridCol w="396000"/>
              </a:tblGrid>
              <a:tr h="107950">
                <a:tc rowSpan="2"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차이금액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차이내역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950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620,000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매출원가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423,683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410,230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9,580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326,683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315,007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7,803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22,927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549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3,920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3,962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3,883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12,876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12,618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2,638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2,506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299,334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292,080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7,254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42,240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40,128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2,112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1,267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7,094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6,952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-245,000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부대비용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3,874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부대비용률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관세율차이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직접인원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M/H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임률차이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29,700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투자금액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물량차이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내용연수차이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금형비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11,640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1,940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 제조경비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2,943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매출총이익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196,317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214,770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18,453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판매비와관리비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적용판가차이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-250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판관비율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165,317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183,520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18,203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14,748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6,222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타원 42"/>
          <p:cNvSpPr/>
          <p:nvPr/>
        </p:nvSpPr>
        <p:spPr>
          <a:xfrm>
            <a:off x="1554637" y="160942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AutoShape 279"/>
          <p:cNvSpPr>
            <a:spLocks noChangeArrowheads="1"/>
          </p:cNvSpPr>
          <p:nvPr/>
        </p:nvSpPr>
        <p:spPr bwMode="auto">
          <a:xfrm>
            <a:off x="475976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AutoShape 279"/>
          <p:cNvSpPr>
            <a:spLocks noChangeArrowheads="1"/>
          </p:cNvSpPr>
          <p:nvPr/>
        </p:nvSpPr>
        <p:spPr bwMode="auto">
          <a:xfrm>
            <a:off x="518045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84304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767467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차이원인 상세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현상원가차이 요인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등록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" name="타원 70"/>
          <p:cNvSpPr/>
          <p:nvPr/>
        </p:nvSpPr>
        <p:spPr>
          <a:xfrm>
            <a:off x="338610" y="156999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435063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49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63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76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84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89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5" name="타원 64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46567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차이금액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당초 절감 목표금액 및 절감상세 계획을 보여주고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실제 절감활동 결과를 등록 하도록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검색조건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특정 사양과 차수까지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차이요인 등록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최초 등록한 부문별 절감계획의 실행 결과를 등록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실행 단추 기능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해당코드에 입력된 정보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절감결과를 등록 할 수 있도록 활성화</a:t>
                      </a:r>
                      <a:endParaRPr lang="en-US" altLang="ko-KR" sz="1000" b="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절감결과 등록 후 차이가 계산 될 수 있도록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정보 확인 후 최종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후 수정 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산출 원가항목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All(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재료비는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C/O,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신규 구분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가는각진제목체" pitchFamily="18" charset="-127"/>
                          <a:cs typeface="+mn-cs"/>
                        </a:rPr>
                        <a:t>전 단계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전 단계 산출원가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   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차수에 따라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Header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가 변경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당 단계원가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당 단계 산출 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      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차수에 따라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Header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가 변경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당 단계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매출액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매출총이익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영업이익은 반대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전 단계에서 수립한 절감 목표 금액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부문별 합계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부문별 절감 목표 및 달성내역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각 부문과 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기존에 등록된 내역을 불러옴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           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절감계획 상세 내역은 제외하고 금액만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클릭하여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Pop-Up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으로 첨부함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가는각진제목체" pitchFamily="18" charset="-127"/>
                          <a:cs typeface="+mn-cs"/>
                        </a:rPr>
                        <a:t>최종 확정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가는각진제목체" pitchFamily="18" charset="-127"/>
                          <a:cs typeface="+mn-cs"/>
                        </a:rPr>
                        <a:t> -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원가관리 팀에서 부문별 달성결과 등록 내역을 확인하여 이상이 없는 경우 확정하여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Freezing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400327" y="2502395"/>
          <a:ext cx="5502557" cy="2659843"/>
        </p:xfrm>
        <a:graphic>
          <a:graphicData uri="http://schemas.openxmlformats.org/drawingml/2006/table">
            <a:tbl>
              <a:tblPr/>
              <a:tblGrid>
                <a:gridCol w="47000"/>
                <a:gridCol w="127557"/>
                <a:gridCol w="432000"/>
                <a:gridCol w="468000"/>
                <a:gridCol w="468000"/>
                <a:gridCol w="468000"/>
                <a:gridCol w="468000"/>
                <a:gridCol w="360000"/>
                <a:gridCol w="360000"/>
                <a:gridCol w="432000"/>
                <a:gridCol w="360000"/>
                <a:gridCol w="360000"/>
                <a:gridCol w="360000"/>
                <a:gridCol w="432000"/>
                <a:gridCol w="360000"/>
              </a:tblGrid>
              <a:tr h="155352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 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 및 달성액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449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539,450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447,700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25,110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426,200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23,134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-600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-600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28,950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 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85,550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54,300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-16,200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84304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767467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차이원인 상세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현상원가차이 요인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등록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435063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13464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차이금액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당초 절감 목표금액 및 절감상세 계획을 보여주고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실제 절감활동 결과를 등록 하도록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달성내역을 클릭하면 나타나는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창을 이용하여 결과를 등록함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최초 목표 등록과 유사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회색부문만 입력하며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나머지는 불러오기 또는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자동계산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추가버튼을 이용하여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OEM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요청사항 등의 통제 불능항목 입력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400327" y="2502395"/>
          <a:ext cx="5502557" cy="2659843"/>
        </p:xfrm>
        <a:graphic>
          <a:graphicData uri="http://schemas.openxmlformats.org/drawingml/2006/table">
            <a:tbl>
              <a:tblPr/>
              <a:tblGrid>
                <a:gridCol w="47000"/>
                <a:gridCol w="127557"/>
                <a:gridCol w="432000"/>
                <a:gridCol w="468000"/>
                <a:gridCol w="468000"/>
                <a:gridCol w="468000"/>
                <a:gridCol w="468000"/>
                <a:gridCol w="360000"/>
                <a:gridCol w="360000"/>
                <a:gridCol w="432000"/>
                <a:gridCol w="360000"/>
                <a:gridCol w="360000"/>
                <a:gridCol w="360000"/>
                <a:gridCol w="432000"/>
                <a:gridCol w="360000"/>
              </a:tblGrid>
              <a:tr h="155352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 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 및 달성액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449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539,450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447,700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25,110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426,200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23,134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-600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-600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28,950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 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85,550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54,300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-16,200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" name="직사각형 53"/>
          <p:cNvSpPr/>
          <p:nvPr/>
        </p:nvSpPr>
        <p:spPr bwMode="auto">
          <a:xfrm flipH="1" flipV="1">
            <a:off x="3995189" y="5630571"/>
            <a:ext cx="663561" cy="615200"/>
          </a:xfrm>
          <a:prstGeom prst="rect">
            <a:avLst/>
          </a:prstGeom>
          <a:noFill/>
          <a:ln w="2857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416370" y="2473881"/>
          <a:ext cx="4862700" cy="3403459"/>
        </p:xfrm>
        <a:graphic>
          <a:graphicData uri="http://schemas.openxmlformats.org/drawingml/2006/table">
            <a:tbl>
              <a:tblPr/>
              <a:tblGrid>
                <a:gridCol w="914400"/>
                <a:gridCol w="97400"/>
                <a:gridCol w="720000"/>
                <a:gridCol w="756000"/>
                <a:gridCol w="635000"/>
                <a:gridCol w="571500"/>
                <a:gridCol w="685800"/>
                <a:gridCol w="482600"/>
              </a:tblGrid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85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#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국산화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144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글로벌 소싱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업체변경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400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576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 불능차이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외부요인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시장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500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자재별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절감 계획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Part No.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전단계 원가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통제불능요인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4,000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3,480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63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B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3,962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3,430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283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12,876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1,402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11,474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1,087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121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194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2,638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2,616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 40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21,000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1,756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</a:tr>
            </a:tbl>
          </a:graphicData>
        </a:graphic>
      </p:graphicFrame>
      <p:sp>
        <p:nvSpPr>
          <p:cNvPr id="69" name="AutoShape 279"/>
          <p:cNvSpPr>
            <a:spLocks noChangeArrowheads="1"/>
          </p:cNvSpPr>
          <p:nvPr/>
        </p:nvSpPr>
        <p:spPr bwMode="auto">
          <a:xfrm>
            <a:off x="4881040" y="299707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4437089" y="299694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2" name="AutoShape 279"/>
          <p:cNvSpPr>
            <a:spLocks noChangeArrowheads="1"/>
          </p:cNvSpPr>
          <p:nvPr/>
        </p:nvSpPr>
        <p:spPr bwMode="auto">
          <a:xfrm>
            <a:off x="3993137" y="299694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pic>
        <p:nvPicPr>
          <p:cNvPr id="7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4173" y="2939444"/>
            <a:ext cx="1428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AutoShape 279"/>
          <p:cNvSpPr>
            <a:spLocks noChangeArrowheads="1"/>
          </p:cNvSpPr>
          <p:nvPr/>
        </p:nvSpPr>
        <p:spPr bwMode="auto">
          <a:xfrm>
            <a:off x="3549185" y="299694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338610" y="232952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폭발 2 58"/>
          <p:cNvSpPr>
            <a:spLocks noChangeAspect="1"/>
          </p:cNvSpPr>
          <p:nvPr/>
        </p:nvSpPr>
        <p:spPr bwMode="auto">
          <a:xfrm>
            <a:off x="2720690" y="2384940"/>
            <a:ext cx="1114268" cy="648000"/>
          </a:xfrm>
          <a:prstGeom prst="irregularSeal2">
            <a:avLst/>
          </a:prstGeom>
          <a:solidFill>
            <a:schemeClr val="tx2">
              <a:lumMod val="75000"/>
            </a:schemeClr>
          </a:solidFill>
          <a:ln w="2857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Click</a:t>
            </a:r>
            <a:r>
              <a:rPr lang="ko-KR" altLang="en-US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&amp;</a:t>
            </a:r>
          </a:p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Pop-Up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2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4" grpId="1"/>
      <p:bldP spid="69" grpId="0" animBg="1"/>
      <p:bldP spid="69" grpId="1" animBg="1"/>
      <p:bldP spid="70" grpId="0" animBg="1"/>
      <p:bldP spid="70" grpId="1" animBg="1"/>
      <p:bldP spid="72" grpId="0" animBg="1"/>
      <p:bldP spid="72" grpId="1" animBg="1"/>
      <p:bldP spid="76" grpId="0" animBg="1"/>
      <p:bldP spid="76" grpId="1" animBg="1"/>
      <p:bldP spid="71" grpId="0" animBg="1"/>
      <p:bldP spid="71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34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중간 달성도 평가</a:t>
            </a: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단계별 중간 달성도 평가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345713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062655" y="212225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294270" y="2122259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40452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단계별 현상원가 차이분석 완료 후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중간 달성도 평가 수행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차이분석 완료 후 단계별 달성도 평가 수행결과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별로 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사양정보는 상세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안에서 선택함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(Default: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대표사양 중 물량이 가장 많은 것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 달성도 평가와 각 단계별 평가 결과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합계내역과 원가항목별 내역을 모두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화면 내 상단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하단 구분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원가절감 계획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등록시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입력된 각 부문과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원가항목을 대상으로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중간 평가 단계의 결과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Sum(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계산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중간평가 시기로 정의된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출도부터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시점의 평가결과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단계名은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프로젝트 기본정보의 중간평가 시기 참조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수립시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각 부문에 할당된 금액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차이분석 상세 내역결과 산출된 실질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차이금액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±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통제불능차이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상세요인 결과 참조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÷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 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소수점 둘째 자리까지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Min:0%, Max:100%)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통제불능차이의 효과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좌측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text: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상세요인 등록 결과 중 통제 불능차이의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Max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값 항목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 차이 합계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÷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소수점 둘째 자리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Text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" name="타원 52"/>
          <p:cNvSpPr/>
          <p:nvPr/>
        </p:nvSpPr>
        <p:spPr>
          <a:xfrm>
            <a:off x="338610" y="156999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표 63"/>
          <p:cNvGraphicFramePr>
            <a:graphicFrameLocks noGrp="1"/>
          </p:cNvGraphicFramePr>
          <p:nvPr/>
        </p:nvGraphicFramePr>
        <p:xfrm>
          <a:off x="391985" y="2536305"/>
          <a:ext cx="5330755" cy="1224825"/>
        </p:xfrm>
        <a:graphic>
          <a:graphicData uri="http://schemas.openxmlformats.org/drawingml/2006/table">
            <a:tbl>
              <a:tblPr/>
              <a:tblGrid>
                <a:gridCol w="360000"/>
                <a:gridCol w="432000"/>
                <a:gridCol w="313200"/>
                <a:gridCol w="454443"/>
                <a:gridCol w="504000"/>
                <a:gridCol w="457534"/>
                <a:gridCol w="216000"/>
                <a:gridCol w="432000"/>
                <a:gridCol w="313200"/>
                <a:gridCol w="457534"/>
                <a:gridCol w="504000"/>
                <a:gridCol w="457534"/>
                <a:gridCol w="216000"/>
                <a:gridCol w="213310"/>
              </a:tblGrid>
              <a:tr h="161925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156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67.83%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20.00%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144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72.00%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15.00%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345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71.43%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14.30%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292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93.33%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12.00%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구매관리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138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86.96%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90.00%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425.5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356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83.67%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81.08%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207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175.7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84.88%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148.5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87.14%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380057" y="3861060"/>
          <a:ext cx="5533458" cy="2174880"/>
        </p:xfrm>
        <a:graphic>
          <a:graphicData uri="http://schemas.openxmlformats.org/drawingml/2006/table">
            <a:tbl>
              <a:tblPr/>
              <a:tblGrid>
                <a:gridCol w="360000"/>
                <a:gridCol w="576000"/>
                <a:gridCol w="381822"/>
                <a:gridCol w="312400"/>
                <a:gridCol w="396000"/>
                <a:gridCol w="504000"/>
                <a:gridCol w="396000"/>
                <a:gridCol w="216000"/>
                <a:gridCol w="381822"/>
                <a:gridCol w="312400"/>
                <a:gridCol w="396000"/>
                <a:gridCol w="504000"/>
                <a:gridCol w="396000"/>
                <a:gridCol w="216000"/>
                <a:gridCol w="185014"/>
              </a:tblGrid>
              <a:tr h="10156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91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67.83%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72.00%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89.13%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14.30%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93.33%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345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64.35%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구매관리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57.5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88.70%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85.71%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85.71%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425.5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83.67%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81.08%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rowSpan="5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88.20%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87.14%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57.5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86.96%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84.00%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34.5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66.67%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91.30%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10.7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93.04%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95.00%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목표 </a:t>
            </a:r>
            <a:r>
              <a:rPr lang="ko-KR" altLang="en-US" sz="1000" dirty="0" err="1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재배부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목표 </a:t>
            </a:r>
            <a:r>
              <a:rPr lang="ko-KR" altLang="en-US" sz="900" dirty="0" err="1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재배부</a:t>
            </a:r>
            <a:endParaRPr lang="ko-KR" altLang="en-US" sz="9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417658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062655" y="212225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294270" y="2122259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53172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현상원가 차이분석과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중간 달성도 평가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완료 후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목표원가 </a:t>
                      </a:r>
                      <a:r>
                        <a:rPr lang="ko-KR" altLang="en-US" sz="1000" kern="120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재배부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수행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재배부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사유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판가변경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수익률 변경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 불가능한 외부 효과로 인한 전체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&amp;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조정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차이분석 완료 후 단계별 달성도 평가 수행결과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별로 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사양정보는 상세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안에서 선택함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(Default: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대표사양 중 물량이 가장 많은 것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실행 단추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삭제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평가까지 완료 후 버튼을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이용하여 기능을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2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원가항목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목표수립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차이분석과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절감목표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전단계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항목별 목표 대상 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현상원가 산출액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현 단계 현상원가 산출 결과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원가변동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화면 내 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+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타 화면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data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소환 후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validating)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총 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단순차이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차이분석의 분석대상 금액과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상세원인 분석 결과 절감인정금액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통제불능 제외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상세원인 분석 결과 통제불능으로 인식된 금액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재배부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타부문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와 당 화면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를 조합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미달성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‘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절감목표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총 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’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통제불능 조정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∑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원가변동의 통제불가 금액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       ×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최초 절감 목표 비율 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판가변경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통제불가능한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판가 변경의 효과를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각 부문에 배부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절감 목표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전단계에서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입력된 원가항목별 대상 부문과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목표재배부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개 항목의 합계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재료비는 구매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구매관리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설계 구분 필요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</a:t>
                      </a:r>
                      <a:r>
                        <a:rPr lang="ko-KR" altLang="en-US" sz="1000" b="1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전단계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목표와 차이분석 상세 내역 활용 연산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절감계획 수정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금액을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Click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하여 변경된 원가 절감 계획을 등록하도록 할 수 있음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or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최초 등록화면 이용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※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목표재배부와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부문별 절감 목표 사이 또는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 우측에  최종 부문별 목표원가 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화면내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합계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39" name="표 38"/>
          <p:cNvGraphicFramePr>
            <a:graphicFrameLocks noGrp="1"/>
          </p:cNvGraphicFramePr>
          <p:nvPr/>
        </p:nvGraphicFramePr>
        <p:xfrm>
          <a:off x="413475" y="2514586"/>
          <a:ext cx="5575475" cy="3030720"/>
        </p:xfrm>
        <a:graphic>
          <a:graphicData uri="http://schemas.openxmlformats.org/drawingml/2006/table">
            <a:tbl>
              <a:tblPr/>
              <a:tblGrid>
                <a:gridCol w="47000"/>
                <a:gridCol w="108000"/>
                <a:gridCol w="432000"/>
                <a:gridCol w="461250"/>
                <a:gridCol w="461250"/>
                <a:gridCol w="461250"/>
                <a:gridCol w="409575"/>
                <a:gridCol w="409575"/>
                <a:gridCol w="409575"/>
                <a:gridCol w="396000"/>
                <a:gridCol w="396000"/>
                <a:gridCol w="396000"/>
                <a:gridCol w="252000"/>
                <a:gridCol w="360000"/>
                <a:gridCol w="252000"/>
                <a:gridCol w="324000"/>
              </a:tblGrid>
              <a:tr h="114300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전단계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 변동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재배부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0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총 변동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미달성 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 조정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 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543,820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25,990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23,880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2,110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4,370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2,110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26,810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23,810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21,850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1,960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1,863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1,800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176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172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672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427,500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21,834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20,050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1,784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2,500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1,691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2,095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2,095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49,200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104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804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390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11,750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285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77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2,900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81,180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30,990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 250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65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50,180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31,240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3"/>
          <p:cNvSpPr txBox="1">
            <a:spLocks noChangeArrowheads="1"/>
          </p:cNvSpPr>
          <p:nvPr/>
        </p:nvSpPr>
        <p:spPr bwMode="auto">
          <a:xfrm>
            <a:off x="3926015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41" name="그룹 74"/>
          <p:cNvGrpSpPr/>
          <p:nvPr/>
        </p:nvGrpSpPr>
        <p:grpSpPr>
          <a:xfrm>
            <a:off x="4157630" y="1316960"/>
            <a:ext cx="360000" cy="226591"/>
            <a:chOff x="2709337" y="1307502"/>
            <a:chExt cx="360000" cy="226591"/>
          </a:xfrm>
        </p:grpSpPr>
        <p:sp>
          <p:nvSpPr>
            <p:cNvPr id="42" name="TextBox 4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3" name="실행 단추: 앞으로 또는 다음 4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75976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8045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4592950" y="198879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298513" y="2396909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38610" y="1988798"/>
            <a:ext cx="5802728" cy="439295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34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프로젝트 별 달성도 현황</a:t>
            </a: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44488" y="1740516"/>
            <a:ext cx="1306745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프로젝트 별 달성 현황</a:t>
            </a: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565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193752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83068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5413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863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97774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40634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773868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2996607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0" name="TextBox 33"/>
          <p:cNvSpPr txBox="1">
            <a:spLocks noChangeArrowheads="1"/>
          </p:cNvSpPr>
          <p:nvPr/>
        </p:nvSpPr>
        <p:spPr bwMode="auto">
          <a:xfrm>
            <a:off x="3476487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Event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3850070" y="1316960"/>
            <a:ext cx="360000" cy="226591"/>
            <a:chOff x="2709337" y="1307502"/>
            <a:chExt cx="360000" cy="226591"/>
          </a:xfrm>
        </p:grpSpPr>
        <p:sp>
          <p:nvSpPr>
            <p:cNvPr id="42" name="TextBox 4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3" name="실행 단추: 앞으로 또는 다음 4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36" name="TextBox 33"/>
          <p:cNvSpPr txBox="1">
            <a:spLocks noChangeArrowheads="1"/>
          </p:cNvSpPr>
          <p:nvPr/>
        </p:nvSpPr>
        <p:spPr bwMode="auto">
          <a:xfrm>
            <a:off x="4306390" y="131744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매출규모</a:t>
            </a:r>
          </a:p>
        </p:txBody>
      </p:sp>
      <p:grpSp>
        <p:nvGrpSpPr>
          <p:cNvPr id="37" name="그룹 74"/>
          <p:cNvGrpSpPr/>
          <p:nvPr/>
        </p:nvGrpSpPr>
        <p:grpSpPr>
          <a:xfrm>
            <a:off x="4739146" y="1317449"/>
            <a:ext cx="360000" cy="226591"/>
            <a:chOff x="2709337" y="1307502"/>
            <a:chExt cx="360000" cy="226591"/>
          </a:xfrm>
        </p:grpSpPr>
        <p:sp>
          <p:nvSpPr>
            <p:cNvPr id="38" name="TextBox 3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39" name="실행 단추: 앞으로 또는 다음 3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1" name="TextBox 33"/>
          <p:cNvSpPr txBox="1">
            <a:spLocks noChangeArrowheads="1"/>
          </p:cNvSpPr>
          <p:nvPr/>
        </p:nvSpPr>
        <p:spPr bwMode="auto">
          <a:xfrm>
            <a:off x="5215884" y="131599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Status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49" name="그룹 74"/>
          <p:cNvGrpSpPr/>
          <p:nvPr/>
        </p:nvGrpSpPr>
        <p:grpSpPr>
          <a:xfrm>
            <a:off x="5601140" y="1315998"/>
            <a:ext cx="360000" cy="226591"/>
            <a:chOff x="2709337" y="1307502"/>
            <a:chExt cx="360000" cy="226591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3" name="실행 단추: 앞으로 또는 다음 5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416370" y="2612505"/>
          <a:ext cx="7921101" cy="3658320"/>
        </p:xfrm>
        <a:graphic>
          <a:graphicData uri="http://schemas.openxmlformats.org/drawingml/2006/table">
            <a:tbl>
              <a:tblPr/>
              <a:tblGrid>
                <a:gridCol w="447935"/>
                <a:gridCol w="447935"/>
                <a:gridCol w="447935"/>
                <a:gridCol w="814428"/>
                <a:gridCol w="1233467"/>
                <a:gridCol w="502523"/>
                <a:gridCol w="639576"/>
                <a:gridCol w="656252"/>
                <a:gridCol w="651542"/>
                <a:gridCol w="466940"/>
                <a:gridCol w="521234"/>
                <a:gridCol w="545667"/>
                <a:gridCol w="545667"/>
              </a:tblGrid>
              <a:tr h="180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현재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Project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SOP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예상 매출액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 현황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Event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억원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Status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예상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880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P/T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내수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F-DEGRADE 3.5T-D(NARR.),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전자식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2012/03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후륜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속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3.5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T-C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2012/09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대형트럭 수출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04EM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수출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P/S OIL PUMP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PP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2011/12</a:t>
                      </a:r>
                      <a:b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2013/06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98.1%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대우버스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일반버스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고속버스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BS106/BH115E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2014/12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52.5%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AXLE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HR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HR 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AⅡ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6MT 6.5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호 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저상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장축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2012/11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980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4.9%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4.8%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TQ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A,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AⅡ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5AT VGT </a:t>
                      </a:r>
                      <a:endParaRPr lang="en-US" sz="8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4P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2011/12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2013/06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760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4.7%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4.7%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 R/AXLE ASSY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2012/03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72.0%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3.6%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쌍용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D145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D100 3.91R STL-C M/T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2012/09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76.8%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HG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 HG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2011/12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2013/06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2.7%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2.5%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YD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 YD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2014/12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86.0%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KH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 YD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2012/12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2015/01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39.6%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2.1%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8" name="타원 117"/>
          <p:cNvSpPr>
            <a:spLocks noChangeAspect="1"/>
          </p:cNvSpPr>
          <p:nvPr/>
        </p:nvSpPr>
        <p:spPr>
          <a:xfrm>
            <a:off x="6405282" y="316495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9" name="타원 118"/>
          <p:cNvSpPr>
            <a:spLocks noChangeAspect="1"/>
          </p:cNvSpPr>
          <p:nvPr/>
        </p:nvSpPr>
        <p:spPr>
          <a:xfrm>
            <a:off x="6405282" y="345293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0" name="타원 119"/>
          <p:cNvSpPr>
            <a:spLocks noChangeAspect="1"/>
          </p:cNvSpPr>
          <p:nvPr/>
        </p:nvSpPr>
        <p:spPr>
          <a:xfrm>
            <a:off x="6405282" y="374091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1" name="타원 120"/>
          <p:cNvSpPr>
            <a:spLocks noChangeAspect="1"/>
          </p:cNvSpPr>
          <p:nvPr/>
        </p:nvSpPr>
        <p:spPr>
          <a:xfrm>
            <a:off x="6405282" y="431687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2" name="타원 121"/>
          <p:cNvSpPr>
            <a:spLocks noChangeAspect="1"/>
          </p:cNvSpPr>
          <p:nvPr/>
        </p:nvSpPr>
        <p:spPr>
          <a:xfrm>
            <a:off x="6405282" y="460485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3" name="타원 122"/>
          <p:cNvSpPr>
            <a:spLocks noChangeAspect="1"/>
          </p:cNvSpPr>
          <p:nvPr/>
        </p:nvSpPr>
        <p:spPr>
          <a:xfrm>
            <a:off x="6405282" y="546879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4" name="타원 123"/>
          <p:cNvSpPr>
            <a:spLocks noChangeAspect="1"/>
          </p:cNvSpPr>
          <p:nvPr/>
        </p:nvSpPr>
        <p:spPr>
          <a:xfrm>
            <a:off x="6405282" y="5756778"/>
            <a:ext cx="180000" cy="18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Y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5" name="타원 124"/>
          <p:cNvSpPr>
            <a:spLocks noChangeAspect="1"/>
          </p:cNvSpPr>
          <p:nvPr/>
        </p:nvSpPr>
        <p:spPr>
          <a:xfrm>
            <a:off x="6405282" y="4028898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6" name="타원 125"/>
          <p:cNvSpPr>
            <a:spLocks noChangeAspect="1"/>
          </p:cNvSpPr>
          <p:nvPr/>
        </p:nvSpPr>
        <p:spPr>
          <a:xfrm>
            <a:off x="6405282" y="5180818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7" name="타원 126"/>
          <p:cNvSpPr>
            <a:spLocks noChangeAspect="1"/>
          </p:cNvSpPr>
          <p:nvPr/>
        </p:nvSpPr>
        <p:spPr>
          <a:xfrm>
            <a:off x="6405282" y="4892838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8" name="타원 127"/>
          <p:cNvSpPr>
            <a:spLocks noChangeAspect="1"/>
          </p:cNvSpPr>
          <p:nvPr/>
        </p:nvSpPr>
        <p:spPr>
          <a:xfrm>
            <a:off x="6405282" y="6044755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0" name="직사각형 129"/>
          <p:cNvSpPr>
            <a:spLocks noChangeArrowheads="1"/>
          </p:cNvSpPr>
          <p:nvPr/>
        </p:nvSpPr>
        <p:spPr bwMode="auto">
          <a:xfrm>
            <a:off x="404494" y="2586681"/>
            <a:ext cx="5868000" cy="54000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/>
          </a:ln>
        </p:spPr>
      </p:sp>
      <p:sp>
        <p:nvSpPr>
          <p:cNvPr id="131" name="직사각형 130"/>
          <p:cNvSpPr>
            <a:spLocks noChangeArrowheads="1"/>
          </p:cNvSpPr>
          <p:nvPr/>
        </p:nvSpPr>
        <p:spPr bwMode="auto">
          <a:xfrm>
            <a:off x="6284369" y="2586681"/>
            <a:ext cx="2088000" cy="367200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/>
          </a:ln>
        </p:spPr>
      </p: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51290"/>
          <a:ext cx="3528000" cy="15348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특정 조건에 일치하는 전체 프로젝트 나열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해당 프로젝트의 주요 기본정보와 현재 달성도 표시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조회조건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OEM,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차좋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매출규모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Status: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 현황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모든 조회조건은 필수가 아님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사업부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차종은 좌측부터 선택하여야 하고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그 외는 독립적임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실적 달성도 평가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36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9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3001959" cy="418320"/>
        </p:xfrm>
        <a:graphic>
          <a:graphicData uri="http://schemas.openxmlformats.org/drawingml/2006/table">
            <a:tbl>
              <a:tblPr/>
              <a:tblGrid>
                <a:gridCol w="864000"/>
                <a:gridCol w="430898"/>
                <a:gridCol w="972000"/>
                <a:gridCol w="735061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5328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454994" cy="5218800"/>
        </p:xfrm>
        <a:graphic>
          <a:graphicData uri="http://schemas.openxmlformats.org/drawingml/2006/table">
            <a:tbl>
              <a:tblPr/>
              <a:tblGrid>
                <a:gridCol w="574994"/>
                <a:gridCol w="2880000"/>
              </a:tblGrid>
              <a:tr h="39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실적 달성도 평가를 위하여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ERP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로부터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 제조원가를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함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SOP +6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결산 완료 이후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4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앞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조건의 선택결과에 따라 해당되는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ERP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코드 체계와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연계하는 것이 가장 바람직하고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불가능한 경우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기본정보에 입력된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찾아서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목록을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I/F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대상 연월을 표시하고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연도와 월만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달력 표시 형식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or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선택할 수 있도록 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 단추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없는 경우 생성을 통해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필요시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삭제 버튼으로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양산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BOM(M-BOM)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실적 투입단가 이용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M-BOM: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출고단가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Loss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투입 재료비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751127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76134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298513" y="26809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TextBox 33"/>
          <p:cNvSpPr txBox="1">
            <a:spLocks noChangeArrowheads="1"/>
          </p:cNvSpPr>
          <p:nvPr/>
        </p:nvSpPr>
        <p:spPr bwMode="auto">
          <a:xfrm>
            <a:off x="394486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품번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58" name="그룹 74"/>
          <p:cNvGrpSpPr/>
          <p:nvPr/>
        </p:nvGrpSpPr>
        <p:grpSpPr>
          <a:xfrm>
            <a:off x="4257376" y="1306800"/>
            <a:ext cx="360000" cy="226591"/>
            <a:chOff x="2709337" y="1307502"/>
            <a:chExt cx="360000" cy="226591"/>
          </a:xfrm>
        </p:grpSpPr>
        <p:sp>
          <p:nvSpPr>
            <p:cNvPr id="59" name="TextBox 5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3" name="실행 단추: 앞으로 또는 다음 6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4" name="TextBox 33"/>
          <p:cNvSpPr txBox="1">
            <a:spLocks noChangeArrowheads="1"/>
          </p:cNvSpPr>
          <p:nvPr/>
        </p:nvSpPr>
        <p:spPr bwMode="auto">
          <a:xfrm>
            <a:off x="4875605" y="130474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연월</a:t>
            </a:r>
          </a:p>
        </p:txBody>
      </p:sp>
      <p:grpSp>
        <p:nvGrpSpPr>
          <p:cNvPr id="65" name="그룹 74"/>
          <p:cNvGrpSpPr/>
          <p:nvPr/>
        </p:nvGrpSpPr>
        <p:grpSpPr>
          <a:xfrm>
            <a:off x="5143680" y="1304749"/>
            <a:ext cx="360000" cy="226591"/>
            <a:chOff x="2709337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4326120" y="213282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4067670" y="201419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1" name="TextBox 33"/>
          <p:cNvSpPr txBox="1">
            <a:spLocks noChangeArrowheads="1"/>
          </p:cNvSpPr>
          <p:nvPr/>
        </p:nvSpPr>
        <p:spPr bwMode="auto">
          <a:xfrm>
            <a:off x="560390" y="2677636"/>
            <a:ext cx="1529230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M-BOM</a:t>
            </a:r>
            <a:r>
              <a:rPr lang="ko-KR" altLang="en-US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과 투입재료비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/>
        </p:nvGraphicFramePr>
        <p:xfrm>
          <a:off x="470834" y="2923274"/>
          <a:ext cx="3556674" cy="2784240"/>
        </p:xfrm>
        <a:graphic>
          <a:graphicData uri="http://schemas.openxmlformats.org/drawingml/2006/table">
            <a:tbl>
              <a:tblPr/>
              <a:tblGrid>
                <a:gridCol w="576000"/>
                <a:gridCol w="468000"/>
                <a:gridCol w="368018"/>
                <a:gridCol w="520301"/>
                <a:gridCol w="545682"/>
                <a:gridCol w="456850"/>
                <a:gridCol w="621823"/>
              </a:tblGrid>
              <a:tr h="228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통화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통화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25,000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101,010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10,000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40,404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다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2,020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USD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177,778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8,000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8,081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12350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바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2,500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12351b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10,000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12352c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아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6,000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12,121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361,616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Loss 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0.50%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투입 재료비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359,808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3" name="직사각형 72"/>
          <p:cNvSpPr/>
          <p:nvPr/>
        </p:nvSpPr>
        <p:spPr bwMode="auto">
          <a:xfrm>
            <a:off x="470834" y="2916303"/>
            <a:ext cx="1402706" cy="2096917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1902075" y="2916303"/>
            <a:ext cx="1537007" cy="2096917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6" name="모서리가 둥근 사각형 설명선 75"/>
          <p:cNvSpPr/>
          <p:nvPr/>
        </p:nvSpPr>
        <p:spPr bwMode="auto">
          <a:xfrm>
            <a:off x="3342326" y="2558302"/>
            <a:ext cx="1685296" cy="238667"/>
          </a:xfrm>
          <a:prstGeom prst="wedgeRoundRectCallout">
            <a:avLst>
              <a:gd name="adj1" fmla="val -48355"/>
              <a:gd name="adj2" fmla="val 101368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통화 및 당월 자재 출고 단가</a:t>
            </a:r>
          </a:p>
        </p:txBody>
      </p:sp>
      <p:sp>
        <p:nvSpPr>
          <p:cNvPr id="77" name="모서리가 둥근 사각형 설명선 76"/>
          <p:cNvSpPr/>
          <p:nvPr/>
        </p:nvSpPr>
        <p:spPr bwMode="auto">
          <a:xfrm>
            <a:off x="1496520" y="5202746"/>
            <a:ext cx="1685296" cy="360000"/>
          </a:xfrm>
          <a:prstGeom prst="wedgeRoundRectCallout">
            <a:avLst>
              <a:gd name="adj1" fmla="val -57791"/>
              <a:gd name="adj2" fmla="val -99728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당월 실적 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M-BOM</a:t>
            </a:r>
            <a:endParaRPr lang="ko-KR" altLang="en-US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실적 달성도 평가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36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9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3001959" cy="418320"/>
        </p:xfrm>
        <a:graphic>
          <a:graphicData uri="http://schemas.openxmlformats.org/drawingml/2006/table">
            <a:tbl>
              <a:tblPr/>
              <a:tblGrid>
                <a:gridCol w="864000"/>
                <a:gridCol w="430898"/>
                <a:gridCol w="972000"/>
                <a:gridCol w="735061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5328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454994" cy="5218800"/>
        </p:xfrm>
        <a:graphic>
          <a:graphicData uri="http://schemas.openxmlformats.org/drawingml/2006/table">
            <a:tbl>
              <a:tblPr/>
              <a:tblGrid>
                <a:gridCol w="574994"/>
                <a:gridCol w="2880000"/>
              </a:tblGrid>
              <a:tr h="39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실적 달성도 평가를 위하여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ERP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로부터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 제조원가를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함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SOP +6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결산 완료 이후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4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투입가공비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앞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조건의 선택결과에 따라 해당되는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ERP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코드 체계와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연계하는 것이 가장 바람직하고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불가능한 경우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기본정보에 입력된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찾아서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목록을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I/F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대상 연월을 표시하고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연도와 월만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달력 표시 형식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or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선택할 수 있도록 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판매비와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관리비 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없는 경우 생성을 통해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필요시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삭제 버튼으로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전단계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항목별 목표 대상 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 단계 현상원가 산출 결과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 내 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타 화면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소환 후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validating)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단순차이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차이분석의 분석대상 금액과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Click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하여 변경된 원가 절감 계획을 등록하도록 할 수 있음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or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등록화면 이용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※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목표재배부와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부문별 절감 목표 사이 또는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 우측에  최종 부문별 목표원가 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합계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751127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76134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TextBox 33"/>
          <p:cNvSpPr txBox="1">
            <a:spLocks noChangeArrowheads="1"/>
          </p:cNvSpPr>
          <p:nvPr/>
        </p:nvSpPr>
        <p:spPr bwMode="auto">
          <a:xfrm>
            <a:off x="394486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품번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6" name="그룹 74"/>
          <p:cNvGrpSpPr/>
          <p:nvPr/>
        </p:nvGrpSpPr>
        <p:grpSpPr>
          <a:xfrm>
            <a:off x="4257376" y="1306800"/>
            <a:ext cx="360000" cy="226591"/>
            <a:chOff x="2709337" y="1307502"/>
            <a:chExt cx="360000" cy="226591"/>
          </a:xfrm>
        </p:grpSpPr>
        <p:sp>
          <p:nvSpPr>
            <p:cNvPr id="59" name="TextBox 5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3" name="실행 단추: 앞으로 또는 다음 6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4" name="TextBox 33"/>
          <p:cNvSpPr txBox="1">
            <a:spLocks noChangeArrowheads="1"/>
          </p:cNvSpPr>
          <p:nvPr/>
        </p:nvSpPr>
        <p:spPr bwMode="auto">
          <a:xfrm>
            <a:off x="4875605" y="130474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연월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5143680" y="1304749"/>
            <a:ext cx="360000" cy="226591"/>
            <a:chOff x="2709337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4326120" y="213282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4067670" y="201419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1" name="TextBox 33"/>
          <p:cNvSpPr txBox="1">
            <a:spLocks noChangeArrowheads="1"/>
          </p:cNvSpPr>
          <p:nvPr/>
        </p:nvSpPr>
        <p:spPr bwMode="auto">
          <a:xfrm>
            <a:off x="615039" y="2536424"/>
            <a:ext cx="1529230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투입가공비</a:t>
            </a:r>
          </a:p>
        </p:txBody>
      </p:sp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442874" y="2749712"/>
          <a:ext cx="5305500" cy="1372140"/>
        </p:xfrm>
        <a:graphic>
          <a:graphicData uri="http://schemas.openxmlformats.org/drawingml/2006/table">
            <a:tbl>
              <a:tblPr/>
              <a:tblGrid>
                <a:gridCol w="792000"/>
                <a:gridCol w="571500"/>
                <a:gridCol w="533400"/>
                <a:gridCol w="396000"/>
                <a:gridCol w="571500"/>
                <a:gridCol w="571500"/>
                <a:gridCol w="609600"/>
                <a:gridCol w="684000"/>
                <a:gridCol w="576000"/>
              </a:tblGrid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라인코드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라인 명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공정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세부공정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C/T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C/T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 단가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연마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생산직접비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치절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치절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인건비성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연마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치절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5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6,665 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75" name="TextBox 33"/>
          <p:cNvSpPr txBox="1">
            <a:spLocks noChangeArrowheads="1"/>
          </p:cNvSpPr>
          <p:nvPr/>
        </p:nvSpPr>
        <p:spPr bwMode="auto">
          <a:xfrm>
            <a:off x="615380" y="4207858"/>
            <a:ext cx="1529230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100" b="1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판매비와</a:t>
            </a:r>
            <a:r>
              <a:rPr lang="ko-KR" altLang="en-US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 관리비 등</a:t>
            </a:r>
          </a:p>
        </p:txBody>
      </p:sp>
      <p:graphicFrame>
        <p:nvGraphicFramePr>
          <p:cNvPr id="77" name="표 76"/>
          <p:cNvGraphicFramePr>
            <a:graphicFrameLocks noGrp="1"/>
          </p:cNvGraphicFramePr>
          <p:nvPr/>
        </p:nvGraphicFramePr>
        <p:xfrm>
          <a:off x="442874" y="4431390"/>
          <a:ext cx="1422400" cy="1764180"/>
        </p:xfrm>
        <a:graphic>
          <a:graphicData uri="http://schemas.openxmlformats.org/drawingml/2006/table">
            <a:tbl>
              <a:tblPr/>
              <a:tblGrid>
                <a:gridCol w="812800"/>
                <a:gridCol w="609600"/>
              </a:tblGrid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판관인건비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740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운반비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수출비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품질보증비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광고선전비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연구비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기타판관비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2,666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타원 72"/>
          <p:cNvSpPr/>
          <p:nvPr/>
        </p:nvSpPr>
        <p:spPr>
          <a:xfrm>
            <a:off x="353503" y="421117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53162" y="253973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318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1.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원가관리팀에서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프로젝트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단위로 견적원가 산출 상세 일정을 수립하는 화면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2.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조건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기타 일자는 입력한 기간에 의해 자동으로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생성됨</a:t>
            </a:r>
            <a:endParaRPr kumimoji="0" lang="en-US" altLang="ko-KR" sz="105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3.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입력 조건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기간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Working day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일 수로 입력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주관부서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필요한 경우에 수정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선행작업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Task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간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Dependency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설정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4.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버튼 설명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801688" indent="-801688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조회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영업에서 입력한 데이터를 조회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801688" indent="-801688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저장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입력한 데이터를 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Project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일정 테이블에 저장한다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.</a:t>
            </a:r>
          </a:p>
          <a:p>
            <a:pPr marL="1076325" indent="-1076325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표준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TASK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관리 참고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원가관리시스템 표준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WBS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테이블 데이터를 </a:t>
            </a:r>
            <a:r>
              <a:rPr kumimoji="0" lang="ko-KR" altLang="en-US" sz="1050" dirty="0" err="1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팝업창으로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표시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076325" indent="-1076325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5.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주의사항 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첫 시작일자와 마지막 완료일자로 </a:t>
            </a:r>
            <a:r>
              <a:rPr kumimoji="0" lang="ko-KR" altLang="en-US" sz="1050" dirty="0" err="1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카렌더를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생성하고 기간에 의하여 주말을 제외한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Working day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에 색으로 표시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  <a:p>
            <a:pPr marL="179388" indent="-179388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</a:p>
        </p:txBody>
      </p:sp>
      <p:sp>
        <p:nvSpPr>
          <p:cNvPr id="24" name="직사각형 23"/>
          <p:cNvSpPr/>
          <p:nvPr/>
        </p:nvSpPr>
        <p:spPr bwMode="auto">
          <a:xfrm>
            <a:off x="6393200" y="188550"/>
            <a:ext cx="3312460" cy="136819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앞 장의 내용에 추가하는 경우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사용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..</a:t>
            </a: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Ex, </a:t>
            </a:r>
            <a:r>
              <a:rPr lang="ko-KR" altLang="en-US" sz="1800" dirty="0" err="1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계산로직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내용 설명 등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자유양식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60827" y="908650"/>
            <a:ext cx="169545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buFont typeface="Arial" charset="0"/>
              <a:buAutoNum type="arabicPeriod"/>
            </a:pPr>
            <a:r>
              <a:rPr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감가상각비 </a:t>
            </a:r>
            <a:r>
              <a:rPr lang="ko-KR" altLang="en-US" sz="12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계산</a:t>
            </a: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4913752" y="1772250"/>
            <a:ext cx="4287838" cy="128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내용 연수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취득연월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연도 및 월 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총 투자비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통화는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KRW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가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default,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선택 가능하도록 함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수량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기준정보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(**)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에서 가져와서 보여줌</a:t>
            </a:r>
            <a:endParaRPr lang="en-US" altLang="ko-KR" sz="11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기타</a:t>
            </a:r>
            <a:r>
              <a:rPr lang="en-US" altLang="ko-KR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endParaRPr lang="en-US" altLang="ko-KR" sz="1100" b="1" dirty="0">
              <a:solidFill>
                <a:srgbClr val="FF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endParaRPr lang="ko-KR" altLang="en-US" sz="110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7" name="직사각형 9"/>
          <p:cNvSpPr>
            <a:spLocks noChangeArrowheads="1"/>
          </p:cNvSpPr>
          <p:nvPr/>
        </p:nvSpPr>
        <p:spPr bwMode="auto">
          <a:xfrm>
            <a:off x="4913752" y="1372200"/>
            <a:ext cx="865188" cy="287337"/>
          </a:xfrm>
          <a:prstGeom prst="rect">
            <a:avLst/>
          </a:prstGeom>
          <a:solidFill>
            <a:schemeClr val="tx2"/>
          </a:solidFill>
          <a:ln w="6350" algn="ctr">
            <a:noFill/>
            <a:round/>
            <a:headEnd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ko-KR" altLang="en-US" sz="1000" b="1" dirty="0" smtClean="0">
                <a:solidFill>
                  <a:srgbClr val="FFFFFF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기존 라인</a:t>
            </a:r>
            <a:endParaRPr lang="ko-KR" altLang="en-US" sz="1000" b="1" dirty="0">
              <a:solidFill>
                <a:srgbClr val="FFFFFF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8" name="직사각형 11"/>
          <p:cNvSpPr>
            <a:spLocks noChangeArrowheads="1"/>
          </p:cNvSpPr>
          <p:nvPr/>
        </p:nvSpPr>
        <p:spPr bwMode="auto">
          <a:xfrm>
            <a:off x="4913752" y="3761865"/>
            <a:ext cx="865188" cy="287338"/>
          </a:xfrm>
          <a:prstGeom prst="rect">
            <a:avLst/>
          </a:prstGeom>
          <a:solidFill>
            <a:schemeClr val="tx2"/>
          </a:solidFill>
          <a:ln w="6350" algn="ctr">
            <a:noFill/>
            <a:round/>
            <a:headEnd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ko-KR" altLang="en-US" sz="1000" b="1" dirty="0" smtClean="0">
                <a:solidFill>
                  <a:srgbClr val="FFFFFF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신규 라인</a:t>
            </a:r>
            <a:endParaRPr lang="ko-KR" altLang="en-US" sz="1000" b="1" dirty="0">
              <a:solidFill>
                <a:srgbClr val="FFFFFF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913752" y="4293120"/>
            <a:ext cx="4287838" cy="1081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내용 연수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취득연월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연도 및 월 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총 투자비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통화는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KRW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가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default,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선택 가능하도록 함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기타</a:t>
            </a:r>
            <a:r>
              <a:rPr lang="en-US" altLang="ko-KR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endParaRPr lang="en-US" altLang="ko-KR" sz="1100" b="1" dirty="0">
              <a:solidFill>
                <a:srgbClr val="FF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endParaRPr lang="ko-KR" altLang="en-US" sz="110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737728" y="1607327"/>
          <a:ext cx="2991102" cy="1101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551"/>
                <a:gridCol w="1495551"/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 smtClean="0">
                        <a:solidFill>
                          <a:schemeClr val="tx1"/>
                        </a:solidFill>
                        <a:latin typeface="Arial"/>
                        <a:ea typeface="맑은 고딕"/>
                        <a:cs typeface="+mn-cs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C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Arial"/>
                          <a:ea typeface="맑은 고딕"/>
                          <a:sym typeface="Arial"/>
                        </a:rPr>
                        <a:t>LINE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CD"/>
                    </a:solidFill>
                  </a:tcPr>
                </a:tc>
              </a:tr>
              <a:tr h="2808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+mn-cs"/>
                          <a:sym typeface="Arial"/>
                        </a:rPr>
                        <a:t>C/T</a:t>
                      </a:r>
                      <a:endParaRPr lang="ko-KR" altLang="en-US" sz="1100" b="0" kern="1200" dirty="0" smtClean="0">
                        <a:solidFill>
                          <a:schemeClr val="tx1"/>
                        </a:solidFill>
                        <a:latin typeface="Arial"/>
                        <a:ea typeface="맑은 고딕"/>
                        <a:cs typeface="+mn-cs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Arial"/>
                          <a:ea typeface="맑은 고딕"/>
                          <a:sym typeface="Arial"/>
                        </a:rPr>
                        <a:t>①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08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+mn-cs"/>
                          <a:sym typeface="Arial"/>
                        </a:rPr>
                        <a:t>인원</a:t>
                      </a: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Arial"/>
                          <a:ea typeface="맑은 고딕"/>
                          <a:sym typeface="Arial"/>
                        </a:rPr>
                        <a:t>②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08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+mn-cs"/>
                          <a:sym typeface="Arial"/>
                        </a:rPr>
                        <a:t>CAVITY</a:t>
                      </a:r>
                      <a:endParaRPr lang="ko-KR" altLang="en-US" sz="1100" b="0" kern="1200" dirty="0" smtClean="0">
                        <a:solidFill>
                          <a:schemeClr val="tx1"/>
                        </a:solidFill>
                        <a:latin typeface="Arial"/>
                        <a:ea typeface="맑은 고딕"/>
                        <a:cs typeface="+mn-cs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Arial"/>
                          <a:ea typeface="맑은 고딕"/>
                          <a:sym typeface="Arial"/>
                        </a:rPr>
                        <a:t>③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직사각형 10"/>
          <p:cNvSpPr/>
          <p:nvPr/>
        </p:nvSpPr>
        <p:spPr bwMode="auto">
          <a:xfrm>
            <a:off x="6393200" y="188550"/>
            <a:ext cx="3312460" cy="136819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앞 장의 내용에 추가하는 경우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사용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..</a:t>
            </a: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Ex, </a:t>
            </a:r>
            <a:r>
              <a:rPr lang="ko-KR" altLang="en-US" sz="1800" dirty="0" err="1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계산로직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내용 설명 등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자유양식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2" name="직사각형 41"/>
          <p:cNvSpPr>
            <a:spLocks noChangeArrowheads="1"/>
          </p:cNvSpPr>
          <p:nvPr/>
        </p:nvSpPr>
        <p:spPr bwMode="auto">
          <a:xfrm>
            <a:off x="560827" y="1372201"/>
            <a:ext cx="3600063" cy="1684376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smtClean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53908</TotalTime>
  <Words>9484</Words>
  <Application>Microsoft Office PowerPoint</Application>
  <PresentationFormat>A4 용지(210x297mm)</PresentationFormat>
  <Paragraphs>5761</Paragraphs>
  <Slides>32</Slides>
  <Notes>8</Notes>
  <HiddenSlides>0</HiddenSlides>
  <MMClips>0</MMClips>
  <ScaleCrop>false</ScaleCrop>
  <HeadingPairs>
    <vt:vector size="6" baseType="variant"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5_tb4_onscreen_v2.1</vt:lpstr>
      <vt:lpstr>6_tb4_onscreen_v2.1</vt:lpstr>
      <vt:lpstr>Microsoft Office Excel 97-2003 Worksheet</vt:lpstr>
      <vt:lpstr>목표원가관리 화면 목록</vt:lpstr>
      <vt:lpstr>목표원가관리 화면 목록</vt:lpstr>
      <vt:lpstr>목표원가관리 UI 설계 변경 이력</vt:lpstr>
      <vt:lpstr>목표원가관리 UI 설계 변경 이력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상세 Spec</vt:lpstr>
      <vt:lpstr>상세 Spec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상세 Spec</vt:lpstr>
      <vt:lpstr>상세 Spec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7219</cp:revision>
  <cp:lastPrinted>2012-11-21T23:07:40Z</cp:lastPrinted>
  <dcterms:created xsi:type="dcterms:W3CDTF">2011-12-22T02:00:23Z</dcterms:created>
  <dcterms:modified xsi:type="dcterms:W3CDTF">2013-05-06T05:46:24Z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