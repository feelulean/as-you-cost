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4562" r:id="rId1"/>
    <p:sldMasterId id="2147484636" r:id="rId2"/>
  </p:sldMasterIdLst>
  <p:notesMasterIdLst>
    <p:notesMasterId r:id="rId16"/>
  </p:notesMasterIdLst>
  <p:handoutMasterIdLst>
    <p:handoutMasterId r:id="rId17"/>
  </p:handoutMasterIdLst>
  <p:sldIdLst>
    <p:sldId id="2241" r:id="rId3"/>
    <p:sldId id="2254" r:id="rId4"/>
    <p:sldId id="2243" r:id="rId5"/>
    <p:sldId id="2242" r:id="rId6"/>
    <p:sldId id="2244" r:id="rId7"/>
    <p:sldId id="2245" r:id="rId8"/>
    <p:sldId id="2246" r:id="rId9"/>
    <p:sldId id="2247" r:id="rId10"/>
    <p:sldId id="2249" r:id="rId11"/>
    <p:sldId id="2248" r:id="rId12"/>
    <p:sldId id="2250" r:id="rId13"/>
    <p:sldId id="2251" r:id="rId14"/>
    <p:sldId id="2252" r:id="rId15"/>
  </p:sldIdLst>
  <p:sldSz cx="9906000" cy="6858000" type="A4"/>
  <p:notesSz cx="6797675" cy="9926638"/>
  <p:defaultTextStyle>
    <a:defPPr>
      <a:defRPr lang="en-US"/>
    </a:defPPr>
    <a:lvl1pPr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74382" indent="-46009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53522" indent="-95196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432663" indent="-144378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911802" indent="-193560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4644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1570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198501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5428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CC0000"/>
    <a:srgbClr val="DC6900"/>
    <a:srgbClr val="0000CC"/>
    <a:srgbClr val="FFFF66"/>
    <a:srgbClr val="333333"/>
    <a:srgbClr val="FF9999"/>
    <a:srgbClr val="FFCCCC"/>
    <a:srgbClr val="FFF7E1"/>
    <a:srgbClr val="FFFD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69D073F8-1565-44D7-B386-08B59EADF2EE}">
  <a:tblStyle styleId="{69D073F8-1565-44D7-B386-08B59EADF2EE}" styleName="PwC Table">
    <a:wholeTbl>
      <a:tcTxStyle>
        <a:fontRef idx="maj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38100" cmpd="sng">
              <a:noFill/>
            </a:ln>
          </a:bottom>
        </a:tcBdr>
      </a:tcStyle>
    </a:band1H>
    <a:band2H>
      <a:tcStyle>
        <a:tcBdr>
          <a:bottom>
            <a:ln w="38100" cmpd="sng">
              <a:noFill/>
            </a:ln>
          </a:bottom>
        </a:tcBdr>
      </a:tcStyle>
    </a:band2H>
    <a:firstCol>
      <a:tcTxStyle i="on">
        <a:fontRef idx="major">
          <a:prstClr val="black"/>
        </a:fontRef>
        <a:schemeClr val="dk1"/>
      </a:tcTxStyle>
      <a:tcStyle>
        <a:tcBdr/>
        <a:fill>
          <a:noFill/>
        </a:fill>
      </a:tcStyle>
    </a:firstCol>
    <a:firstRow>
      <a:tcTxStyle b="on">
        <a:fontRef idx="major">
          <a:prstClr val="black"/>
        </a:fontRef>
        <a:schemeClr val="dk2"/>
      </a:tcTxStyle>
      <a:tcStyle>
        <a:tcBdr>
          <a:bottom>
            <a:ln w="38100" cmpd="sng">
              <a:noFill/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250" autoAdjust="0"/>
    <p:restoredTop sz="69203" autoAdjust="0"/>
  </p:normalViewPr>
  <p:slideViewPr>
    <p:cSldViewPr snapToObjects="1">
      <p:cViewPr>
        <p:scale>
          <a:sx n="130" d="100"/>
          <a:sy n="130" d="100"/>
        </p:scale>
        <p:origin x="-1272" y="258"/>
      </p:cViewPr>
      <p:guideLst>
        <p:guide orient="horz" pos="300"/>
        <p:guide orient="horz" pos="2296"/>
        <p:guide orient="horz" pos="1661"/>
        <p:guide pos="6023"/>
      </p:guideLst>
    </p:cSldViewPr>
  </p:slideViewPr>
  <p:outlineViewPr>
    <p:cViewPr>
      <p:scale>
        <a:sx n="33" d="100"/>
        <a:sy n="33" d="100"/>
      </p:scale>
      <p:origin x="0" y="10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Objects="1">
      <p:cViewPr varScale="1">
        <p:scale>
          <a:sx n="49" d="100"/>
          <a:sy n="49" d="100"/>
        </p:scale>
        <p:origin x="-2712" y="-108"/>
      </p:cViewPr>
      <p:guideLst>
        <p:guide orient="horz" pos="3127"/>
        <p:guide pos="2141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645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598B7DD0-F933-4256-AFA8-DB79D4CAE8E1}" type="datetimeFigureOut">
              <a:rPr lang="en-US" altLang="ko-KR"/>
              <a:pPr>
                <a:defRPr/>
              </a:pPr>
              <a:t>5/16/2013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645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D0790A42-1C5E-4D8C-9AE2-6811605AC8D4}" type="slidenum">
              <a:rPr lang="en-US" altLang="ko-KR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75673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645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B733C386-9AAD-4375-8F24-A34430528E7D}" type="datetimeFigureOut">
              <a:rPr lang="en-US" altLang="ko-KR"/>
              <a:pPr>
                <a:defRPr/>
              </a:pPr>
              <a:t>5/16/2013</a:t>
            </a:fld>
            <a:endParaRPr lang="ko-KR" alt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4538"/>
            <a:ext cx="537210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658" tIns="45830" rIns="91658" bIns="4583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715193"/>
            <a:ext cx="5437506" cy="4466274"/>
          </a:xfrm>
          <a:prstGeom prst="rect">
            <a:avLst/>
          </a:prstGeom>
        </p:spPr>
        <p:txBody>
          <a:bodyPr vert="horz" lIns="91658" tIns="45830" rIns="91658" bIns="45830" rtlCol="0">
            <a:normAutofit/>
          </a:bodyPr>
          <a:lstStyle/>
          <a:p>
            <a:pPr lvl="0"/>
            <a:r>
              <a:rPr lang="en-US" altLang="ko-KR" noProof="0" smtClean="0"/>
              <a:t>Click to edit Master text styles</a:t>
            </a:r>
          </a:p>
          <a:p>
            <a:pPr lvl="1"/>
            <a:r>
              <a:rPr lang="en-US" altLang="ko-KR" noProof="0" smtClean="0"/>
              <a:t>Second level</a:t>
            </a:r>
          </a:p>
          <a:p>
            <a:pPr lvl="2"/>
            <a:r>
              <a:rPr lang="en-US" altLang="ko-KR" noProof="0" smtClean="0"/>
              <a:t>Third level</a:t>
            </a:r>
          </a:p>
          <a:p>
            <a:pPr lvl="3"/>
            <a:r>
              <a:rPr lang="en-US" altLang="ko-KR" noProof="0" smtClean="0"/>
              <a:t>Fourth level</a:t>
            </a:r>
          </a:p>
          <a:p>
            <a:pPr lvl="4"/>
            <a:r>
              <a:rPr lang="en-US" altLang="ko-KR" noProof="0" smtClean="0"/>
              <a:t>Fifth level</a:t>
            </a:r>
            <a:endParaRPr lang="ko-KR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645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DBE75456-4044-433B-A0B1-1CCD6A62A8D3}" type="slidenum">
              <a:rPr lang="en-US" altLang="ko-KR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6330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7438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5352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432663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91180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393022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871627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350230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828833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719750" name="Line 6"/>
          <p:cNvSpPr>
            <a:spLocks noChangeShapeType="1"/>
          </p:cNvSpPr>
          <p:nvPr/>
        </p:nvSpPr>
        <p:spPr bwMode="auto">
          <a:xfrm>
            <a:off x="182563" y="777875"/>
            <a:ext cx="9513888" cy="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 algn="ctr" defTabSz="914400" eaLnBrk="0" latinLnBrk="0" hangingPunct="0">
              <a:defRPr/>
            </a:pPr>
            <a:endParaRPr kumimoji="0" lang="ko-KR" altLang="en-US" sz="1400" b="1" dirty="0">
              <a:solidFill>
                <a:srgbClr val="3A4972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9" name="Rectangle 5"/>
          <p:cNvSpPr>
            <a:spLocks noChangeArrowheads="1"/>
          </p:cNvSpPr>
          <p:nvPr userDrawn="1"/>
        </p:nvSpPr>
        <p:spPr bwMode="auto">
          <a:xfrm>
            <a:off x="9389306" y="473800"/>
            <a:ext cx="307975" cy="285750"/>
          </a:xfrm>
          <a:prstGeom prst="rect">
            <a:avLst/>
          </a:prstGeom>
          <a:solidFill>
            <a:srgbClr val="666699"/>
          </a:solidFill>
          <a:ln w="9525">
            <a:solidFill>
              <a:srgbClr val="666699"/>
            </a:solidFill>
            <a:miter lim="800000"/>
            <a:headEnd/>
            <a:tailEnd/>
          </a:ln>
        </p:spPr>
        <p:txBody>
          <a:bodyPr wrap="none" lIns="54000" tIns="54000" rIns="54000" bIns="54000" anchor="ctr"/>
          <a:lstStyle/>
          <a:p>
            <a:pPr algn="ctr" defTabSz="914400">
              <a:defRPr/>
            </a:pPr>
            <a:fld id="{65AB3F9B-28E7-499A-A094-26270E7EAA92}" type="slidenum">
              <a:rPr kumimoji="0" lang="en-GB" altLang="ko-KR" sz="1100" b="1" smtClean="0">
                <a:solidFill>
                  <a:schemeClr val="bg1"/>
                </a:solidFill>
              </a:rPr>
              <a:pPr algn="ctr" defTabSz="914400">
                <a:defRPr/>
              </a:pPr>
              <a:t>‹#›</a:t>
            </a:fld>
            <a:endParaRPr kumimoji="0" lang="en-GB" altLang="ko-KR" sz="1100" b="1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37" r:id="rId1"/>
    <p:sldLayoutId id="2147484638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124"/>
          <p:cNvSpPr>
            <a:spLocks noChangeArrowheads="1"/>
          </p:cNvSpPr>
          <p:nvPr/>
        </p:nvSpPr>
        <p:spPr bwMode="auto">
          <a:xfrm>
            <a:off x="397494" y="1709773"/>
            <a:ext cx="5591356" cy="154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graphicFrame>
        <p:nvGraphicFramePr>
          <p:cNvPr id="86" name="표 85"/>
          <p:cNvGraphicFramePr>
            <a:graphicFrameLocks noGrp="1"/>
          </p:cNvGraphicFramePr>
          <p:nvPr/>
        </p:nvGraphicFramePr>
        <p:xfrm>
          <a:off x="537240" y="2132820"/>
          <a:ext cx="5207870" cy="971550"/>
        </p:xfrm>
        <a:graphic>
          <a:graphicData uri="http://schemas.openxmlformats.org/drawingml/2006/table">
            <a:tbl>
              <a:tblPr/>
              <a:tblGrid>
                <a:gridCol w="547156"/>
                <a:gridCol w="340114"/>
                <a:gridCol w="1080150"/>
                <a:gridCol w="504070"/>
                <a:gridCol w="504070"/>
                <a:gridCol w="576080"/>
                <a:gridCol w="576080"/>
                <a:gridCol w="1080150"/>
              </a:tblGrid>
              <a:tr h="16192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돋움"/>
                        </a:rPr>
                        <a:t>출처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돋움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돋움"/>
                        </a:rPr>
                        <a:t>금리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돋움"/>
                        </a:rPr>
                        <a:t>금액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돋움"/>
                        </a:rPr>
                        <a:t>합계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</a:tr>
              <a:tr h="1619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2013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2014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2015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2016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2017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돋움"/>
                        </a:rPr>
                        <a:t>차입 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돋움"/>
                        </a:rPr>
                        <a:t>(B)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돋움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돋움"/>
                        </a:rPr>
                        <a:t>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35,100,000,000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　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　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　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　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35,100,000,000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돋움"/>
                        </a:rPr>
                        <a:t>차입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돋움"/>
                        </a:rPr>
                        <a:t>(B)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돋움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돋움"/>
                        </a:rPr>
                        <a:t>15%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17,200,000,000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　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　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　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　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17,200,000,000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돋움"/>
                        </a:rPr>
                        <a:t>증자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돋움"/>
                        </a:rPr>
                        <a:t>(S)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돋움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돋움"/>
                        </a:rPr>
                        <a:t>　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14,200,000,000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　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　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　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　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14,200,000,000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돋움"/>
                        </a:rPr>
                        <a:t>합계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66,500,000,000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66,500,000,000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Group 82"/>
          <p:cNvGraphicFramePr>
            <a:graphicFrameLocks noGrp="1"/>
          </p:cNvGraphicFramePr>
          <p:nvPr/>
        </p:nvGraphicFramePr>
        <p:xfrm>
          <a:off x="6149460" y="1038815"/>
          <a:ext cx="3528000" cy="253248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가는각진제목체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수익성분석에 필요한 사전정보 정의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1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프로젝트명으로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검색해서 자금조달계획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WACC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정보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회전율 입력할 프로젝트 선택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&lt;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자금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조달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계획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&gt;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1)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행추가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및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행삭제로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데이터 추가 및 삭제 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cs typeface="+mn-cs"/>
                        </a:rPr>
                        <a:t>2) 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cs typeface="+mn-cs"/>
                        </a:rPr>
                        <a:t>화면 입력항목</a:t>
                      </a:r>
                      <a:endParaRPr lang="en-US" altLang="ko-KR" sz="1000" kern="120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  <a:cs typeface="+mn-cs"/>
                      </a:endParaRPr>
                    </a:p>
                    <a:p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cs typeface="+mn-cs"/>
                        </a:rPr>
                        <a:t>  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cs typeface="+mn-cs"/>
                        </a:rPr>
                        <a:t>출처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cs typeface="+mn-cs"/>
                        </a:rPr>
                        <a:t>: 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cs typeface="+mn-cs"/>
                        </a:rPr>
                        <a:t>차입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cs typeface="+mn-cs"/>
                        </a:rPr>
                        <a:t>(B), 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cs typeface="+mn-cs"/>
                        </a:rPr>
                        <a:t>증자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cs typeface="+mn-cs"/>
                        </a:rPr>
                        <a:t>(S) 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cs typeface="+mn-cs"/>
                        </a:rPr>
                        <a:t>중 선택 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cs typeface="+mn-cs"/>
                        </a:rPr>
                        <a:t>(combo 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cs typeface="+mn-cs"/>
                        </a:rPr>
                        <a:t>형태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cs typeface="+mn-cs"/>
                        </a:rPr>
                        <a:t>)</a:t>
                      </a:r>
                    </a:p>
                    <a:p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cs typeface="+mn-cs"/>
                        </a:rPr>
                        <a:t>  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cs typeface="+mn-cs"/>
                        </a:rPr>
                        <a:t>금리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cs typeface="+mn-cs"/>
                        </a:rPr>
                        <a:t>: 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cs typeface="+mn-cs"/>
                        </a:rPr>
                        <a:t>출처가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cs typeface="+mn-cs"/>
                        </a:rPr>
                        <a:t>차입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cs typeface="+mn-cs"/>
                        </a:rPr>
                        <a:t>(B)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cs typeface="+mn-cs"/>
                        </a:rPr>
                        <a:t>일 경우 활성화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cs typeface="+mn-cs"/>
                        </a:rPr>
                        <a:t>.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cs typeface="+mn-cs"/>
                        </a:rPr>
                        <a:t>소수점 셋째 자리까지 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  <a:cs typeface="+mn-cs"/>
                      </a:endParaRPr>
                    </a:p>
                    <a:p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cs typeface="+mn-cs"/>
                        </a:rPr>
                        <a:t>         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cs typeface="+mn-cs"/>
                        </a:rPr>
                        <a:t>입력가능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  <a:cs typeface="+mn-cs"/>
                      </a:endParaRPr>
                    </a:p>
                    <a:p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cs typeface="+mn-cs"/>
                        </a:rPr>
                        <a:t> 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cs typeface="+mn-cs"/>
                        </a:rPr>
                        <a:t>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cs typeface="+mn-cs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연도별 금액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연도 범위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: </a:t>
                      </a:r>
                      <a:r>
                        <a:rPr kumimoji="0"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프로젝트 코드등록 당해 </a:t>
                      </a:r>
                      <a:r>
                        <a:rPr kumimoji="0" lang="ko-KR" altLang="en-US" sz="100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부터</a:t>
                      </a:r>
                      <a:r>
                        <a:rPr kumimoji="0"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</a:p>
                    <a:p>
                      <a:r>
                        <a:rPr kumimoji="0"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     </a:t>
                      </a:r>
                      <a:r>
                        <a:rPr kumimoji="0"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손익계산서의 물량공급 마지막 연도까지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입력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단위는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KRW</a:t>
                      </a:r>
                    </a:p>
                    <a:p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cs typeface="+mn-cs"/>
                        </a:rPr>
                        <a:t>3) Logic: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cs typeface="+mn-cs"/>
                        </a:rPr>
                        <a:t>연도별 금액 합산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  <a:cs typeface="+mn-cs"/>
                      </a:endParaRPr>
                    </a:p>
                    <a:p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cs typeface="+mn-cs"/>
                        </a:rPr>
                        <a:t>4)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cs typeface="+mn-cs"/>
                        </a:rPr>
                        <a:t>자금조달계획 저장</a:t>
                      </a:r>
                      <a:endParaRPr lang="ko-KR" altLang="en-US" sz="1000" kern="120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  <a:cs typeface="+mn-cs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3662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이전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5" name="AutoShape 279"/>
          <p:cNvSpPr>
            <a:spLocks noChangeArrowheads="1"/>
          </p:cNvSpPr>
          <p:nvPr/>
        </p:nvSpPr>
        <p:spPr bwMode="auto">
          <a:xfrm>
            <a:off x="472454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저장</a:t>
            </a:r>
          </a:p>
        </p:txBody>
      </p:sp>
      <p:sp>
        <p:nvSpPr>
          <p:cNvPr id="16" name="AutoShape 279"/>
          <p:cNvSpPr>
            <a:spLocks noChangeArrowheads="1"/>
          </p:cNvSpPr>
          <p:nvPr/>
        </p:nvSpPr>
        <p:spPr bwMode="auto">
          <a:xfrm>
            <a:off x="4270988" y="853662"/>
            <a:ext cx="360363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조회</a:t>
            </a: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엑셀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smtClean="0">
                <a:solidFill>
                  <a:sysClr val="windowText" lastClr="000000"/>
                </a:solidFill>
                <a:latin typeface="+mn-ea"/>
                <a:ea typeface="+mn-ea"/>
              </a:rPr>
              <a:t>원가관리</a:t>
            </a:r>
            <a:endParaRPr lang="ko-KR" altLang="en-US" sz="1050" kern="0" dirty="0" smtClea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23" name="직사각형 22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견적기준가 산출 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01</a:t>
            </a:r>
            <a:endParaRPr lang="ko-KR" altLang="en-US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4" name="직사각형 23"/>
          <p:cNvSpPr/>
          <p:nvPr/>
        </p:nvSpPr>
        <p:spPr bwMode="auto">
          <a:xfrm>
            <a:off x="3584810" y="276870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견적기준가 산출</a:t>
            </a:r>
          </a:p>
        </p:txBody>
      </p:sp>
      <p:sp>
        <p:nvSpPr>
          <p:cNvPr id="25" name="직사각형 24"/>
          <p:cNvSpPr/>
          <p:nvPr/>
        </p:nvSpPr>
        <p:spPr bwMode="auto">
          <a:xfrm>
            <a:off x="3588275" y="545165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36000" tIns="36000" rIns="36000" bIns="3600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수익성분석 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Factor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등록</a:t>
            </a:r>
          </a:p>
        </p:txBody>
      </p:sp>
      <p:sp>
        <p:nvSpPr>
          <p:cNvPr id="26" name="직사각형 25"/>
          <p:cNvSpPr/>
          <p:nvPr/>
        </p:nvSpPr>
        <p:spPr bwMode="auto">
          <a:xfrm>
            <a:off x="7287765" y="28799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  </a:t>
            </a:r>
          </a:p>
        </p:txBody>
      </p:sp>
      <p:sp>
        <p:nvSpPr>
          <p:cNvPr id="27" name="직사각형 26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2013.05.15 /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정승필</a:t>
            </a:r>
          </a:p>
        </p:txBody>
      </p:sp>
      <p:graphicFrame>
        <p:nvGraphicFramePr>
          <p:cNvPr id="33" name="표 32"/>
          <p:cNvGraphicFramePr>
            <a:graphicFrameLocks noGrp="1"/>
          </p:cNvGraphicFramePr>
          <p:nvPr/>
        </p:nvGraphicFramePr>
        <p:xfrm>
          <a:off x="527465" y="1329143"/>
          <a:ext cx="728662" cy="24384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728662"/>
              </a:tblGrid>
              <a:tr h="2160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bg1"/>
                          </a:solidFill>
                          <a:latin typeface="Arial"/>
                          <a:ea typeface="가는각진제목체"/>
                          <a:cs typeface="+mn-cs"/>
                          <a:sym typeface="Arial"/>
                        </a:rPr>
                        <a:t>검색조건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5" name="직사각형 34"/>
          <p:cNvSpPr/>
          <p:nvPr/>
        </p:nvSpPr>
        <p:spPr>
          <a:xfrm>
            <a:off x="465230" y="1257135"/>
            <a:ext cx="2376000" cy="360040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36" name="타원 35"/>
          <p:cNvSpPr/>
          <p:nvPr/>
        </p:nvSpPr>
        <p:spPr>
          <a:xfrm>
            <a:off x="249200" y="1113105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38" name="타원 37"/>
          <p:cNvSpPr/>
          <p:nvPr/>
        </p:nvSpPr>
        <p:spPr>
          <a:xfrm>
            <a:off x="258588" y="1637765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pic>
        <p:nvPicPr>
          <p:cNvPr id="39" name="Picture 3"/>
          <p:cNvPicPr>
            <a:picLocks noChangeAspect="1" noChangeArrowheads="1"/>
          </p:cNvPicPr>
          <p:nvPr/>
        </p:nvPicPr>
        <p:blipFill>
          <a:blip r:embed="rId2" cstate="print"/>
          <a:srcRect l="66449" t="39690" r="31626" b="58009"/>
          <a:stretch>
            <a:fillRect/>
          </a:stretch>
        </p:blipFill>
        <p:spPr bwMode="auto">
          <a:xfrm>
            <a:off x="632400" y="1803345"/>
            <a:ext cx="391675" cy="269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" name="직사각형 39"/>
          <p:cNvSpPr/>
          <p:nvPr/>
        </p:nvSpPr>
        <p:spPr bwMode="auto">
          <a:xfrm>
            <a:off x="2194352" y="1341719"/>
            <a:ext cx="503188" cy="21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prstClr val="black"/>
              </a:solidFill>
            </a:endParaRPr>
          </a:p>
        </p:txBody>
      </p:sp>
      <p:sp>
        <p:nvSpPr>
          <p:cNvPr id="41" name="TextBox 36"/>
          <p:cNvSpPr txBox="1">
            <a:spLocks noChangeArrowheads="1"/>
          </p:cNvSpPr>
          <p:nvPr/>
        </p:nvSpPr>
        <p:spPr bwMode="auto">
          <a:xfrm>
            <a:off x="1437460" y="1341719"/>
            <a:ext cx="684000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err="1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프로젝트명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44" name="직사각형 43"/>
          <p:cNvSpPr/>
          <p:nvPr/>
        </p:nvSpPr>
        <p:spPr bwMode="auto">
          <a:xfrm>
            <a:off x="631106" y="1847008"/>
            <a:ext cx="360000" cy="180000"/>
          </a:xfrm>
          <a:prstGeom prst="rect">
            <a:avLst/>
          </a:prstGeom>
          <a:noFill/>
          <a:ln w="15875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45" name="TextBox 44"/>
          <p:cNvSpPr txBox="1">
            <a:spLocks noChangeArrowheads="1"/>
          </p:cNvSpPr>
          <p:nvPr/>
        </p:nvSpPr>
        <p:spPr bwMode="auto">
          <a:xfrm>
            <a:off x="516650" y="1828354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1)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49" name="TextBox 36"/>
          <p:cNvSpPr txBox="1">
            <a:spLocks noChangeArrowheads="1"/>
          </p:cNvSpPr>
          <p:nvPr/>
        </p:nvSpPr>
        <p:spPr bwMode="auto">
          <a:xfrm>
            <a:off x="402235" y="2020965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2)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50" name="직사각형 49"/>
          <p:cNvSpPr/>
          <p:nvPr/>
        </p:nvSpPr>
        <p:spPr bwMode="auto">
          <a:xfrm>
            <a:off x="501970" y="2095574"/>
            <a:ext cx="4212000" cy="396000"/>
          </a:xfrm>
          <a:prstGeom prst="rect">
            <a:avLst/>
          </a:prstGeom>
          <a:noFill/>
          <a:ln w="15875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87" name="직사각형 86"/>
          <p:cNvSpPr/>
          <p:nvPr/>
        </p:nvSpPr>
        <p:spPr bwMode="auto">
          <a:xfrm>
            <a:off x="4736970" y="2098095"/>
            <a:ext cx="1080000" cy="396000"/>
          </a:xfrm>
          <a:prstGeom prst="rect">
            <a:avLst/>
          </a:prstGeom>
          <a:noFill/>
          <a:ln w="15875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88" name="TextBox 87"/>
          <p:cNvSpPr txBox="1">
            <a:spLocks noChangeArrowheads="1"/>
          </p:cNvSpPr>
          <p:nvPr/>
        </p:nvSpPr>
        <p:spPr bwMode="auto">
          <a:xfrm>
            <a:off x="4710599" y="1891080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3)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89" name="실행 단추: 앞으로 또는 다음 88">
            <a:hlinkClick r:id="" action="ppaction://hlinkshowjump?jump=nextslide" highlightClick="1"/>
          </p:cNvPr>
          <p:cNvSpPr/>
          <p:nvPr/>
        </p:nvSpPr>
        <p:spPr bwMode="auto">
          <a:xfrm rot="5400000">
            <a:off x="923831" y="2224589"/>
            <a:ext cx="127186" cy="1339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90" name="AutoShape 279"/>
          <p:cNvSpPr>
            <a:spLocks noChangeArrowheads="1"/>
          </p:cNvSpPr>
          <p:nvPr/>
        </p:nvSpPr>
        <p:spPr bwMode="auto">
          <a:xfrm>
            <a:off x="5529080" y="1772900"/>
            <a:ext cx="358775" cy="21590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b="1" dirty="0">
                <a:solidFill>
                  <a:schemeClr val="bg1"/>
                </a:solidFill>
                <a:latin typeface="가는각진제목체" pitchFamily="18" charset="-127"/>
                <a:ea typeface="가는각진제목체" pitchFamily="18" charset="-127"/>
              </a:rPr>
              <a:t>저장</a:t>
            </a:r>
          </a:p>
        </p:txBody>
      </p:sp>
      <p:sp>
        <p:nvSpPr>
          <p:cNvPr id="91" name="TextBox 90"/>
          <p:cNvSpPr txBox="1">
            <a:spLocks noChangeArrowheads="1"/>
          </p:cNvSpPr>
          <p:nvPr/>
        </p:nvSpPr>
        <p:spPr bwMode="auto">
          <a:xfrm>
            <a:off x="5385060" y="1694012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4)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roup 82"/>
          <p:cNvGraphicFramePr>
            <a:graphicFrameLocks noGrp="1"/>
          </p:cNvGraphicFramePr>
          <p:nvPr/>
        </p:nvGraphicFramePr>
        <p:xfrm>
          <a:off x="6149460" y="1038815"/>
          <a:ext cx="3528000" cy="536370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157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화면개요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수익성분석에 필요한 사전정보 정의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704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3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&lt;WACC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산출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&gt;</a:t>
                      </a: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1)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자금조달계획의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금리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’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를 끌어옴 </a:t>
                      </a:r>
                      <a:r>
                        <a:rPr lang="ko-KR" altLang="en-US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en-US" altLang="ko-KR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(</a:t>
                      </a:r>
                      <a:r>
                        <a:rPr lang="ko-KR" altLang="en-US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상세</a:t>
                      </a:r>
                      <a:r>
                        <a:rPr lang="en-US" altLang="ko-KR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spec </a:t>
                      </a:r>
                      <a:r>
                        <a:rPr lang="ko-KR" altLang="en-US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참고</a:t>
                      </a:r>
                      <a:r>
                        <a:rPr lang="en-US" altLang="ko-KR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차입 건이 여러 개일 경우 금액기준으로 가중평균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2) 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법인세율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’ 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국가코드 선택 후 조회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.</a:t>
                      </a: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수익성분석 기초정보의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법인세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/CRP’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에서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프로젝트 코드등록 당해와 일치하는 적용연도의 법인세율 끌어옴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※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일치하는 정보가 없을 경우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이하값으로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차이가 가장 작은 연도의 값 사용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※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중복되는 값 있을 경우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변경일자 기준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최신값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※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수정 입력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가능해야함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3)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자금조달계획의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차입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(B)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합계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증자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(S)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합계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’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끌어옴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4)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기준연도 선택 후 조회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연도 범위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: </a:t>
                      </a:r>
                      <a:r>
                        <a:rPr kumimoji="0"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프로젝트 코드등록 당해 </a:t>
                      </a:r>
                      <a:r>
                        <a:rPr kumimoji="0" lang="ko-KR" altLang="en-US" sz="100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부터</a:t>
                      </a:r>
                      <a:r>
                        <a:rPr kumimoji="0"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kumimoji="0"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손익계산서의 물량공급 마지막 연도까지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WACC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기초정보에서 끌어옴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※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일치하는 정보가 없을 경우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선택한 기준연도 이하로 차이가 가장 작은 연도의 값 사용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/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수정 입력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가능해야함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5)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사업구분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(</a:t>
                      </a:r>
                      <a:r>
                        <a:rPr lang="en-US" altLang="ko-KR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PT,Seat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선택 후 조회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. WACC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기초정보에서 끌어옴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6) 1~6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까지 입력 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계산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’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버튼 클릭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Logic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으로 계산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소수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5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째 자리에서 반올림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  </a:t>
                      </a:r>
                      <a:r>
                        <a:rPr lang="en-US" altLang="ko-KR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(</a:t>
                      </a:r>
                      <a:r>
                        <a:rPr lang="ko-KR" altLang="en-US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상세</a:t>
                      </a:r>
                      <a:r>
                        <a:rPr lang="en-US" altLang="ko-KR" sz="1000" i="1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sepc</a:t>
                      </a:r>
                      <a:r>
                        <a:rPr lang="en-US" altLang="ko-KR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ko-KR" altLang="en-US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참고</a:t>
                      </a:r>
                      <a:r>
                        <a:rPr lang="en-US" altLang="ko-KR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7) ‘CRP’ 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국가코드 선택 후 조회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. Logic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으로 계산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(</a:t>
                      </a:r>
                      <a:r>
                        <a:rPr lang="ko-KR" altLang="en-US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상세</a:t>
                      </a:r>
                      <a:r>
                        <a:rPr lang="en-US" altLang="ko-KR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spec </a:t>
                      </a:r>
                      <a:r>
                        <a:rPr lang="ko-KR" altLang="en-US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참고</a:t>
                      </a:r>
                      <a:r>
                        <a:rPr lang="en-US" altLang="ko-KR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(1)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수익성분석 기초정보의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법인세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/CRP’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에서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프로젝트 코드등록 당해와 일치하는 연도의 법인세율 조회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※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일치하는 정보가 없을 경우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이하값으로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차이가 가장 작은 연도의 값 사용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/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수정 입력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가능해야함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(2)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한국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CRP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값 검색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연도 검색 기준은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(1)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과 동일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3662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이전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5" name="AutoShape 279"/>
          <p:cNvSpPr>
            <a:spLocks noChangeArrowheads="1"/>
          </p:cNvSpPr>
          <p:nvPr/>
        </p:nvSpPr>
        <p:spPr bwMode="auto">
          <a:xfrm>
            <a:off x="472454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저장</a:t>
            </a:r>
          </a:p>
        </p:txBody>
      </p:sp>
      <p:sp>
        <p:nvSpPr>
          <p:cNvPr id="16" name="AutoShape 279"/>
          <p:cNvSpPr>
            <a:spLocks noChangeArrowheads="1"/>
          </p:cNvSpPr>
          <p:nvPr/>
        </p:nvSpPr>
        <p:spPr bwMode="auto">
          <a:xfrm>
            <a:off x="4270988" y="853662"/>
            <a:ext cx="360363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조회</a:t>
            </a: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엑셀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smtClean="0">
                <a:solidFill>
                  <a:sysClr val="windowText" lastClr="000000"/>
                </a:solidFill>
                <a:latin typeface="+mn-ea"/>
                <a:ea typeface="+mn-ea"/>
              </a:rPr>
              <a:t>원가관리</a:t>
            </a:r>
            <a:endParaRPr lang="ko-KR" altLang="en-US" sz="1050" kern="0" dirty="0" smtClea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23" name="직사각형 22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견적기준가 산출 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01</a:t>
            </a:r>
            <a:endParaRPr lang="ko-KR" altLang="en-US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4" name="직사각형 23"/>
          <p:cNvSpPr/>
          <p:nvPr/>
        </p:nvSpPr>
        <p:spPr bwMode="auto">
          <a:xfrm>
            <a:off x="3584810" y="276870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견적기준가 산출</a:t>
            </a:r>
          </a:p>
        </p:txBody>
      </p:sp>
      <p:sp>
        <p:nvSpPr>
          <p:cNvPr id="25" name="직사각형 24"/>
          <p:cNvSpPr/>
          <p:nvPr/>
        </p:nvSpPr>
        <p:spPr bwMode="auto">
          <a:xfrm>
            <a:off x="3588275" y="545165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36000" tIns="36000" rIns="36000" bIns="3600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수익성분석 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Factor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등록</a:t>
            </a:r>
          </a:p>
        </p:txBody>
      </p:sp>
      <p:sp>
        <p:nvSpPr>
          <p:cNvPr id="26" name="직사각형 25"/>
          <p:cNvSpPr/>
          <p:nvPr/>
        </p:nvSpPr>
        <p:spPr bwMode="auto">
          <a:xfrm>
            <a:off x="7287765" y="28799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  </a:t>
            </a:r>
          </a:p>
        </p:txBody>
      </p:sp>
      <p:sp>
        <p:nvSpPr>
          <p:cNvPr id="27" name="직사각형 26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2013.05.15 /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정승필</a:t>
            </a:r>
          </a:p>
        </p:txBody>
      </p:sp>
      <p:graphicFrame>
        <p:nvGraphicFramePr>
          <p:cNvPr id="33" name="표 32"/>
          <p:cNvGraphicFramePr>
            <a:graphicFrameLocks noGrp="1"/>
          </p:cNvGraphicFramePr>
          <p:nvPr/>
        </p:nvGraphicFramePr>
        <p:xfrm>
          <a:off x="527465" y="1329143"/>
          <a:ext cx="728662" cy="24384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728662"/>
              </a:tblGrid>
              <a:tr h="2160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bg1"/>
                          </a:solidFill>
                          <a:latin typeface="Arial"/>
                          <a:ea typeface="가는각진제목체"/>
                          <a:cs typeface="+mn-cs"/>
                          <a:sym typeface="Arial"/>
                        </a:rPr>
                        <a:t>검색조건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5" name="직사각형 34"/>
          <p:cNvSpPr/>
          <p:nvPr/>
        </p:nvSpPr>
        <p:spPr>
          <a:xfrm>
            <a:off x="465230" y="1257135"/>
            <a:ext cx="2376000" cy="360040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36" name="타원 35"/>
          <p:cNvSpPr/>
          <p:nvPr/>
        </p:nvSpPr>
        <p:spPr>
          <a:xfrm>
            <a:off x="249200" y="1113105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40" name="직사각형 39"/>
          <p:cNvSpPr/>
          <p:nvPr/>
        </p:nvSpPr>
        <p:spPr bwMode="auto">
          <a:xfrm>
            <a:off x="2194352" y="1341719"/>
            <a:ext cx="503188" cy="21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prstClr val="black"/>
              </a:solidFill>
            </a:endParaRPr>
          </a:p>
        </p:txBody>
      </p:sp>
      <p:sp>
        <p:nvSpPr>
          <p:cNvPr id="41" name="TextBox 36"/>
          <p:cNvSpPr txBox="1">
            <a:spLocks noChangeArrowheads="1"/>
          </p:cNvSpPr>
          <p:nvPr/>
        </p:nvSpPr>
        <p:spPr bwMode="auto">
          <a:xfrm>
            <a:off x="1437460" y="1341719"/>
            <a:ext cx="684000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err="1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프로젝트명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42" name="직사각형 124"/>
          <p:cNvSpPr>
            <a:spLocks noChangeArrowheads="1"/>
          </p:cNvSpPr>
          <p:nvPr/>
        </p:nvSpPr>
        <p:spPr bwMode="auto">
          <a:xfrm>
            <a:off x="373971" y="1913595"/>
            <a:ext cx="5591356" cy="2880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43" name="타원 42"/>
          <p:cNvSpPr/>
          <p:nvPr/>
        </p:nvSpPr>
        <p:spPr>
          <a:xfrm>
            <a:off x="249200" y="177277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graphicFrame>
        <p:nvGraphicFramePr>
          <p:cNvPr id="51" name="표 50"/>
          <p:cNvGraphicFramePr>
            <a:graphicFrameLocks noGrp="1"/>
          </p:cNvGraphicFramePr>
          <p:nvPr/>
        </p:nvGraphicFramePr>
        <p:xfrm>
          <a:off x="432580" y="1974687"/>
          <a:ext cx="5256001" cy="2724150"/>
        </p:xfrm>
        <a:graphic>
          <a:graphicData uri="http://schemas.openxmlformats.org/drawingml/2006/table">
            <a:tbl>
              <a:tblPr/>
              <a:tblGrid>
                <a:gridCol w="683354"/>
                <a:gridCol w="1062994"/>
                <a:gridCol w="1341397"/>
                <a:gridCol w="589688"/>
                <a:gridCol w="789284"/>
                <a:gridCol w="789284"/>
              </a:tblGrid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WACC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kern="1200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cs typeface="+mn-cs"/>
                        </a:rPr>
                        <a:t>     </a:t>
                      </a:r>
                      <a:r>
                        <a:rPr lang="en-US" altLang="ko-KR" sz="1100" b="0" i="0" u="none" strike="noStrike" kern="12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cs typeface="+mn-cs"/>
                        </a:rPr>
                        <a:t> </a:t>
                      </a:r>
                      <a:endParaRPr lang="en-US" altLang="ko-KR" sz="1100" b="0" i="0" u="none" strike="noStrike" kern="1200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Kd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144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9.63%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t</a:t>
                      </a:r>
                    </a:p>
                  </a:txBody>
                  <a:tcPr marL="144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19%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국가코드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</a:t>
                      </a:r>
                    </a:p>
                  </a:txBody>
                  <a:tcPr marL="144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57,300,000,000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S</a:t>
                      </a:r>
                    </a:p>
                  </a:txBody>
                  <a:tcPr marL="144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14,200,000,000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Rf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144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3.12%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기준연도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E(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Rm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</a:txBody>
                  <a:tcPr marL="144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10.63%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Beta</a:t>
                      </a: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144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1100" b="0" i="0" u="none" strike="noStrike" kern="12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cs typeface="+mn-cs"/>
                        </a:rPr>
                        <a:t>2.5184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Beta</a:t>
                      </a: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u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0.59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사업구분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CRP</a:t>
                      </a:r>
                    </a:p>
                  </a:txBody>
                  <a:tcPr marL="144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0.23%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국가코드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a 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고객가산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</a:txBody>
                  <a:tcPr marL="144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3%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OEM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코드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 (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지분율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가산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</a:txBody>
                  <a:tcPr marL="144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지분구성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c (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추가가산율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</a:txBody>
                  <a:tcPr marL="144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7" name="TextBox 36"/>
          <p:cNvSpPr txBox="1">
            <a:spLocks noChangeArrowheads="1"/>
          </p:cNvSpPr>
          <p:nvPr/>
        </p:nvSpPr>
        <p:spPr bwMode="auto">
          <a:xfrm>
            <a:off x="464569" y="1936747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11)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59" name="직사각형 58"/>
          <p:cNvSpPr/>
          <p:nvPr/>
        </p:nvSpPr>
        <p:spPr bwMode="auto">
          <a:xfrm>
            <a:off x="1080340" y="2385532"/>
            <a:ext cx="2484000" cy="216000"/>
          </a:xfrm>
          <a:prstGeom prst="rect">
            <a:avLst/>
          </a:prstGeom>
          <a:noFill/>
          <a:ln w="15875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60" name="TextBox 36"/>
          <p:cNvSpPr txBox="1">
            <a:spLocks noChangeArrowheads="1"/>
          </p:cNvSpPr>
          <p:nvPr/>
        </p:nvSpPr>
        <p:spPr bwMode="auto">
          <a:xfrm>
            <a:off x="894069" y="2399344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1)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68" name="TextBox 36"/>
          <p:cNvSpPr txBox="1">
            <a:spLocks noChangeArrowheads="1"/>
          </p:cNvSpPr>
          <p:nvPr/>
        </p:nvSpPr>
        <p:spPr bwMode="auto">
          <a:xfrm>
            <a:off x="885715" y="2575822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2)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70" name="직사각형 69"/>
          <p:cNvSpPr/>
          <p:nvPr/>
        </p:nvSpPr>
        <p:spPr bwMode="auto">
          <a:xfrm>
            <a:off x="1076035" y="2595807"/>
            <a:ext cx="2484000" cy="216000"/>
          </a:xfrm>
          <a:prstGeom prst="rect">
            <a:avLst/>
          </a:prstGeom>
          <a:noFill/>
          <a:ln w="15875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1" name="TextBox 36"/>
          <p:cNvSpPr txBox="1">
            <a:spLocks noChangeArrowheads="1"/>
          </p:cNvSpPr>
          <p:nvPr/>
        </p:nvSpPr>
        <p:spPr bwMode="auto">
          <a:xfrm>
            <a:off x="894069" y="2891839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3)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72" name="직사각형 71"/>
          <p:cNvSpPr/>
          <p:nvPr/>
        </p:nvSpPr>
        <p:spPr bwMode="auto">
          <a:xfrm>
            <a:off x="1076035" y="2806082"/>
            <a:ext cx="2484000" cy="432000"/>
          </a:xfrm>
          <a:prstGeom prst="rect">
            <a:avLst/>
          </a:prstGeom>
          <a:noFill/>
          <a:ln w="15875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3" name="직사각형 72"/>
          <p:cNvSpPr/>
          <p:nvPr/>
        </p:nvSpPr>
        <p:spPr bwMode="auto">
          <a:xfrm>
            <a:off x="1078595" y="3253577"/>
            <a:ext cx="2484000" cy="396000"/>
          </a:xfrm>
          <a:prstGeom prst="rect">
            <a:avLst/>
          </a:prstGeom>
          <a:noFill/>
          <a:ln w="15875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4" name="TextBox 36"/>
          <p:cNvSpPr txBox="1">
            <a:spLocks noChangeArrowheads="1"/>
          </p:cNvSpPr>
          <p:nvPr/>
        </p:nvSpPr>
        <p:spPr bwMode="auto">
          <a:xfrm>
            <a:off x="885715" y="3361184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4)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3550085" y="3630322"/>
            <a:ext cx="1404000" cy="252000"/>
          </a:xfrm>
          <a:prstGeom prst="rect">
            <a:avLst/>
          </a:prstGeom>
          <a:noFill/>
          <a:ln w="15875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6" name="TextBox 75"/>
          <p:cNvSpPr txBox="1">
            <a:spLocks noChangeArrowheads="1"/>
          </p:cNvSpPr>
          <p:nvPr/>
        </p:nvSpPr>
        <p:spPr bwMode="auto">
          <a:xfrm>
            <a:off x="4077305" y="3469145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5)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77" name="직사각형 76"/>
          <p:cNvSpPr/>
          <p:nvPr/>
        </p:nvSpPr>
        <p:spPr bwMode="auto">
          <a:xfrm>
            <a:off x="1073475" y="3674062"/>
            <a:ext cx="2484000" cy="180000"/>
          </a:xfrm>
          <a:prstGeom prst="rect">
            <a:avLst/>
          </a:prstGeom>
          <a:noFill/>
          <a:ln w="15875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8" name="TextBox 36"/>
          <p:cNvSpPr txBox="1">
            <a:spLocks noChangeArrowheads="1"/>
          </p:cNvSpPr>
          <p:nvPr/>
        </p:nvSpPr>
        <p:spPr bwMode="auto">
          <a:xfrm>
            <a:off x="885715" y="3649224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6)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79" name="직사각형 78"/>
          <p:cNvSpPr/>
          <p:nvPr/>
        </p:nvSpPr>
        <p:spPr bwMode="auto">
          <a:xfrm>
            <a:off x="1076035" y="3873307"/>
            <a:ext cx="2484000" cy="180000"/>
          </a:xfrm>
          <a:prstGeom prst="rect">
            <a:avLst/>
          </a:prstGeom>
          <a:noFill/>
          <a:ln w="15875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80" name="TextBox 36"/>
          <p:cNvSpPr txBox="1">
            <a:spLocks noChangeArrowheads="1"/>
          </p:cNvSpPr>
          <p:nvPr/>
        </p:nvSpPr>
        <p:spPr bwMode="auto">
          <a:xfrm>
            <a:off x="896629" y="3827969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7)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81" name="직사각형 80"/>
          <p:cNvSpPr/>
          <p:nvPr/>
        </p:nvSpPr>
        <p:spPr bwMode="auto">
          <a:xfrm>
            <a:off x="1064460" y="4060432"/>
            <a:ext cx="2484000" cy="206978"/>
          </a:xfrm>
          <a:prstGeom prst="rect">
            <a:avLst/>
          </a:prstGeom>
          <a:noFill/>
          <a:ln w="15875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82" name="TextBox 36"/>
          <p:cNvSpPr txBox="1">
            <a:spLocks noChangeArrowheads="1"/>
          </p:cNvSpPr>
          <p:nvPr/>
        </p:nvSpPr>
        <p:spPr bwMode="auto">
          <a:xfrm>
            <a:off x="885715" y="4069709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8)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84" name="TextBox 36"/>
          <p:cNvSpPr txBox="1">
            <a:spLocks noChangeArrowheads="1"/>
          </p:cNvSpPr>
          <p:nvPr/>
        </p:nvSpPr>
        <p:spPr bwMode="auto">
          <a:xfrm>
            <a:off x="848430" y="4284105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9)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54" name="실행 단추: 앞으로 또는 다음 53">
            <a:hlinkClick r:id="" action="ppaction://hlinkshowjump?jump=nextslide" highlightClick="1"/>
          </p:cNvPr>
          <p:cNvSpPr/>
          <p:nvPr/>
        </p:nvSpPr>
        <p:spPr bwMode="auto">
          <a:xfrm rot="5400000">
            <a:off x="4129556" y="2618329"/>
            <a:ext cx="127186" cy="1339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55" name="AutoShape 279"/>
          <p:cNvSpPr>
            <a:spLocks noChangeArrowheads="1"/>
          </p:cNvSpPr>
          <p:nvPr/>
        </p:nvSpPr>
        <p:spPr bwMode="auto">
          <a:xfrm>
            <a:off x="4355045" y="2586994"/>
            <a:ext cx="358775" cy="17874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b="1" dirty="0" smtClean="0">
                <a:solidFill>
                  <a:schemeClr val="bg1"/>
                </a:solidFill>
                <a:latin typeface="가는각진제목체" pitchFamily="18" charset="-127"/>
                <a:ea typeface="가는각진제목체" pitchFamily="18" charset="-127"/>
              </a:rPr>
              <a:t>조회</a:t>
            </a:r>
            <a:endParaRPr kumimoji="0" lang="ko-KR" altLang="en-US" sz="900" b="1" dirty="0">
              <a:solidFill>
                <a:schemeClr val="bg1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61" name="실행 단추: 앞으로 또는 다음 60">
            <a:hlinkClick r:id="" action="ppaction://hlinkshowjump?jump=nextslide" highlightClick="1"/>
          </p:cNvPr>
          <p:cNvSpPr/>
          <p:nvPr/>
        </p:nvSpPr>
        <p:spPr bwMode="auto">
          <a:xfrm rot="5400000">
            <a:off x="4129556" y="3255879"/>
            <a:ext cx="127186" cy="1339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62" name="AutoShape 279"/>
          <p:cNvSpPr>
            <a:spLocks noChangeArrowheads="1"/>
          </p:cNvSpPr>
          <p:nvPr/>
        </p:nvSpPr>
        <p:spPr bwMode="auto">
          <a:xfrm>
            <a:off x="4320320" y="3238680"/>
            <a:ext cx="358775" cy="17874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b="1" dirty="0" smtClean="0">
                <a:solidFill>
                  <a:schemeClr val="bg1"/>
                </a:solidFill>
                <a:latin typeface="가는각진제목체" pitchFamily="18" charset="-127"/>
                <a:ea typeface="가는각진제목체" pitchFamily="18" charset="-127"/>
              </a:rPr>
              <a:t>조회</a:t>
            </a:r>
            <a:endParaRPr kumimoji="0" lang="ko-KR" altLang="en-US" sz="900" b="1" dirty="0">
              <a:solidFill>
                <a:schemeClr val="bg1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63" name="실행 단추: 앞으로 또는 다음 62">
            <a:hlinkClick r:id="" action="ppaction://hlinkshowjump?jump=nextslide" highlightClick="1"/>
          </p:cNvPr>
          <p:cNvSpPr/>
          <p:nvPr/>
        </p:nvSpPr>
        <p:spPr bwMode="auto">
          <a:xfrm rot="5400000">
            <a:off x="5542523" y="3681623"/>
            <a:ext cx="127186" cy="1339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65" name="AutoShape 279"/>
          <p:cNvSpPr>
            <a:spLocks noChangeArrowheads="1"/>
          </p:cNvSpPr>
          <p:nvPr/>
        </p:nvSpPr>
        <p:spPr bwMode="auto">
          <a:xfrm>
            <a:off x="5734810" y="3659165"/>
            <a:ext cx="358775" cy="17874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b="1" dirty="0" smtClean="0">
                <a:solidFill>
                  <a:schemeClr val="bg1"/>
                </a:solidFill>
                <a:latin typeface="가는각진제목체" pitchFamily="18" charset="-127"/>
                <a:ea typeface="가는각진제목체" pitchFamily="18" charset="-127"/>
              </a:rPr>
              <a:t>조회</a:t>
            </a:r>
            <a:endParaRPr kumimoji="0" lang="ko-KR" altLang="en-US" sz="900" b="1" dirty="0">
              <a:solidFill>
                <a:schemeClr val="bg1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66" name="AutoShape 279"/>
          <p:cNvSpPr>
            <a:spLocks noChangeArrowheads="1"/>
          </p:cNvSpPr>
          <p:nvPr/>
        </p:nvSpPr>
        <p:spPr bwMode="auto">
          <a:xfrm>
            <a:off x="1808985" y="3682315"/>
            <a:ext cx="358775" cy="17874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b="1" dirty="0" smtClean="0">
                <a:solidFill>
                  <a:schemeClr val="bg1"/>
                </a:solidFill>
                <a:latin typeface="가는각진제목체" pitchFamily="18" charset="-127"/>
                <a:ea typeface="가는각진제목체" pitchFamily="18" charset="-127"/>
              </a:rPr>
              <a:t>계산</a:t>
            </a:r>
            <a:endParaRPr kumimoji="0" lang="ko-KR" altLang="en-US" sz="900" b="1" dirty="0">
              <a:solidFill>
                <a:schemeClr val="bg1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69" name="실행 단추: 앞으로 또는 다음 68">
            <a:hlinkClick r:id="" action="ppaction://hlinkshowjump?jump=nextslide" highlightClick="1"/>
          </p:cNvPr>
          <p:cNvSpPr/>
          <p:nvPr/>
        </p:nvSpPr>
        <p:spPr bwMode="auto">
          <a:xfrm rot="5400000">
            <a:off x="4126996" y="3906530"/>
            <a:ext cx="127186" cy="1339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85" name="AutoShape 279"/>
          <p:cNvSpPr>
            <a:spLocks noChangeArrowheads="1"/>
          </p:cNvSpPr>
          <p:nvPr/>
        </p:nvSpPr>
        <p:spPr bwMode="auto">
          <a:xfrm>
            <a:off x="4352485" y="3875195"/>
            <a:ext cx="358775" cy="17874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b="1" dirty="0" smtClean="0">
                <a:solidFill>
                  <a:schemeClr val="bg1"/>
                </a:solidFill>
                <a:latin typeface="가는각진제목체" pitchFamily="18" charset="-127"/>
                <a:ea typeface="가는각진제목체" pitchFamily="18" charset="-127"/>
              </a:rPr>
              <a:t>조회</a:t>
            </a:r>
            <a:endParaRPr kumimoji="0" lang="ko-KR" altLang="en-US" sz="900" b="1" dirty="0">
              <a:solidFill>
                <a:schemeClr val="bg1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92" name="실행 단추: 앞으로 또는 다음 91">
            <a:hlinkClick r:id="" action="ppaction://hlinkshowjump?jump=nextslide" highlightClick="1"/>
          </p:cNvPr>
          <p:cNvSpPr/>
          <p:nvPr/>
        </p:nvSpPr>
        <p:spPr bwMode="auto">
          <a:xfrm rot="5400000">
            <a:off x="4126996" y="4120000"/>
            <a:ext cx="127186" cy="1339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93" name="AutoShape 279"/>
          <p:cNvSpPr>
            <a:spLocks noChangeArrowheads="1"/>
          </p:cNvSpPr>
          <p:nvPr/>
        </p:nvSpPr>
        <p:spPr bwMode="auto">
          <a:xfrm>
            <a:off x="4352485" y="4088665"/>
            <a:ext cx="358775" cy="17874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b="1" dirty="0" smtClean="0">
                <a:solidFill>
                  <a:schemeClr val="bg1"/>
                </a:solidFill>
                <a:latin typeface="가는각진제목체" pitchFamily="18" charset="-127"/>
                <a:ea typeface="가는각진제목체" pitchFamily="18" charset="-127"/>
              </a:rPr>
              <a:t>조회</a:t>
            </a:r>
            <a:endParaRPr kumimoji="0" lang="ko-KR" altLang="en-US" sz="900" b="1" dirty="0">
              <a:solidFill>
                <a:schemeClr val="bg1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94" name="직사각형 93"/>
          <p:cNvSpPr/>
          <p:nvPr/>
        </p:nvSpPr>
        <p:spPr bwMode="auto">
          <a:xfrm>
            <a:off x="1061900" y="4279022"/>
            <a:ext cx="2484000" cy="206978"/>
          </a:xfrm>
          <a:prstGeom prst="rect">
            <a:avLst/>
          </a:prstGeom>
          <a:noFill/>
          <a:ln w="15875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95" name="실행 단추: 앞으로 또는 다음 94">
            <a:hlinkClick r:id="" action="ppaction://hlinkshowjump?jump=nextslide" highlightClick="1"/>
          </p:cNvPr>
          <p:cNvSpPr/>
          <p:nvPr/>
        </p:nvSpPr>
        <p:spPr bwMode="auto">
          <a:xfrm rot="5400000">
            <a:off x="4124436" y="4338590"/>
            <a:ext cx="127186" cy="1339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96" name="AutoShape 279"/>
          <p:cNvSpPr>
            <a:spLocks noChangeArrowheads="1"/>
          </p:cNvSpPr>
          <p:nvPr/>
        </p:nvSpPr>
        <p:spPr bwMode="auto">
          <a:xfrm>
            <a:off x="4349925" y="4307255"/>
            <a:ext cx="358775" cy="17874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b="1" dirty="0" smtClean="0">
                <a:solidFill>
                  <a:schemeClr val="bg1"/>
                </a:solidFill>
                <a:latin typeface="가는각진제목체" pitchFamily="18" charset="-127"/>
                <a:ea typeface="가는각진제목체" pitchFamily="18" charset="-127"/>
              </a:rPr>
              <a:t>조회</a:t>
            </a:r>
            <a:endParaRPr kumimoji="0" lang="ko-KR" altLang="en-US" sz="900" b="1" dirty="0">
              <a:solidFill>
                <a:schemeClr val="bg1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97" name="TextBox 36"/>
          <p:cNvSpPr txBox="1">
            <a:spLocks noChangeArrowheads="1"/>
          </p:cNvSpPr>
          <p:nvPr/>
        </p:nvSpPr>
        <p:spPr bwMode="auto">
          <a:xfrm>
            <a:off x="871580" y="4513977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10)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98" name="직사각형 97"/>
          <p:cNvSpPr/>
          <p:nvPr/>
        </p:nvSpPr>
        <p:spPr bwMode="auto">
          <a:xfrm>
            <a:off x="1078595" y="4480917"/>
            <a:ext cx="2484000" cy="206978"/>
          </a:xfrm>
          <a:prstGeom prst="rect">
            <a:avLst/>
          </a:prstGeom>
          <a:noFill/>
          <a:ln w="15875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99" name="AutoShape 279"/>
          <p:cNvSpPr>
            <a:spLocks noChangeArrowheads="1"/>
          </p:cNvSpPr>
          <p:nvPr/>
        </p:nvSpPr>
        <p:spPr bwMode="auto">
          <a:xfrm>
            <a:off x="2229470" y="1991360"/>
            <a:ext cx="358775" cy="17874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b="1" dirty="0" smtClean="0">
                <a:solidFill>
                  <a:schemeClr val="bg1"/>
                </a:solidFill>
                <a:latin typeface="가는각진제목체" pitchFamily="18" charset="-127"/>
                <a:ea typeface="가는각진제목체" pitchFamily="18" charset="-127"/>
              </a:rPr>
              <a:t>계산</a:t>
            </a:r>
            <a:endParaRPr kumimoji="0" lang="ko-KR" altLang="en-US" sz="900" b="1" dirty="0">
              <a:solidFill>
                <a:schemeClr val="bg1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00" name="TextBox 36"/>
          <p:cNvSpPr txBox="1">
            <a:spLocks noChangeArrowheads="1"/>
          </p:cNvSpPr>
          <p:nvPr/>
        </p:nvSpPr>
        <p:spPr bwMode="auto">
          <a:xfrm>
            <a:off x="5321404" y="1916790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12)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101" name="AutoShape 279"/>
          <p:cNvSpPr>
            <a:spLocks noChangeArrowheads="1"/>
          </p:cNvSpPr>
          <p:nvPr/>
        </p:nvSpPr>
        <p:spPr bwMode="auto">
          <a:xfrm>
            <a:off x="5529080" y="1988930"/>
            <a:ext cx="358775" cy="21590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b="1" dirty="0">
                <a:solidFill>
                  <a:schemeClr val="bg1"/>
                </a:solidFill>
                <a:latin typeface="가는각진제목체" pitchFamily="18" charset="-127"/>
                <a:ea typeface="가는각진제목체" pitchFamily="18" charset="-127"/>
              </a:rPr>
              <a:t>저장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roup 82"/>
          <p:cNvGraphicFramePr>
            <a:graphicFrameLocks noGrp="1"/>
          </p:cNvGraphicFramePr>
          <p:nvPr/>
        </p:nvGraphicFramePr>
        <p:xfrm>
          <a:off x="6149460" y="1038815"/>
          <a:ext cx="3528000" cy="2394805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157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화면개요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수익성분석에 필요한 사전정보 정의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704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3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&lt;WACC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산출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&gt;</a:t>
                      </a: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8) OEM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코드 선택 후 조회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수익성분석 기초정보에서 끌어옴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9)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지분구성 선택 후 조회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수익성분석 기초정보에서 끌어옴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10)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입력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</a:t>
                      </a: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11) 2~10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까지 채워지면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Logic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으로 계산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en-US" altLang="ko-KR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(</a:t>
                      </a:r>
                      <a:r>
                        <a:rPr lang="ko-KR" altLang="en-US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상세</a:t>
                      </a:r>
                      <a:r>
                        <a:rPr lang="en-US" altLang="ko-KR" sz="1000" i="1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sepc</a:t>
                      </a:r>
                      <a:r>
                        <a:rPr lang="en-US" altLang="ko-KR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ko-KR" altLang="en-US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참고</a:t>
                      </a:r>
                      <a:r>
                        <a:rPr lang="en-US" altLang="ko-KR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12)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저장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3662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이전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5" name="AutoShape 279"/>
          <p:cNvSpPr>
            <a:spLocks noChangeArrowheads="1"/>
          </p:cNvSpPr>
          <p:nvPr/>
        </p:nvSpPr>
        <p:spPr bwMode="auto">
          <a:xfrm>
            <a:off x="472454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저장</a:t>
            </a:r>
          </a:p>
        </p:txBody>
      </p:sp>
      <p:sp>
        <p:nvSpPr>
          <p:cNvPr id="16" name="AutoShape 279"/>
          <p:cNvSpPr>
            <a:spLocks noChangeArrowheads="1"/>
          </p:cNvSpPr>
          <p:nvPr/>
        </p:nvSpPr>
        <p:spPr bwMode="auto">
          <a:xfrm>
            <a:off x="4270988" y="853662"/>
            <a:ext cx="360363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조회</a:t>
            </a: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엑셀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smtClean="0">
                <a:solidFill>
                  <a:sysClr val="windowText" lastClr="000000"/>
                </a:solidFill>
                <a:latin typeface="+mn-ea"/>
                <a:ea typeface="+mn-ea"/>
              </a:rPr>
              <a:t>원가관리</a:t>
            </a:r>
            <a:endParaRPr lang="ko-KR" altLang="en-US" sz="1050" kern="0" dirty="0" smtClea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23" name="직사각형 22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견적기준가 산출 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01</a:t>
            </a:r>
            <a:endParaRPr lang="ko-KR" altLang="en-US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4" name="직사각형 23"/>
          <p:cNvSpPr/>
          <p:nvPr/>
        </p:nvSpPr>
        <p:spPr bwMode="auto">
          <a:xfrm>
            <a:off x="3584810" y="276870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견적기준가 산출</a:t>
            </a:r>
          </a:p>
        </p:txBody>
      </p:sp>
      <p:sp>
        <p:nvSpPr>
          <p:cNvPr id="25" name="직사각형 24"/>
          <p:cNvSpPr/>
          <p:nvPr/>
        </p:nvSpPr>
        <p:spPr bwMode="auto">
          <a:xfrm>
            <a:off x="3588275" y="545165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36000" tIns="36000" rIns="36000" bIns="3600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수익성분석 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Factor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등록</a:t>
            </a:r>
          </a:p>
        </p:txBody>
      </p:sp>
      <p:sp>
        <p:nvSpPr>
          <p:cNvPr id="26" name="직사각형 25"/>
          <p:cNvSpPr/>
          <p:nvPr/>
        </p:nvSpPr>
        <p:spPr bwMode="auto">
          <a:xfrm>
            <a:off x="7287765" y="28799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  </a:t>
            </a:r>
          </a:p>
        </p:txBody>
      </p:sp>
      <p:sp>
        <p:nvSpPr>
          <p:cNvPr id="27" name="직사각형 26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2013.05.15 /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정승필</a:t>
            </a:r>
          </a:p>
        </p:txBody>
      </p:sp>
      <p:graphicFrame>
        <p:nvGraphicFramePr>
          <p:cNvPr id="33" name="표 32"/>
          <p:cNvGraphicFramePr>
            <a:graphicFrameLocks noGrp="1"/>
          </p:cNvGraphicFramePr>
          <p:nvPr/>
        </p:nvGraphicFramePr>
        <p:xfrm>
          <a:off x="527465" y="1329143"/>
          <a:ext cx="728662" cy="24384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728662"/>
              </a:tblGrid>
              <a:tr h="2160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bg1"/>
                          </a:solidFill>
                          <a:latin typeface="Arial"/>
                          <a:ea typeface="가는각진제목체"/>
                          <a:cs typeface="+mn-cs"/>
                          <a:sym typeface="Arial"/>
                        </a:rPr>
                        <a:t>검색조건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5" name="직사각형 34"/>
          <p:cNvSpPr/>
          <p:nvPr/>
        </p:nvSpPr>
        <p:spPr>
          <a:xfrm>
            <a:off x="465230" y="1257135"/>
            <a:ext cx="2376000" cy="360040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36" name="타원 35"/>
          <p:cNvSpPr/>
          <p:nvPr/>
        </p:nvSpPr>
        <p:spPr>
          <a:xfrm>
            <a:off x="249200" y="1113105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40" name="직사각형 39"/>
          <p:cNvSpPr/>
          <p:nvPr/>
        </p:nvSpPr>
        <p:spPr bwMode="auto">
          <a:xfrm>
            <a:off x="2194352" y="1341719"/>
            <a:ext cx="503188" cy="21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prstClr val="black"/>
              </a:solidFill>
            </a:endParaRPr>
          </a:p>
        </p:txBody>
      </p:sp>
      <p:sp>
        <p:nvSpPr>
          <p:cNvPr id="41" name="TextBox 36"/>
          <p:cNvSpPr txBox="1">
            <a:spLocks noChangeArrowheads="1"/>
          </p:cNvSpPr>
          <p:nvPr/>
        </p:nvSpPr>
        <p:spPr bwMode="auto">
          <a:xfrm>
            <a:off x="1437460" y="1341719"/>
            <a:ext cx="684000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err="1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프로젝트명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42" name="직사각형 124"/>
          <p:cNvSpPr>
            <a:spLocks noChangeArrowheads="1"/>
          </p:cNvSpPr>
          <p:nvPr/>
        </p:nvSpPr>
        <p:spPr bwMode="auto">
          <a:xfrm>
            <a:off x="373971" y="1913595"/>
            <a:ext cx="5591356" cy="2880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43" name="타원 42"/>
          <p:cNvSpPr/>
          <p:nvPr/>
        </p:nvSpPr>
        <p:spPr>
          <a:xfrm>
            <a:off x="249200" y="177277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graphicFrame>
        <p:nvGraphicFramePr>
          <p:cNvPr id="51" name="표 50"/>
          <p:cNvGraphicFramePr>
            <a:graphicFrameLocks noGrp="1"/>
          </p:cNvGraphicFramePr>
          <p:nvPr/>
        </p:nvGraphicFramePr>
        <p:xfrm>
          <a:off x="432580" y="1974687"/>
          <a:ext cx="5256001" cy="2724150"/>
        </p:xfrm>
        <a:graphic>
          <a:graphicData uri="http://schemas.openxmlformats.org/drawingml/2006/table">
            <a:tbl>
              <a:tblPr/>
              <a:tblGrid>
                <a:gridCol w="683354"/>
                <a:gridCol w="1062994"/>
                <a:gridCol w="1341397"/>
                <a:gridCol w="589688"/>
                <a:gridCol w="789284"/>
                <a:gridCol w="789284"/>
              </a:tblGrid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WACC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kern="1200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cs typeface="+mn-cs"/>
                        </a:rPr>
                        <a:t>     </a:t>
                      </a:r>
                      <a:r>
                        <a:rPr lang="en-US" altLang="ko-KR" sz="1100" b="0" i="0" u="none" strike="noStrike" kern="12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cs typeface="+mn-cs"/>
                        </a:rPr>
                        <a:t> </a:t>
                      </a:r>
                      <a:endParaRPr lang="en-US" altLang="ko-KR" sz="1100" b="0" i="0" u="none" strike="noStrike" kern="1200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Kd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144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9.63%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t</a:t>
                      </a:r>
                    </a:p>
                  </a:txBody>
                  <a:tcPr marL="144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19%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국가코드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</a:t>
                      </a:r>
                    </a:p>
                  </a:txBody>
                  <a:tcPr marL="144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57,300,000,000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S</a:t>
                      </a:r>
                    </a:p>
                  </a:txBody>
                  <a:tcPr marL="144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14,200,000,000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Rf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144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3.12%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기준연도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E(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Rm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</a:txBody>
                  <a:tcPr marL="144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10.63%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Beta</a:t>
                      </a: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144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1100" b="0" i="0" u="none" strike="noStrike" kern="12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cs typeface="+mn-cs"/>
                        </a:rPr>
                        <a:t>2.5184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Beta</a:t>
                      </a: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u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0.59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사업구분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CRP</a:t>
                      </a:r>
                    </a:p>
                  </a:txBody>
                  <a:tcPr marL="144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0.23%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국가코드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a 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고객가산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</a:txBody>
                  <a:tcPr marL="144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3%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OEM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코드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 (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지분율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가산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</a:txBody>
                  <a:tcPr marL="144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지분구성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c (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추가가산율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</a:txBody>
                  <a:tcPr marL="144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7" name="TextBox 36"/>
          <p:cNvSpPr txBox="1">
            <a:spLocks noChangeArrowheads="1"/>
          </p:cNvSpPr>
          <p:nvPr/>
        </p:nvSpPr>
        <p:spPr bwMode="auto">
          <a:xfrm>
            <a:off x="464569" y="1936747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11)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59" name="직사각형 58"/>
          <p:cNvSpPr/>
          <p:nvPr/>
        </p:nvSpPr>
        <p:spPr bwMode="auto">
          <a:xfrm>
            <a:off x="1080340" y="2385532"/>
            <a:ext cx="2484000" cy="216000"/>
          </a:xfrm>
          <a:prstGeom prst="rect">
            <a:avLst/>
          </a:prstGeom>
          <a:noFill/>
          <a:ln w="15875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60" name="TextBox 36"/>
          <p:cNvSpPr txBox="1">
            <a:spLocks noChangeArrowheads="1"/>
          </p:cNvSpPr>
          <p:nvPr/>
        </p:nvSpPr>
        <p:spPr bwMode="auto">
          <a:xfrm>
            <a:off x="894069" y="2399344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1)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68" name="TextBox 36"/>
          <p:cNvSpPr txBox="1">
            <a:spLocks noChangeArrowheads="1"/>
          </p:cNvSpPr>
          <p:nvPr/>
        </p:nvSpPr>
        <p:spPr bwMode="auto">
          <a:xfrm>
            <a:off x="885715" y="2575822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2)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70" name="직사각형 69"/>
          <p:cNvSpPr/>
          <p:nvPr/>
        </p:nvSpPr>
        <p:spPr bwMode="auto">
          <a:xfrm>
            <a:off x="1076035" y="2595807"/>
            <a:ext cx="2484000" cy="216000"/>
          </a:xfrm>
          <a:prstGeom prst="rect">
            <a:avLst/>
          </a:prstGeom>
          <a:noFill/>
          <a:ln w="15875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1" name="TextBox 36"/>
          <p:cNvSpPr txBox="1">
            <a:spLocks noChangeArrowheads="1"/>
          </p:cNvSpPr>
          <p:nvPr/>
        </p:nvSpPr>
        <p:spPr bwMode="auto">
          <a:xfrm>
            <a:off x="894069" y="2891839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3)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72" name="직사각형 71"/>
          <p:cNvSpPr/>
          <p:nvPr/>
        </p:nvSpPr>
        <p:spPr bwMode="auto">
          <a:xfrm>
            <a:off x="1076035" y="2806082"/>
            <a:ext cx="2484000" cy="432000"/>
          </a:xfrm>
          <a:prstGeom prst="rect">
            <a:avLst/>
          </a:prstGeom>
          <a:noFill/>
          <a:ln w="15875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3" name="직사각형 72"/>
          <p:cNvSpPr/>
          <p:nvPr/>
        </p:nvSpPr>
        <p:spPr bwMode="auto">
          <a:xfrm>
            <a:off x="1078595" y="3253577"/>
            <a:ext cx="2484000" cy="396000"/>
          </a:xfrm>
          <a:prstGeom prst="rect">
            <a:avLst/>
          </a:prstGeom>
          <a:noFill/>
          <a:ln w="15875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4" name="TextBox 36"/>
          <p:cNvSpPr txBox="1">
            <a:spLocks noChangeArrowheads="1"/>
          </p:cNvSpPr>
          <p:nvPr/>
        </p:nvSpPr>
        <p:spPr bwMode="auto">
          <a:xfrm>
            <a:off x="885715" y="3361184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4)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3550085" y="3630322"/>
            <a:ext cx="1404000" cy="252000"/>
          </a:xfrm>
          <a:prstGeom prst="rect">
            <a:avLst/>
          </a:prstGeom>
          <a:noFill/>
          <a:ln w="15875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6" name="TextBox 75"/>
          <p:cNvSpPr txBox="1">
            <a:spLocks noChangeArrowheads="1"/>
          </p:cNvSpPr>
          <p:nvPr/>
        </p:nvSpPr>
        <p:spPr bwMode="auto">
          <a:xfrm>
            <a:off x="4077305" y="3469145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5)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77" name="직사각형 76"/>
          <p:cNvSpPr/>
          <p:nvPr/>
        </p:nvSpPr>
        <p:spPr bwMode="auto">
          <a:xfrm>
            <a:off x="1073475" y="3674062"/>
            <a:ext cx="2484000" cy="180000"/>
          </a:xfrm>
          <a:prstGeom prst="rect">
            <a:avLst/>
          </a:prstGeom>
          <a:noFill/>
          <a:ln w="15875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8" name="TextBox 36"/>
          <p:cNvSpPr txBox="1">
            <a:spLocks noChangeArrowheads="1"/>
          </p:cNvSpPr>
          <p:nvPr/>
        </p:nvSpPr>
        <p:spPr bwMode="auto">
          <a:xfrm>
            <a:off x="885715" y="3649224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6)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79" name="직사각형 78"/>
          <p:cNvSpPr/>
          <p:nvPr/>
        </p:nvSpPr>
        <p:spPr bwMode="auto">
          <a:xfrm>
            <a:off x="1076035" y="3873307"/>
            <a:ext cx="2484000" cy="180000"/>
          </a:xfrm>
          <a:prstGeom prst="rect">
            <a:avLst/>
          </a:prstGeom>
          <a:noFill/>
          <a:ln w="15875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80" name="TextBox 36"/>
          <p:cNvSpPr txBox="1">
            <a:spLocks noChangeArrowheads="1"/>
          </p:cNvSpPr>
          <p:nvPr/>
        </p:nvSpPr>
        <p:spPr bwMode="auto">
          <a:xfrm>
            <a:off x="896629" y="3827969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7)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81" name="직사각형 80"/>
          <p:cNvSpPr/>
          <p:nvPr/>
        </p:nvSpPr>
        <p:spPr bwMode="auto">
          <a:xfrm>
            <a:off x="1064460" y="4060432"/>
            <a:ext cx="2484000" cy="206978"/>
          </a:xfrm>
          <a:prstGeom prst="rect">
            <a:avLst/>
          </a:prstGeom>
          <a:noFill/>
          <a:ln w="15875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82" name="TextBox 36"/>
          <p:cNvSpPr txBox="1">
            <a:spLocks noChangeArrowheads="1"/>
          </p:cNvSpPr>
          <p:nvPr/>
        </p:nvSpPr>
        <p:spPr bwMode="auto">
          <a:xfrm>
            <a:off x="885715" y="4069709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8)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84" name="TextBox 36"/>
          <p:cNvSpPr txBox="1">
            <a:spLocks noChangeArrowheads="1"/>
          </p:cNvSpPr>
          <p:nvPr/>
        </p:nvSpPr>
        <p:spPr bwMode="auto">
          <a:xfrm>
            <a:off x="848430" y="4284105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9)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54" name="실행 단추: 앞으로 또는 다음 53">
            <a:hlinkClick r:id="" action="ppaction://hlinkshowjump?jump=nextslide" highlightClick="1"/>
          </p:cNvPr>
          <p:cNvSpPr/>
          <p:nvPr/>
        </p:nvSpPr>
        <p:spPr bwMode="auto">
          <a:xfrm rot="5400000">
            <a:off x="4129556" y="2618329"/>
            <a:ext cx="127186" cy="1339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55" name="AutoShape 279"/>
          <p:cNvSpPr>
            <a:spLocks noChangeArrowheads="1"/>
          </p:cNvSpPr>
          <p:nvPr/>
        </p:nvSpPr>
        <p:spPr bwMode="auto">
          <a:xfrm>
            <a:off x="4355045" y="2586994"/>
            <a:ext cx="358775" cy="17874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b="1" dirty="0" smtClean="0">
                <a:solidFill>
                  <a:schemeClr val="bg1"/>
                </a:solidFill>
                <a:latin typeface="가는각진제목체" pitchFamily="18" charset="-127"/>
                <a:ea typeface="가는각진제목체" pitchFamily="18" charset="-127"/>
              </a:rPr>
              <a:t>조회</a:t>
            </a:r>
            <a:endParaRPr kumimoji="0" lang="ko-KR" altLang="en-US" sz="900" b="1" dirty="0">
              <a:solidFill>
                <a:schemeClr val="bg1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61" name="실행 단추: 앞으로 또는 다음 60">
            <a:hlinkClick r:id="" action="ppaction://hlinkshowjump?jump=nextslide" highlightClick="1"/>
          </p:cNvPr>
          <p:cNvSpPr/>
          <p:nvPr/>
        </p:nvSpPr>
        <p:spPr bwMode="auto">
          <a:xfrm rot="5400000">
            <a:off x="4129556" y="3255879"/>
            <a:ext cx="127186" cy="1339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62" name="AutoShape 279"/>
          <p:cNvSpPr>
            <a:spLocks noChangeArrowheads="1"/>
          </p:cNvSpPr>
          <p:nvPr/>
        </p:nvSpPr>
        <p:spPr bwMode="auto">
          <a:xfrm>
            <a:off x="4320320" y="3238680"/>
            <a:ext cx="358775" cy="17874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b="1" dirty="0" smtClean="0">
                <a:solidFill>
                  <a:schemeClr val="bg1"/>
                </a:solidFill>
                <a:latin typeface="가는각진제목체" pitchFamily="18" charset="-127"/>
                <a:ea typeface="가는각진제목체" pitchFamily="18" charset="-127"/>
              </a:rPr>
              <a:t>조회</a:t>
            </a:r>
            <a:endParaRPr kumimoji="0" lang="ko-KR" altLang="en-US" sz="900" b="1" dirty="0">
              <a:solidFill>
                <a:schemeClr val="bg1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63" name="실행 단추: 앞으로 또는 다음 62">
            <a:hlinkClick r:id="" action="ppaction://hlinkshowjump?jump=nextslide" highlightClick="1"/>
          </p:cNvPr>
          <p:cNvSpPr/>
          <p:nvPr/>
        </p:nvSpPr>
        <p:spPr bwMode="auto">
          <a:xfrm rot="5400000">
            <a:off x="5542523" y="3681623"/>
            <a:ext cx="127186" cy="1339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65" name="AutoShape 279"/>
          <p:cNvSpPr>
            <a:spLocks noChangeArrowheads="1"/>
          </p:cNvSpPr>
          <p:nvPr/>
        </p:nvSpPr>
        <p:spPr bwMode="auto">
          <a:xfrm>
            <a:off x="5734810" y="3659165"/>
            <a:ext cx="358775" cy="17874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b="1" dirty="0" smtClean="0">
                <a:solidFill>
                  <a:schemeClr val="bg1"/>
                </a:solidFill>
                <a:latin typeface="가는각진제목체" pitchFamily="18" charset="-127"/>
                <a:ea typeface="가는각진제목체" pitchFamily="18" charset="-127"/>
              </a:rPr>
              <a:t>조회</a:t>
            </a:r>
            <a:endParaRPr kumimoji="0" lang="ko-KR" altLang="en-US" sz="900" b="1" dirty="0">
              <a:solidFill>
                <a:schemeClr val="bg1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66" name="AutoShape 279"/>
          <p:cNvSpPr>
            <a:spLocks noChangeArrowheads="1"/>
          </p:cNvSpPr>
          <p:nvPr/>
        </p:nvSpPr>
        <p:spPr bwMode="auto">
          <a:xfrm>
            <a:off x="1808985" y="3682315"/>
            <a:ext cx="358775" cy="17874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b="1" dirty="0" smtClean="0">
                <a:solidFill>
                  <a:schemeClr val="bg1"/>
                </a:solidFill>
                <a:latin typeface="가는각진제목체" pitchFamily="18" charset="-127"/>
                <a:ea typeface="가는각진제목체" pitchFamily="18" charset="-127"/>
              </a:rPr>
              <a:t>계산</a:t>
            </a:r>
            <a:endParaRPr kumimoji="0" lang="ko-KR" altLang="en-US" sz="900" b="1" dirty="0">
              <a:solidFill>
                <a:schemeClr val="bg1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69" name="실행 단추: 앞으로 또는 다음 68">
            <a:hlinkClick r:id="" action="ppaction://hlinkshowjump?jump=nextslide" highlightClick="1"/>
          </p:cNvPr>
          <p:cNvSpPr/>
          <p:nvPr/>
        </p:nvSpPr>
        <p:spPr bwMode="auto">
          <a:xfrm rot="5400000">
            <a:off x="4126996" y="3906530"/>
            <a:ext cx="127186" cy="1339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85" name="AutoShape 279"/>
          <p:cNvSpPr>
            <a:spLocks noChangeArrowheads="1"/>
          </p:cNvSpPr>
          <p:nvPr/>
        </p:nvSpPr>
        <p:spPr bwMode="auto">
          <a:xfrm>
            <a:off x="4352485" y="3875195"/>
            <a:ext cx="358775" cy="17874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b="1" dirty="0" smtClean="0">
                <a:solidFill>
                  <a:schemeClr val="bg1"/>
                </a:solidFill>
                <a:latin typeface="가는각진제목체" pitchFamily="18" charset="-127"/>
                <a:ea typeface="가는각진제목체" pitchFamily="18" charset="-127"/>
              </a:rPr>
              <a:t>조회</a:t>
            </a:r>
            <a:endParaRPr kumimoji="0" lang="ko-KR" altLang="en-US" sz="900" b="1" dirty="0">
              <a:solidFill>
                <a:schemeClr val="bg1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92" name="실행 단추: 앞으로 또는 다음 91">
            <a:hlinkClick r:id="" action="ppaction://hlinkshowjump?jump=nextslide" highlightClick="1"/>
          </p:cNvPr>
          <p:cNvSpPr/>
          <p:nvPr/>
        </p:nvSpPr>
        <p:spPr bwMode="auto">
          <a:xfrm rot="5400000">
            <a:off x="4126996" y="4120000"/>
            <a:ext cx="127186" cy="1339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93" name="AutoShape 279"/>
          <p:cNvSpPr>
            <a:spLocks noChangeArrowheads="1"/>
          </p:cNvSpPr>
          <p:nvPr/>
        </p:nvSpPr>
        <p:spPr bwMode="auto">
          <a:xfrm>
            <a:off x="4352485" y="4088665"/>
            <a:ext cx="358775" cy="17874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b="1" dirty="0" smtClean="0">
                <a:solidFill>
                  <a:schemeClr val="bg1"/>
                </a:solidFill>
                <a:latin typeface="가는각진제목체" pitchFamily="18" charset="-127"/>
                <a:ea typeface="가는각진제목체" pitchFamily="18" charset="-127"/>
              </a:rPr>
              <a:t>조회</a:t>
            </a:r>
            <a:endParaRPr kumimoji="0" lang="ko-KR" altLang="en-US" sz="900" b="1" dirty="0">
              <a:solidFill>
                <a:schemeClr val="bg1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94" name="직사각형 93"/>
          <p:cNvSpPr/>
          <p:nvPr/>
        </p:nvSpPr>
        <p:spPr bwMode="auto">
          <a:xfrm>
            <a:off x="1061900" y="4279022"/>
            <a:ext cx="2484000" cy="206978"/>
          </a:xfrm>
          <a:prstGeom prst="rect">
            <a:avLst/>
          </a:prstGeom>
          <a:noFill/>
          <a:ln w="15875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95" name="실행 단추: 앞으로 또는 다음 94">
            <a:hlinkClick r:id="" action="ppaction://hlinkshowjump?jump=nextslide" highlightClick="1"/>
          </p:cNvPr>
          <p:cNvSpPr/>
          <p:nvPr/>
        </p:nvSpPr>
        <p:spPr bwMode="auto">
          <a:xfrm rot="5400000">
            <a:off x="4124436" y="4338590"/>
            <a:ext cx="127186" cy="1339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96" name="AutoShape 279"/>
          <p:cNvSpPr>
            <a:spLocks noChangeArrowheads="1"/>
          </p:cNvSpPr>
          <p:nvPr/>
        </p:nvSpPr>
        <p:spPr bwMode="auto">
          <a:xfrm>
            <a:off x="4349925" y="4307255"/>
            <a:ext cx="358775" cy="17874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b="1" dirty="0" smtClean="0">
                <a:solidFill>
                  <a:schemeClr val="bg1"/>
                </a:solidFill>
                <a:latin typeface="가는각진제목체" pitchFamily="18" charset="-127"/>
                <a:ea typeface="가는각진제목체" pitchFamily="18" charset="-127"/>
              </a:rPr>
              <a:t>조회</a:t>
            </a:r>
            <a:endParaRPr kumimoji="0" lang="ko-KR" altLang="en-US" sz="900" b="1" dirty="0">
              <a:solidFill>
                <a:schemeClr val="bg1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97" name="TextBox 36"/>
          <p:cNvSpPr txBox="1">
            <a:spLocks noChangeArrowheads="1"/>
          </p:cNvSpPr>
          <p:nvPr/>
        </p:nvSpPr>
        <p:spPr bwMode="auto">
          <a:xfrm>
            <a:off x="871580" y="4513977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10)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98" name="직사각형 97"/>
          <p:cNvSpPr/>
          <p:nvPr/>
        </p:nvSpPr>
        <p:spPr bwMode="auto">
          <a:xfrm>
            <a:off x="1078595" y="4480917"/>
            <a:ext cx="2484000" cy="206978"/>
          </a:xfrm>
          <a:prstGeom prst="rect">
            <a:avLst/>
          </a:prstGeom>
          <a:noFill/>
          <a:ln w="15875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99" name="AutoShape 279"/>
          <p:cNvSpPr>
            <a:spLocks noChangeArrowheads="1"/>
          </p:cNvSpPr>
          <p:nvPr/>
        </p:nvSpPr>
        <p:spPr bwMode="auto">
          <a:xfrm>
            <a:off x="2229470" y="1991360"/>
            <a:ext cx="358775" cy="17874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b="1" dirty="0" smtClean="0">
                <a:solidFill>
                  <a:schemeClr val="bg1"/>
                </a:solidFill>
                <a:latin typeface="가는각진제목체" pitchFamily="18" charset="-127"/>
                <a:ea typeface="가는각진제목체" pitchFamily="18" charset="-127"/>
              </a:rPr>
              <a:t>계산</a:t>
            </a:r>
            <a:endParaRPr kumimoji="0" lang="ko-KR" altLang="en-US" sz="900" b="1" dirty="0">
              <a:solidFill>
                <a:schemeClr val="bg1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00" name="TextBox 36"/>
          <p:cNvSpPr txBox="1">
            <a:spLocks noChangeArrowheads="1"/>
          </p:cNvSpPr>
          <p:nvPr/>
        </p:nvSpPr>
        <p:spPr bwMode="auto">
          <a:xfrm>
            <a:off x="5321404" y="1916790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12)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101" name="AutoShape 279"/>
          <p:cNvSpPr>
            <a:spLocks noChangeArrowheads="1"/>
          </p:cNvSpPr>
          <p:nvPr/>
        </p:nvSpPr>
        <p:spPr bwMode="auto">
          <a:xfrm>
            <a:off x="5529080" y="1988930"/>
            <a:ext cx="358775" cy="21590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b="1" dirty="0">
                <a:solidFill>
                  <a:schemeClr val="bg1"/>
                </a:solidFill>
                <a:latin typeface="가는각진제목체" pitchFamily="18" charset="-127"/>
                <a:ea typeface="가는각진제목체" pitchFamily="18" charset="-127"/>
              </a:rPr>
              <a:t>저장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상세 </a:t>
            </a:r>
            <a:r>
              <a:rPr lang="en-US" altLang="ko-KR" dirty="0" smtClean="0">
                <a:solidFill>
                  <a:srgbClr val="000000"/>
                </a:solidFill>
              </a:rPr>
              <a:t>Spec_</a:t>
            </a:r>
            <a:r>
              <a:rPr lang="ko-KR" altLang="en-US" dirty="0" smtClean="0">
                <a:solidFill>
                  <a:srgbClr val="000000"/>
                </a:solidFill>
                <a:latin typeface="Arial"/>
                <a:ea typeface="가는각진제목체"/>
              </a:rPr>
              <a:t> 수익성 분석 사전정보 입력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3" name="Rectangle 33"/>
          <p:cNvSpPr>
            <a:spLocks noChangeArrowheads="1"/>
          </p:cNvSpPr>
          <p:nvPr/>
        </p:nvSpPr>
        <p:spPr bwMode="auto">
          <a:xfrm>
            <a:off x="416370" y="790575"/>
            <a:ext cx="8857230" cy="53181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3.  WACC </a:t>
            </a:r>
            <a:r>
              <a:rPr kumimoji="0"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산출</a:t>
            </a:r>
            <a:endParaRPr kumimoji="0" lang="ko-KR" altLang="en-US" sz="12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</a:t>
            </a: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1)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예시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) {(7% * 35,100,000,000) +  (15% * 17,200,000,000)} / (35,100,000,000 + 17,200,000,000</a:t>
            </a:r>
            <a:r>
              <a:rPr lang="en-US" altLang="ko-KR" sz="1200" dirty="0" smtClean="0">
                <a:solidFill>
                  <a:srgbClr val="000000"/>
                </a:solidFill>
                <a:latin typeface="Arial"/>
              </a:rPr>
              <a:t>)</a:t>
            </a:r>
            <a:endParaRPr kumimoji="0" lang="en-US" altLang="ko-KR" sz="120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</a:t>
            </a:r>
            <a:endParaRPr kumimoji="0" lang="ko-KR" altLang="en-US" sz="1200" i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6) </a:t>
            </a:r>
            <a:r>
              <a:rPr kumimoji="0" lang="en-US" altLang="ko-KR" sz="1200" dirty="0" err="1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Beta</a:t>
            </a:r>
            <a:r>
              <a:rPr kumimoji="0" lang="en-US" altLang="ko-KR" sz="1200" i="1" dirty="0" err="1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l</a:t>
            </a:r>
            <a:r>
              <a:rPr kumimoji="0" lang="en-US" altLang="ko-KR" sz="1200" i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= </a:t>
            </a:r>
            <a:r>
              <a:rPr kumimoji="0" lang="en-US" altLang="ko-KR" sz="1200" dirty="0" err="1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Beta</a:t>
            </a:r>
            <a:r>
              <a:rPr kumimoji="0" lang="en-US" altLang="ko-KR" sz="1200" i="1" dirty="0" err="1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u</a:t>
            </a:r>
            <a:r>
              <a:rPr kumimoji="0" lang="en-US" altLang="ko-KR" sz="1200" i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* (1+(1-t)*B/S)</a:t>
            </a:r>
          </a:p>
          <a:p>
            <a:pPr marL="177800" indent="-93663" fontAlgn="ctr" latinLnBrk="0">
              <a:lnSpc>
                <a:spcPct val="140000"/>
              </a:lnSpc>
              <a:defRPr/>
            </a:pPr>
            <a:endParaRPr kumimoji="0" lang="en-US" altLang="ko-KR" sz="120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en-US" altLang="ko-KR" sz="1200" i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7) CRP = </a:t>
            </a:r>
            <a:r>
              <a:rPr kumimoji="0" lang="ko-KR" altLang="en-US" sz="1200" dirty="0" err="1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진출국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CRP –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대한민국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CRP (</a:t>
            </a:r>
            <a:r>
              <a:rPr kumimoji="0" lang="ko-KR" altLang="en-US" sz="1200" dirty="0" err="1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진축국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CRP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는 사용자가 선택한 정보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,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대한민국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CRP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는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Default)</a:t>
            </a:r>
            <a:endParaRPr kumimoji="0" lang="en-US" altLang="ko-KR" sz="1200" i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Wingdings" pitchFamily="2" charset="2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11) WACC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산출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Logic</a:t>
            </a:r>
          </a:p>
          <a:p>
            <a:pPr marL="177800" indent="-93663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marL="92075" lvl="0" defTabSz="914400" fontAlgn="t"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   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WACC(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가중평균자본비용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) = </a:t>
            </a:r>
            <a:r>
              <a:rPr kumimoji="0" lang="en-US" altLang="ko-KR" sz="1050" dirty="0" err="1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Kd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*(1-t)*{B/(B+S)}+(</a:t>
            </a:r>
            <a:r>
              <a:rPr lang="en-US" altLang="ko-KR" sz="1050" dirty="0" err="1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Rf</a:t>
            </a:r>
            <a:r>
              <a:rPr lang="en-US" altLang="ko-KR" sz="105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+(E(</a:t>
            </a:r>
            <a:r>
              <a:rPr lang="en-US" altLang="ko-KR" sz="1050" dirty="0" err="1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Rm</a:t>
            </a:r>
            <a:r>
              <a:rPr lang="en-US" altLang="ko-KR" sz="105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)-</a:t>
            </a:r>
            <a:r>
              <a:rPr lang="en-US" altLang="ko-KR" sz="1050" dirty="0" err="1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Rf</a:t>
            </a:r>
            <a:r>
              <a:rPr lang="en-US" altLang="ko-KR" sz="105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)*</a:t>
            </a:r>
            <a:r>
              <a:rPr lang="en-US" altLang="ko-KR" sz="1050" dirty="0" err="1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Beta</a:t>
            </a:r>
            <a:r>
              <a:rPr lang="en-US" altLang="ko-KR" sz="1050" i="1" dirty="0" err="1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l</a:t>
            </a:r>
            <a:r>
              <a:rPr lang="en-US" altLang="ko-KR" sz="1050" i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</a:t>
            </a:r>
            <a:r>
              <a:rPr lang="en-US" altLang="ko-KR" sz="105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)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*{S/(B+S)} + CRP + a + b + c</a:t>
            </a:r>
          </a:p>
          <a:p>
            <a:pPr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Wingdings" pitchFamily="2" charset="2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124"/>
          <p:cNvSpPr>
            <a:spLocks noChangeArrowheads="1"/>
          </p:cNvSpPr>
          <p:nvPr/>
        </p:nvSpPr>
        <p:spPr bwMode="auto">
          <a:xfrm>
            <a:off x="397494" y="1709774"/>
            <a:ext cx="5591356" cy="2223295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graphicFrame>
        <p:nvGraphicFramePr>
          <p:cNvPr id="48" name="표 47"/>
          <p:cNvGraphicFramePr>
            <a:graphicFrameLocks noGrp="1"/>
          </p:cNvGraphicFramePr>
          <p:nvPr/>
        </p:nvGraphicFramePr>
        <p:xfrm>
          <a:off x="697955" y="2518790"/>
          <a:ext cx="2330352" cy="838200"/>
        </p:xfrm>
        <a:graphic>
          <a:graphicData uri="http://schemas.openxmlformats.org/drawingml/2006/table">
            <a:tbl>
              <a:tblPr/>
              <a:tblGrid>
                <a:gridCol w="1030261"/>
                <a:gridCol w="1300091"/>
              </a:tblGrid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항목명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회전율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매출채권회전율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4.29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재고자산회전율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9.8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매입채무회전율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4.33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Group 82"/>
          <p:cNvGraphicFramePr>
            <a:graphicFrameLocks noGrp="1"/>
          </p:cNvGraphicFramePr>
          <p:nvPr/>
        </p:nvGraphicFramePr>
        <p:xfrm>
          <a:off x="6149460" y="1038815"/>
          <a:ext cx="3528000" cy="1697142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가는각진제목체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수익성분석에 필요한 사전정보 정의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4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&lt;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운잔자본항목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회전율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&gt;</a:t>
                      </a: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1)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행추가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및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행삭제로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데이터 추가 및 삭제 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2)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화면 입력 항목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항목명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회전율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소수점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둘째자리까지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3)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저장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5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저장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3662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이전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5" name="AutoShape 279"/>
          <p:cNvSpPr>
            <a:spLocks noChangeArrowheads="1"/>
          </p:cNvSpPr>
          <p:nvPr/>
        </p:nvSpPr>
        <p:spPr bwMode="auto">
          <a:xfrm>
            <a:off x="472454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저장</a:t>
            </a:r>
          </a:p>
        </p:txBody>
      </p:sp>
      <p:sp>
        <p:nvSpPr>
          <p:cNvPr id="16" name="AutoShape 279"/>
          <p:cNvSpPr>
            <a:spLocks noChangeArrowheads="1"/>
          </p:cNvSpPr>
          <p:nvPr/>
        </p:nvSpPr>
        <p:spPr bwMode="auto">
          <a:xfrm>
            <a:off x="4270988" y="853662"/>
            <a:ext cx="360363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조회</a:t>
            </a: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엑셀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smtClean="0">
                <a:solidFill>
                  <a:sysClr val="windowText" lastClr="000000"/>
                </a:solidFill>
                <a:latin typeface="+mn-ea"/>
                <a:ea typeface="+mn-ea"/>
              </a:rPr>
              <a:t>원가관리</a:t>
            </a:r>
            <a:endParaRPr lang="ko-KR" altLang="en-US" sz="1050" kern="0" dirty="0" smtClea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23" name="직사각형 22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견적기준가 산출 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01</a:t>
            </a:r>
            <a:endParaRPr lang="ko-KR" altLang="en-US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4" name="직사각형 23"/>
          <p:cNvSpPr/>
          <p:nvPr/>
        </p:nvSpPr>
        <p:spPr bwMode="auto">
          <a:xfrm>
            <a:off x="3584810" y="276870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견적기준가 산출</a:t>
            </a:r>
          </a:p>
        </p:txBody>
      </p:sp>
      <p:sp>
        <p:nvSpPr>
          <p:cNvPr id="25" name="직사각형 24"/>
          <p:cNvSpPr/>
          <p:nvPr/>
        </p:nvSpPr>
        <p:spPr bwMode="auto">
          <a:xfrm>
            <a:off x="3588275" y="545165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36000" tIns="36000" rIns="36000" bIns="3600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수익성분석 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Factor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등록</a:t>
            </a:r>
          </a:p>
        </p:txBody>
      </p:sp>
      <p:sp>
        <p:nvSpPr>
          <p:cNvPr id="26" name="직사각형 25"/>
          <p:cNvSpPr/>
          <p:nvPr/>
        </p:nvSpPr>
        <p:spPr bwMode="auto">
          <a:xfrm>
            <a:off x="7287765" y="28799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  </a:t>
            </a:r>
          </a:p>
        </p:txBody>
      </p:sp>
      <p:sp>
        <p:nvSpPr>
          <p:cNvPr id="27" name="직사각형 26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2013.05.15 /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정승필</a:t>
            </a:r>
          </a:p>
        </p:txBody>
      </p:sp>
      <p:graphicFrame>
        <p:nvGraphicFramePr>
          <p:cNvPr id="33" name="표 32"/>
          <p:cNvGraphicFramePr>
            <a:graphicFrameLocks noGrp="1"/>
          </p:cNvGraphicFramePr>
          <p:nvPr/>
        </p:nvGraphicFramePr>
        <p:xfrm>
          <a:off x="527465" y="1329143"/>
          <a:ext cx="728662" cy="24384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728662"/>
              </a:tblGrid>
              <a:tr h="2160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bg1"/>
                          </a:solidFill>
                          <a:latin typeface="Arial"/>
                          <a:ea typeface="가는각진제목체"/>
                          <a:cs typeface="+mn-cs"/>
                          <a:sym typeface="Arial"/>
                        </a:rPr>
                        <a:t>검색조건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5" name="직사각형 34"/>
          <p:cNvSpPr/>
          <p:nvPr/>
        </p:nvSpPr>
        <p:spPr>
          <a:xfrm>
            <a:off x="465230" y="1257135"/>
            <a:ext cx="2376000" cy="360040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36" name="타원 35"/>
          <p:cNvSpPr/>
          <p:nvPr/>
        </p:nvSpPr>
        <p:spPr>
          <a:xfrm>
            <a:off x="249200" y="1113105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37" name="직사각형 36"/>
          <p:cNvSpPr/>
          <p:nvPr/>
        </p:nvSpPr>
        <p:spPr bwMode="auto">
          <a:xfrm>
            <a:off x="2194352" y="1341719"/>
            <a:ext cx="503188" cy="21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prstClr val="black"/>
              </a:solidFill>
            </a:endParaRPr>
          </a:p>
        </p:txBody>
      </p:sp>
      <p:sp>
        <p:nvSpPr>
          <p:cNvPr id="38" name="TextBox 36"/>
          <p:cNvSpPr txBox="1">
            <a:spLocks noChangeArrowheads="1"/>
          </p:cNvSpPr>
          <p:nvPr/>
        </p:nvSpPr>
        <p:spPr bwMode="auto">
          <a:xfrm>
            <a:off x="1437460" y="1341719"/>
            <a:ext cx="684000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err="1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프로젝트명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40" name="타원 39"/>
          <p:cNvSpPr/>
          <p:nvPr/>
        </p:nvSpPr>
        <p:spPr>
          <a:xfrm>
            <a:off x="258588" y="1637765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4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46" name="TextBox 36"/>
          <p:cNvSpPr txBox="1">
            <a:spLocks noChangeArrowheads="1"/>
          </p:cNvSpPr>
          <p:nvPr/>
        </p:nvSpPr>
        <p:spPr bwMode="auto">
          <a:xfrm>
            <a:off x="523105" y="2355305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2)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47" name="직사각형 46"/>
          <p:cNvSpPr/>
          <p:nvPr/>
        </p:nvSpPr>
        <p:spPr bwMode="auto">
          <a:xfrm>
            <a:off x="679731" y="2453065"/>
            <a:ext cx="2340000" cy="288000"/>
          </a:xfrm>
          <a:prstGeom prst="rect">
            <a:avLst/>
          </a:prstGeom>
          <a:noFill/>
          <a:ln w="15875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pic>
        <p:nvPicPr>
          <p:cNvPr id="49" name="Picture 3"/>
          <p:cNvPicPr>
            <a:picLocks noChangeAspect="1" noChangeArrowheads="1"/>
          </p:cNvPicPr>
          <p:nvPr/>
        </p:nvPicPr>
        <p:blipFill>
          <a:blip r:embed="rId2" cstate="print"/>
          <a:srcRect l="66449" t="39690" r="31626" b="58009"/>
          <a:stretch>
            <a:fillRect/>
          </a:stretch>
        </p:blipFill>
        <p:spPr bwMode="auto">
          <a:xfrm>
            <a:off x="632400" y="2007760"/>
            <a:ext cx="391675" cy="269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" name="직사각형 49"/>
          <p:cNvSpPr/>
          <p:nvPr/>
        </p:nvSpPr>
        <p:spPr bwMode="auto">
          <a:xfrm>
            <a:off x="631106" y="2051423"/>
            <a:ext cx="360000" cy="180000"/>
          </a:xfrm>
          <a:prstGeom prst="rect">
            <a:avLst/>
          </a:prstGeom>
          <a:noFill/>
          <a:ln w="15875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1" name="TextBox 50"/>
          <p:cNvSpPr txBox="1">
            <a:spLocks noChangeArrowheads="1"/>
          </p:cNvSpPr>
          <p:nvPr/>
        </p:nvSpPr>
        <p:spPr bwMode="auto">
          <a:xfrm>
            <a:off x="516650" y="2032769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1)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30" name="TextBox 36"/>
          <p:cNvSpPr txBox="1">
            <a:spLocks noChangeArrowheads="1"/>
          </p:cNvSpPr>
          <p:nvPr/>
        </p:nvSpPr>
        <p:spPr bwMode="auto">
          <a:xfrm>
            <a:off x="5321404" y="1772770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3)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31" name="AutoShape 279"/>
          <p:cNvSpPr>
            <a:spLocks noChangeArrowheads="1"/>
          </p:cNvSpPr>
          <p:nvPr/>
        </p:nvSpPr>
        <p:spPr bwMode="auto">
          <a:xfrm>
            <a:off x="5529080" y="1844910"/>
            <a:ext cx="358775" cy="21590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b="1" dirty="0">
                <a:solidFill>
                  <a:schemeClr val="bg1"/>
                </a:solidFill>
                <a:latin typeface="가는각진제목체" pitchFamily="18" charset="-127"/>
                <a:ea typeface="가는각진제목체" pitchFamily="18" charset="-127"/>
              </a:rPr>
              <a:t>저장</a:t>
            </a:r>
          </a:p>
        </p:txBody>
      </p:sp>
      <p:sp>
        <p:nvSpPr>
          <p:cNvPr id="32" name="타원 31"/>
          <p:cNvSpPr/>
          <p:nvPr/>
        </p:nvSpPr>
        <p:spPr>
          <a:xfrm>
            <a:off x="4795087" y="112468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5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roup 82"/>
          <p:cNvGraphicFramePr>
            <a:graphicFrameLocks noGrp="1"/>
          </p:cNvGraphicFramePr>
          <p:nvPr/>
        </p:nvGraphicFramePr>
        <p:xfrm>
          <a:off x="6149460" y="1038815"/>
          <a:ext cx="3528000" cy="2534579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가는각진제목체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수익성분석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기초정보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정의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1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국가명으로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검색 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(combo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형태로 검색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국가명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display)</a:t>
                      </a: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1)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행추가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및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행삭제로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데이터 추가 및 삭제 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2)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화면 입력 항목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국가코드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국가명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기준연도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적용연도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세율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3)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화면입력항목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저장시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자동입력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4) Display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된 칼럼 순서대로 엑셀 다운로드 가능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3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1)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행추가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및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행삭제로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데이터 추가 및 삭제 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2)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화면 입력 항목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marR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국가코드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국가명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기준연도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CRP  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입력 후 저장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  <a:p>
                      <a:pPr marL="82550" marR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3) Display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된 칼럼 순서대로 엑셀 다운로드 가능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3662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이전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5" name="AutoShape 279"/>
          <p:cNvSpPr>
            <a:spLocks noChangeArrowheads="1"/>
          </p:cNvSpPr>
          <p:nvPr/>
        </p:nvSpPr>
        <p:spPr bwMode="auto">
          <a:xfrm>
            <a:off x="472454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저장</a:t>
            </a:r>
          </a:p>
        </p:txBody>
      </p:sp>
      <p:sp>
        <p:nvSpPr>
          <p:cNvPr id="16" name="AutoShape 279"/>
          <p:cNvSpPr>
            <a:spLocks noChangeArrowheads="1"/>
          </p:cNvSpPr>
          <p:nvPr/>
        </p:nvSpPr>
        <p:spPr bwMode="auto">
          <a:xfrm>
            <a:off x="4270988" y="853662"/>
            <a:ext cx="360363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조회</a:t>
            </a: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엑셀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smtClean="0">
                <a:solidFill>
                  <a:sysClr val="windowText" lastClr="000000"/>
                </a:solidFill>
                <a:latin typeface="+mn-ea"/>
                <a:ea typeface="+mn-ea"/>
              </a:rPr>
              <a:t>원가관리</a:t>
            </a:r>
            <a:endParaRPr lang="ko-KR" altLang="en-US" sz="1050" kern="0" dirty="0" smtClea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23" name="직사각형 22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견적기준가 산출 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02</a:t>
            </a:r>
            <a:endParaRPr lang="ko-KR" altLang="en-US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4" name="직사각형 23"/>
          <p:cNvSpPr/>
          <p:nvPr/>
        </p:nvSpPr>
        <p:spPr bwMode="auto">
          <a:xfrm>
            <a:off x="3584810" y="276870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견적기준가 산출</a:t>
            </a:r>
          </a:p>
        </p:txBody>
      </p:sp>
      <p:sp>
        <p:nvSpPr>
          <p:cNvPr id="25" name="직사각형 24"/>
          <p:cNvSpPr/>
          <p:nvPr/>
        </p:nvSpPr>
        <p:spPr bwMode="auto">
          <a:xfrm>
            <a:off x="3588275" y="545165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36000" tIns="36000" rIns="36000" bIns="3600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수익성분석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기초정보</a:t>
            </a:r>
          </a:p>
        </p:txBody>
      </p:sp>
      <p:sp>
        <p:nvSpPr>
          <p:cNvPr id="26" name="직사각형 25"/>
          <p:cNvSpPr/>
          <p:nvPr/>
        </p:nvSpPr>
        <p:spPr bwMode="auto">
          <a:xfrm>
            <a:off x="7287765" y="28799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  </a:t>
            </a:r>
          </a:p>
        </p:txBody>
      </p:sp>
      <p:sp>
        <p:nvSpPr>
          <p:cNvPr id="27" name="직사각형 26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2013.05.15 /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정승필</a:t>
            </a:r>
          </a:p>
        </p:txBody>
      </p:sp>
      <p:sp>
        <p:nvSpPr>
          <p:cNvPr id="18" name="직사각형 124"/>
          <p:cNvSpPr>
            <a:spLocks noChangeArrowheads="1"/>
          </p:cNvSpPr>
          <p:nvPr/>
        </p:nvSpPr>
        <p:spPr bwMode="auto">
          <a:xfrm>
            <a:off x="258215" y="2405908"/>
            <a:ext cx="5842625" cy="3471432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</p:txBody>
      </p:sp>
      <p:sp>
        <p:nvSpPr>
          <p:cNvPr id="19" name="한쪽 모서리가 잘린 사각형 18"/>
          <p:cNvSpPr/>
          <p:nvPr/>
        </p:nvSpPr>
        <p:spPr bwMode="auto">
          <a:xfrm>
            <a:off x="983750" y="2155970"/>
            <a:ext cx="720000" cy="252670"/>
          </a:xfrm>
          <a:prstGeom prst="snip1Rect">
            <a:avLst/>
          </a:prstGeom>
          <a:noFill/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ko-KR" altLang="en-US" sz="9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수주처</a:t>
            </a:r>
            <a:endParaRPr lang="ko-KR" altLang="en-US" sz="9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0" name="한쪽 모서리가 잘린 사각형 19"/>
          <p:cNvSpPr/>
          <p:nvPr/>
        </p:nvSpPr>
        <p:spPr bwMode="auto">
          <a:xfrm>
            <a:off x="258215" y="2155970"/>
            <a:ext cx="720000" cy="252670"/>
          </a:xfrm>
          <a:prstGeom prst="snip1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ko-KR" altLang="en-US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법인세율</a:t>
            </a:r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/CRP</a:t>
            </a:r>
            <a:endParaRPr lang="ko-KR" altLang="en-US" sz="9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2" name="한쪽 모서리가 잘린 사각형 21"/>
          <p:cNvSpPr/>
          <p:nvPr/>
        </p:nvSpPr>
        <p:spPr bwMode="auto">
          <a:xfrm>
            <a:off x="1712650" y="2155970"/>
            <a:ext cx="720000" cy="252670"/>
          </a:xfrm>
          <a:prstGeom prst="snip1Rect">
            <a:avLst/>
          </a:prstGeom>
          <a:noFill/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ko-KR" altLang="en-US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지분구성</a:t>
            </a:r>
          </a:p>
        </p:txBody>
      </p:sp>
      <p:graphicFrame>
        <p:nvGraphicFramePr>
          <p:cNvPr id="28" name="표 27"/>
          <p:cNvGraphicFramePr>
            <a:graphicFrameLocks noGrp="1"/>
          </p:cNvGraphicFramePr>
          <p:nvPr/>
        </p:nvGraphicFramePr>
        <p:xfrm>
          <a:off x="406925" y="1556748"/>
          <a:ext cx="728662" cy="25146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728662"/>
              </a:tblGrid>
              <a:tr h="2160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kern="1200" dirty="0" smtClean="0">
                          <a:solidFill>
                            <a:schemeClr val="bg1"/>
                          </a:solidFill>
                          <a:latin typeface="Arial"/>
                          <a:ea typeface="가는각진제목체"/>
                          <a:cs typeface="+mn-cs"/>
                          <a:sym typeface="Arial"/>
                        </a:rPr>
                        <a:t>검색조건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9" name="직사각형 28"/>
          <p:cNvSpPr/>
          <p:nvPr/>
        </p:nvSpPr>
        <p:spPr>
          <a:xfrm>
            <a:off x="344690" y="1484740"/>
            <a:ext cx="3672180" cy="360040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30" name="직사각형 124"/>
          <p:cNvSpPr>
            <a:spLocks noChangeArrowheads="1"/>
          </p:cNvSpPr>
          <p:nvPr/>
        </p:nvSpPr>
        <p:spPr bwMode="auto">
          <a:xfrm>
            <a:off x="455369" y="2511390"/>
            <a:ext cx="5591356" cy="156314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31" name="타원 30"/>
          <p:cNvSpPr/>
          <p:nvPr/>
        </p:nvSpPr>
        <p:spPr>
          <a:xfrm>
            <a:off x="316463" y="243938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32" name="직사각형 31"/>
          <p:cNvSpPr/>
          <p:nvPr/>
        </p:nvSpPr>
        <p:spPr bwMode="auto">
          <a:xfrm>
            <a:off x="1857452" y="1569324"/>
            <a:ext cx="503188" cy="21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prstClr val="black"/>
              </a:solidFill>
            </a:endParaRPr>
          </a:p>
        </p:txBody>
      </p:sp>
      <p:sp>
        <p:nvSpPr>
          <p:cNvPr id="33" name="TextBox 36"/>
          <p:cNvSpPr txBox="1">
            <a:spLocks noChangeArrowheads="1"/>
          </p:cNvSpPr>
          <p:nvPr/>
        </p:nvSpPr>
        <p:spPr bwMode="auto">
          <a:xfrm>
            <a:off x="1316920" y="1569324"/>
            <a:ext cx="684000" cy="2342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5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국가</a:t>
            </a:r>
          </a:p>
        </p:txBody>
      </p:sp>
      <p:sp>
        <p:nvSpPr>
          <p:cNvPr id="34" name="직사각형 124"/>
          <p:cNvSpPr>
            <a:spLocks noChangeArrowheads="1"/>
          </p:cNvSpPr>
          <p:nvPr/>
        </p:nvSpPr>
        <p:spPr bwMode="auto">
          <a:xfrm>
            <a:off x="443421" y="4239630"/>
            <a:ext cx="5591356" cy="156314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35" name="타원 34"/>
          <p:cNvSpPr/>
          <p:nvPr/>
        </p:nvSpPr>
        <p:spPr>
          <a:xfrm>
            <a:off x="304515" y="416762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graphicFrame>
        <p:nvGraphicFramePr>
          <p:cNvPr id="37" name="표 36"/>
          <p:cNvGraphicFramePr>
            <a:graphicFrameLocks noGrp="1"/>
          </p:cNvGraphicFramePr>
          <p:nvPr/>
        </p:nvGraphicFramePr>
        <p:xfrm>
          <a:off x="1171901" y="2645905"/>
          <a:ext cx="4213158" cy="1257300"/>
        </p:xfrm>
        <a:graphic>
          <a:graphicData uri="http://schemas.openxmlformats.org/drawingml/2006/table">
            <a:tbl>
              <a:tblPr/>
              <a:tblGrid>
                <a:gridCol w="697726"/>
                <a:gridCol w="731467"/>
                <a:gridCol w="659360"/>
                <a:gridCol w="586097"/>
                <a:gridCol w="512836"/>
                <a:gridCol w="449593"/>
                <a:gridCol w="576079"/>
              </a:tblGrid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국가코드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국가명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기준연도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적용연도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세율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변경자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변경일자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KOR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대한민국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2012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2013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22%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ALB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알바니아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2013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10%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ANG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앙골라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2013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35%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ARH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아르헨티나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2013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35%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Che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체코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2013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19%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8" name="표 37"/>
          <p:cNvGraphicFramePr>
            <a:graphicFrameLocks noGrp="1"/>
          </p:cNvGraphicFramePr>
          <p:nvPr/>
        </p:nvGraphicFramePr>
        <p:xfrm>
          <a:off x="1700160" y="4599425"/>
          <a:ext cx="3276600" cy="1047750"/>
        </p:xfrm>
        <a:graphic>
          <a:graphicData uri="http://schemas.openxmlformats.org/drawingml/2006/table">
            <a:tbl>
              <a:tblPr/>
              <a:tblGrid>
                <a:gridCol w="685800"/>
                <a:gridCol w="1219200"/>
                <a:gridCol w="685800"/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국가코드 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국가명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기준연도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CRP 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대한민국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2012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1.05%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체코 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2012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1.28%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3" name="TextBox 36"/>
          <p:cNvSpPr txBox="1">
            <a:spLocks noChangeArrowheads="1"/>
          </p:cNvSpPr>
          <p:nvPr/>
        </p:nvSpPr>
        <p:spPr bwMode="auto">
          <a:xfrm>
            <a:off x="1052885" y="2481026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2)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44" name="직사각형 43"/>
          <p:cNvSpPr/>
          <p:nvPr/>
        </p:nvSpPr>
        <p:spPr bwMode="auto">
          <a:xfrm>
            <a:off x="1133431" y="2599645"/>
            <a:ext cx="3168000" cy="288000"/>
          </a:xfrm>
          <a:prstGeom prst="rect">
            <a:avLst/>
          </a:prstGeom>
          <a:noFill/>
          <a:ln w="15875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45" name="TextBox 44"/>
          <p:cNvSpPr txBox="1">
            <a:spLocks noChangeArrowheads="1"/>
          </p:cNvSpPr>
          <p:nvPr/>
        </p:nvSpPr>
        <p:spPr bwMode="auto">
          <a:xfrm>
            <a:off x="1552919" y="4434580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2)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46" name="직사각형 45"/>
          <p:cNvSpPr/>
          <p:nvPr/>
        </p:nvSpPr>
        <p:spPr bwMode="auto">
          <a:xfrm>
            <a:off x="1662875" y="4567065"/>
            <a:ext cx="3348000" cy="288000"/>
          </a:xfrm>
          <a:prstGeom prst="rect">
            <a:avLst/>
          </a:prstGeom>
          <a:noFill/>
          <a:ln w="15875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2" name="직사각형 51"/>
          <p:cNvSpPr/>
          <p:nvPr/>
        </p:nvSpPr>
        <p:spPr bwMode="auto">
          <a:xfrm>
            <a:off x="3225642" y="1564194"/>
            <a:ext cx="503188" cy="21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prstClr val="black"/>
              </a:solidFill>
            </a:endParaRPr>
          </a:p>
        </p:txBody>
      </p:sp>
      <p:sp>
        <p:nvSpPr>
          <p:cNvPr id="53" name="TextBox 36"/>
          <p:cNvSpPr txBox="1">
            <a:spLocks noChangeArrowheads="1"/>
          </p:cNvSpPr>
          <p:nvPr/>
        </p:nvSpPr>
        <p:spPr bwMode="auto">
          <a:xfrm>
            <a:off x="2612770" y="1564194"/>
            <a:ext cx="684000" cy="2342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en-US" altLang="ko-KR" sz="105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OEM </a:t>
            </a:r>
            <a:endParaRPr lang="ko-KR" altLang="en-US" sz="105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54" name="타원 53"/>
          <p:cNvSpPr/>
          <p:nvPr/>
        </p:nvSpPr>
        <p:spPr>
          <a:xfrm>
            <a:off x="272350" y="1321387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55" name="실행 단추: 앞으로 또는 다음 54">
            <a:hlinkClick r:id="" action="ppaction://hlinkshowjump?jump=nextslide" highlightClick="1"/>
          </p:cNvPr>
          <p:cNvSpPr/>
          <p:nvPr/>
        </p:nvSpPr>
        <p:spPr bwMode="auto">
          <a:xfrm rot="5400000">
            <a:off x="2185286" y="1625359"/>
            <a:ext cx="127186" cy="1339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56" name="실행 단추: 앞으로 또는 다음 55">
            <a:hlinkClick r:id="" action="ppaction://hlinkshowjump?jump=nextslide" highlightClick="1"/>
          </p:cNvPr>
          <p:cNvSpPr/>
          <p:nvPr/>
        </p:nvSpPr>
        <p:spPr bwMode="auto">
          <a:xfrm rot="5400000">
            <a:off x="3565051" y="1613784"/>
            <a:ext cx="127186" cy="1339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pic>
        <p:nvPicPr>
          <p:cNvPr id="57" name="Picture 3"/>
          <p:cNvPicPr>
            <a:picLocks noChangeAspect="1" noChangeArrowheads="1"/>
          </p:cNvPicPr>
          <p:nvPr/>
        </p:nvPicPr>
        <p:blipFill>
          <a:blip r:embed="rId2" cstate="print"/>
          <a:srcRect l="66449" t="39690" r="31626" b="58009"/>
          <a:stretch>
            <a:fillRect/>
          </a:stretch>
        </p:blipFill>
        <p:spPr bwMode="auto">
          <a:xfrm>
            <a:off x="655550" y="2564880"/>
            <a:ext cx="391675" cy="269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8" name="직사각형 57"/>
          <p:cNvSpPr/>
          <p:nvPr/>
        </p:nvSpPr>
        <p:spPr bwMode="auto">
          <a:xfrm>
            <a:off x="654256" y="2608543"/>
            <a:ext cx="360000" cy="180000"/>
          </a:xfrm>
          <a:prstGeom prst="rect">
            <a:avLst/>
          </a:prstGeom>
          <a:noFill/>
          <a:ln w="15875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9" name="TextBox 58"/>
          <p:cNvSpPr txBox="1">
            <a:spLocks noChangeArrowheads="1"/>
          </p:cNvSpPr>
          <p:nvPr/>
        </p:nvSpPr>
        <p:spPr bwMode="auto">
          <a:xfrm>
            <a:off x="539800" y="2589889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1)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pic>
        <p:nvPicPr>
          <p:cNvPr id="60" name="Picture 3"/>
          <p:cNvPicPr>
            <a:picLocks noChangeAspect="1" noChangeArrowheads="1"/>
          </p:cNvPicPr>
          <p:nvPr/>
        </p:nvPicPr>
        <p:blipFill>
          <a:blip r:embed="rId2" cstate="print"/>
          <a:srcRect l="66449" t="39690" r="31626" b="58009"/>
          <a:stretch>
            <a:fillRect/>
          </a:stretch>
        </p:blipFill>
        <p:spPr bwMode="auto">
          <a:xfrm>
            <a:off x="632400" y="4384090"/>
            <a:ext cx="391675" cy="269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" name="직사각형 60"/>
          <p:cNvSpPr/>
          <p:nvPr/>
        </p:nvSpPr>
        <p:spPr bwMode="auto">
          <a:xfrm>
            <a:off x="631106" y="4427753"/>
            <a:ext cx="360000" cy="180000"/>
          </a:xfrm>
          <a:prstGeom prst="rect">
            <a:avLst/>
          </a:prstGeom>
          <a:noFill/>
          <a:ln w="15875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62" name="TextBox 61"/>
          <p:cNvSpPr txBox="1">
            <a:spLocks noChangeArrowheads="1"/>
          </p:cNvSpPr>
          <p:nvPr/>
        </p:nvSpPr>
        <p:spPr bwMode="auto">
          <a:xfrm>
            <a:off x="516650" y="4409099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1)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63" name="AutoShape 279"/>
          <p:cNvSpPr>
            <a:spLocks noChangeArrowheads="1"/>
          </p:cNvSpPr>
          <p:nvPr/>
        </p:nvSpPr>
        <p:spPr bwMode="auto">
          <a:xfrm>
            <a:off x="5452510" y="2564900"/>
            <a:ext cx="252000" cy="14400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smtClean="0">
                <a:solidFill>
                  <a:schemeClr val="bg1"/>
                </a:solidFill>
                <a:latin typeface="가는각진제목체" pitchFamily="18" charset="-127"/>
                <a:ea typeface="가는각진제목체" pitchFamily="18" charset="-127"/>
              </a:rPr>
              <a:t>저장</a:t>
            </a:r>
            <a:endParaRPr kumimoji="0" lang="ko-KR" altLang="en-US" sz="800" b="1" dirty="0">
              <a:solidFill>
                <a:schemeClr val="bg1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47" name="직사각형 46"/>
          <p:cNvSpPr/>
          <p:nvPr/>
        </p:nvSpPr>
        <p:spPr bwMode="auto">
          <a:xfrm>
            <a:off x="4376920" y="2599605"/>
            <a:ext cx="1044000" cy="288000"/>
          </a:xfrm>
          <a:prstGeom prst="rect">
            <a:avLst/>
          </a:prstGeom>
          <a:noFill/>
          <a:ln w="15875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48" name="TextBox 36"/>
          <p:cNvSpPr txBox="1">
            <a:spLocks noChangeArrowheads="1"/>
          </p:cNvSpPr>
          <p:nvPr/>
        </p:nvSpPr>
        <p:spPr bwMode="auto">
          <a:xfrm>
            <a:off x="4328060" y="2455585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3)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49" name="AutoShape 279"/>
          <p:cNvSpPr>
            <a:spLocks noChangeArrowheads="1"/>
          </p:cNvSpPr>
          <p:nvPr/>
        </p:nvSpPr>
        <p:spPr bwMode="auto">
          <a:xfrm>
            <a:off x="5758000" y="2564900"/>
            <a:ext cx="252000" cy="14400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smtClean="0">
                <a:solidFill>
                  <a:schemeClr val="bg1"/>
                </a:solidFill>
                <a:latin typeface="가는각진제목체" pitchFamily="18" charset="-127"/>
                <a:ea typeface="가는각진제목체" pitchFamily="18" charset="-127"/>
              </a:rPr>
              <a:t>엑셀</a:t>
            </a:r>
            <a:endParaRPr kumimoji="0" lang="ko-KR" altLang="en-US" sz="800" b="1" dirty="0">
              <a:solidFill>
                <a:schemeClr val="bg1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50" name="TextBox 36"/>
          <p:cNvSpPr txBox="1">
            <a:spLocks noChangeArrowheads="1"/>
          </p:cNvSpPr>
          <p:nvPr/>
        </p:nvSpPr>
        <p:spPr bwMode="auto">
          <a:xfrm>
            <a:off x="5718739" y="2379387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4)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51" name="AutoShape 279"/>
          <p:cNvSpPr>
            <a:spLocks noChangeArrowheads="1"/>
          </p:cNvSpPr>
          <p:nvPr/>
        </p:nvSpPr>
        <p:spPr bwMode="auto">
          <a:xfrm>
            <a:off x="5468645" y="4406623"/>
            <a:ext cx="252000" cy="14400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smtClean="0">
                <a:solidFill>
                  <a:schemeClr val="bg1"/>
                </a:solidFill>
                <a:latin typeface="가는각진제목체" pitchFamily="18" charset="-127"/>
                <a:ea typeface="가는각진제목체" pitchFamily="18" charset="-127"/>
              </a:rPr>
              <a:t>저장</a:t>
            </a:r>
            <a:endParaRPr kumimoji="0" lang="ko-KR" altLang="en-US" sz="800" b="1" dirty="0">
              <a:solidFill>
                <a:schemeClr val="bg1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67" name="AutoShape 279"/>
          <p:cNvSpPr>
            <a:spLocks noChangeArrowheads="1"/>
          </p:cNvSpPr>
          <p:nvPr/>
        </p:nvSpPr>
        <p:spPr bwMode="auto">
          <a:xfrm>
            <a:off x="5774135" y="4406623"/>
            <a:ext cx="252000" cy="14400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smtClean="0">
                <a:solidFill>
                  <a:schemeClr val="bg1"/>
                </a:solidFill>
                <a:latin typeface="가는각진제목체" pitchFamily="18" charset="-127"/>
                <a:ea typeface="가는각진제목체" pitchFamily="18" charset="-127"/>
              </a:rPr>
              <a:t>엑셀</a:t>
            </a:r>
            <a:endParaRPr kumimoji="0" lang="ko-KR" altLang="en-US" sz="800" b="1" dirty="0">
              <a:solidFill>
                <a:schemeClr val="bg1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68" name="TextBox 36"/>
          <p:cNvSpPr txBox="1">
            <a:spLocks noChangeArrowheads="1"/>
          </p:cNvSpPr>
          <p:nvPr/>
        </p:nvSpPr>
        <p:spPr bwMode="auto">
          <a:xfrm>
            <a:off x="5734874" y="4221110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3)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roup 82"/>
          <p:cNvGraphicFramePr>
            <a:graphicFrameLocks noGrp="1"/>
          </p:cNvGraphicFramePr>
          <p:nvPr/>
        </p:nvGraphicFramePr>
        <p:xfrm>
          <a:off x="6149460" y="1038815"/>
          <a:ext cx="3528000" cy="2418941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가는각진제목체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수익성분석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기초정보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정의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1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OEM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명으로 검색 가능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(combo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형태로 검색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OEM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명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display)</a:t>
                      </a: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4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1)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행추가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및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행삭제로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데이터 추가 및 삭제 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2)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화면 입력 항목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OEM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코드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OEM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가산율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3)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변경자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변경일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데이터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저장시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자동 저장 및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4) Display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된 칼럼 순서대로 엑셀 다운로드 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5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화면입력 항목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지분구성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가산율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외에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번 내용과 같음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6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저장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3662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이전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5" name="AutoShape 279"/>
          <p:cNvSpPr>
            <a:spLocks noChangeArrowheads="1"/>
          </p:cNvSpPr>
          <p:nvPr/>
        </p:nvSpPr>
        <p:spPr bwMode="auto">
          <a:xfrm>
            <a:off x="472454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저장</a:t>
            </a:r>
          </a:p>
        </p:txBody>
      </p:sp>
      <p:sp>
        <p:nvSpPr>
          <p:cNvPr id="16" name="AutoShape 279"/>
          <p:cNvSpPr>
            <a:spLocks noChangeArrowheads="1"/>
          </p:cNvSpPr>
          <p:nvPr/>
        </p:nvSpPr>
        <p:spPr bwMode="auto">
          <a:xfrm>
            <a:off x="4270988" y="853662"/>
            <a:ext cx="360363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조회</a:t>
            </a: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엑셀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smtClean="0">
                <a:solidFill>
                  <a:sysClr val="windowText" lastClr="000000"/>
                </a:solidFill>
                <a:latin typeface="+mn-ea"/>
                <a:ea typeface="+mn-ea"/>
              </a:rPr>
              <a:t>원가관리</a:t>
            </a:r>
            <a:endParaRPr lang="ko-KR" altLang="en-US" sz="1050" kern="0" dirty="0" smtClea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23" name="직사각형 22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견적기준가 산출 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02</a:t>
            </a:r>
            <a:endParaRPr lang="ko-KR" altLang="en-US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4" name="직사각형 23"/>
          <p:cNvSpPr/>
          <p:nvPr/>
        </p:nvSpPr>
        <p:spPr bwMode="auto">
          <a:xfrm>
            <a:off x="3584810" y="276870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견적기준가 산출</a:t>
            </a:r>
          </a:p>
        </p:txBody>
      </p:sp>
      <p:sp>
        <p:nvSpPr>
          <p:cNvPr id="25" name="직사각형 24"/>
          <p:cNvSpPr/>
          <p:nvPr/>
        </p:nvSpPr>
        <p:spPr bwMode="auto">
          <a:xfrm>
            <a:off x="3588275" y="545165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36000" tIns="36000" rIns="36000" bIns="3600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수익성분석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기초정보</a:t>
            </a:r>
          </a:p>
        </p:txBody>
      </p:sp>
      <p:sp>
        <p:nvSpPr>
          <p:cNvPr id="26" name="직사각형 25"/>
          <p:cNvSpPr/>
          <p:nvPr/>
        </p:nvSpPr>
        <p:spPr bwMode="auto">
          <a:xfrm>
            <a:off x="7287765" y="28799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  </a:t>
            </a:r>
          </a:p>
        </p:txBody>
      </p:sp>
      <p:sp>
        <p:nvSpPr>
          <p:cNvPr id="27" name="직사각형 26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2013.05.15 /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정승필</a:t>
            </a:r>
          </a:p>
        </p:txBody>
      </p:sp>
      <p:graphicFrame>
        <p:nvGraphicFramePr>
          <p:cNvPr id="28" name="표 27"/>
          <p:cNvGraphicFramePr>
            <a:graphicFrameLocks noGrp="1"/>
          </p:cNvGraphicFramePr>
          <p:nvPr/>
        </p:nvGraphicFramePr>
        <p:xfrm>
          <a:off x="406925" y="1556748"/>
          <a:ext cx="728662" cy="25146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728662"/>
              </a:tblGrid>
              <a:tr h="2160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kern="1200" dirty="0" smtClean="0">
                          <a:solidFill>
                            <a:schemeClr val="bg1"/>
                          </a:solidFill>
                          <a:latin typeface="Arial"/>
                          <a:ea typeface="가는각진제목체"/>
                          <a:cs typeface="+mn-cs"/>
                          <a:sym typeface="Arial"/>
                        </a:rPr>
                        <a:t>검색조건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9" name="직사각형 28"/>
          <p:cNvSpPr/>
          <p:nvPr/>
        </p:nvSpPr>
        <p:spPr>
          <a:xfrm>
            <a:off x="344690" y="1484740"/>
            <a:ext cx="3672180" cy="360040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32" name="직사각형 31"/>
          <p:cNvSpPr/>
          <p:nvPr/>
        </p:nvSpPr>
        <p:spPr bwMode="auto">
          <a:xfrm>
            <a:off x="1857452" y="1569324"/>
            <a:ext cx="503188" cy="21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prstClr val="black"/>
              </a:solidFill>
            </a:endParaRPr>
          </a:p>
        </p:txBody>
      </p:sp>
      <p:sp>
        <p:nvSpPr>
          <p:cNvPr id="33" name="TextBox 36"/>
          <p:cNvSpPr txBox="1">
            <a:spLocks noChangeArrowheads="1"/>
          </p:cNvSpPr>
          <p:nvPr/>
        </p:nvSpPr>
        <p:spPr bwMode="auto">
          <a:xfrm>
            <a:off x="1316920" y="1569324"/>
            <a:ext cx="684000" cy="2342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5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국가</a:t>
            </a:r>
          </a:p>
        </p:txBody>
      </p:sp>
      <p:sp>
        <p:nvSpPr>
          <p:cNvPr id="52" name="직사각형 51"/>
          <p:cNvSpPr/>
          <p:nvPr/>
        </p:nvSpPr>
        <p:spPr bwMode="auto">
          <a:xfrm>
            <a:off x="3225642" y="1564194"/>
            <a:ext cx="503188" cy="21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prstClr val="black"/>
              </a:solidFill>
            </a:endParaRPr>
          </a:p>
        </p:txBody>
      </p:sp>
      <p:sp>
        <p:nvSpPr>
          <p:cNvPr id="53" name="TextBox 36"/>
          <p:cNvSpPr txBox="1">
            <a:spLocks noChangeArrowheads="1"/>
          </p:cNvSpPr>
          <p:nvPr/>
        </p:nvSpPr>
        <p:spPr bwMode="auto">
          <a:xfrm>
            <a:off x="2612770" y="1564194"/>
            <a:ext cx="684000" cy="2342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en-US" altLang="ko-KR" sz="105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OEM </a:t>
            </a:r>
            <a:endParaRPr lang="ko-KR" altLang="en-US" sz="105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54" name="타원 53"/>
          <p:cNvSpPr/>
          <p:nvPr/>
        </p:nvSpPr>
        <p:spPr>
          <a:xfrm>
            <a:off x="272350" y="1321387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55" name="실행 단추: 앞으로 또는 다음 54">
            <a:hlinkClick r:id="" action="ppaction://hlinkshowjump?jump=nextslide" highlightClick="1"/>
          </p:cNvPr>
          <p:cNvSpPr/>
          <p:nvPr/>
        </p:nvSpPr>
        <p:spPr bwMode="auto">
          <a:xfrm rot="5400000">
            <a:off x="2185286" y="1625359"/>
            <a:ext cx="127186" cy="1339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56" name="실행 단추: 앞으로 또는 다음 55">
            <a:hlinkClick r:id="" action="ppaction://hlinkshowjump?jump=nextslide" highlightClick="1"/>
          </p:cNvPr>
          <p:cNvSpPr/>
          <p:nvPr/>
        </p:nvSpPr>
        <p:spPr bwMode="auto">
          <a:xfrm rot="5400000">
            <a:off x="3565051" y="1613784"/>
            <a:ext cx="127186" cy="1339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47" name="직사각형 124"/>
          <p:cNvSpPr>
            <a:spLocks noChangeArrowheads="1"/>
          </p:cNvSpPr>
          <p:nvPr/>
        </p:nvSpPr>
        <p:spPr bwMode="auto">
          <a:xfrm>
            <a:off x="246640" y="4534860"/>
            <a:ext cx="5842625" cy="180025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</p:txBody>
      </p:sp>
      <p:sp>
        <p:nvSpPr>
          <p:cNvPr id="48" name="한쪽 모서리가 잘린 사각형 47"/>
          <p:cNvSpPr/>
          <p:nvPr/>
        </p:nvSpPr>
        <p:spPr bwMode="auto">
          <a:xfrm>
            <a:off x="979190" y="4282190"/>
            <a:ext cx="720000" cy="252670"/>
          </a:xfrm>
          <a:prstGeom prst="snip1Rect">
            <a:avLst/>
          </a:prstGeom>
          <a:solidFill>
            <a:schemeClr val="bg1"/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ko-KR" altLang="en-US" sz="9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수주처</a:t>
            </a:r>
            <a:endParaRPr lang="ko-KR" altLang="en-US" sz="9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49" name="한쪽 모서리가 잘린 사각형 48"/>
          <p:cNvSpPr/>
          <p:nvPr/>
        </p:nvSpPr>
        <p:spPr bwMode="auto">
          <a:xfrm>
            <a:off x="246640" y="4269970"/>
            <a:ext cx="720000" cy="252670"/>
          </a:xfrm>
          <a:prstGeom prst="snip1Rect">
            <a:avLst/>
          </a:prstGeom>
          <a:solidFill>
            <a:schemeClr val="bg1"/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ko-KR" altLang="en-US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법인세율</a:t>
            </a:r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/CRP</a:t>
            </a:r>
            <a:endParaRPr lang="ko-KR" altLang="en-US" sz="9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0" name="한쪽 모서리가 잘린 사각형 49"/>
          <p:cNvSpPr/>
          <p:nvPr/>
        </p:nvSpPr>
        <p:spPr bwMode="auto">
          <a:xfrm>
            <a:off x="1714955" y="4282190"/>
            <a:ext cx="720000" cy="252670"/>
          </a:xfrm>
          <a:prstGeom prst="snip1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ko-KR" altLang="en-US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지분구성</a:t>
            </a:r>
          </a:p>
        </p:txBody>
      </p:sp>
      <p:sp>
        <p:nvSpPr>
          <p:cNvPr id="51" name="직사각형 124"/>
          <p:cNvSpPr>
            <a:spLocks noChangeArrowheads="1"/>
          </p:cNvSpPr>
          <p:nvPr/>
        </p:nvSpPr>
        <p:spPr bwMode="auto">
          <a:xfrm>
            <a:off x="246640" y="2325700"/>
            <a:ext cx="5842625" cy="180025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</p:txBody>
      </p:sp>
      <p:sp>
        <p:nvSpPr>
          <p:cNvPr id="65" name="한쪽 모서리가 잘린 사각형 64"/>
          <p:cNvSpPr/>
          <p:nvPr/>
        </p:nvSpPr>
        <p:spPr bwMode="auto">
          <a:xfrm>
            <a:off x="979190" y="2073030"/>
            <a:ext cx="720000" cy="252670"/>
          </a:xfrm>
          <a:prstGeom prst="snip1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ko-KR" altLang="en-US" sz="9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수주처</a:t>
            </a:r>
            <a:endParaRPr lang="ko-KR" altLang="en-US" sz="9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66" name="한쪽 모서리가 잘린 사각형 65"/>
          <p:cNvSpPr/>
          <p:nvPr/>
        </p:nvSpPr>
        <p:spPr bwMode="auto">
          <a:xfrm>
            <a:off x="246640" y="2060810"/>
            <a:ext cx="720000" cy="252670"/>
          </a:xfrm>
          <a:prstGeom prst="snip1Rect">
            <a:avLst/>
          </a:prstGeom>
          <a:solidFill>
            <a:schemeClr val="bg1"/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ko-KR" altLang="en-US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법인세율</a:t>
            </a:r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/CRP</a:t>
            </a:r>
            <a:endParaRPr lang="ko-KR" altLang="en-US" sz="9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67" name="한쪽 모서리가 잘린 사각형 66"/>
          <p:cNvSpPr/>
          <p:nvPr/>
        </p:nvSpPr>
        <p:spPr bwMode="auto">
          <a:xfrm>
            <a:off x="1703439" y="2073030"/>
            <a:ext cx="720000" cy="252670"/>
          </a:xfrm>
          <a:prstGeom prst="snip1Rect">
            <a:avLst/>
          </a:prstGeom>
          <a:noFill/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ko-KR" altLang="en-US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지분구성</a:t>
            </a:r>
          </a:p>
        </p:txBody>
      </p:sp>
      <p:sp>
        <p:nvSpPr>
          <p:cNvPr id="68" name="직사각형 124"/>
          <p:cNvSpPr>
            <a:spLocks noChangeArrowheads="1"/>
          </p:cNvSpPr>
          <p:nvPr/>
        </p:nvSpPr>
        <p:spPr bwMode="auto">
          <a:xfrm>
            <a:off x="427659" y="2430365"/>
            <a:ext cx="5591356" cy="156314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69" name="타원 68"/>
          <p:cNvSpPr/>
          <p:nvPr/>
        </p:nvSpPr>
        <p:spPr>
          <a:xfrm>
            <a:off x="288753" y="2358355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4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71" name="직사각형 124"/>
          <p:cNvSpPr>
            <a:spLocks noChangeArrowheads="1"/>
          </p:cNvSpPr>
          <p:nvPr/>
        </p:nvSpPr>
        <p:spPr bwMode="auto">
          <a:xfrm>
            <a:off x="415711" y="4690455"/>
            <a:ext cx="5591356" cy="156314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72" name="타원 71"/>
          <p:cNvSpPr/>
          <p:nvPr/>
        </p:nvSpPr>
        <p:spPr>
          <a:xfrm>
            <a:off x="276805" y="4618445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5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graphicFrame>
        <p:nvGraphicFramePr>
          <p:cNvPr id="74" name="표 73"/>
          <p:cNvGraphicFramePr>
            <a:graphicFrameLocks noGrp="1"/>
          </p:cNvGraphicFramePr>
          <p:nvPr/>
        </p:nvGraphicFramePr>
        <p:xfrm>
          <a:off x="1279449" y="2678795"/>
          <a:ext cx="4038772" cy="1047750"/>
        </p:xfrm>
        <a:graphic>
          <a:graphicData uri="http://schemas.openxmlformats.org/drawingml/2006/table">
            <a:tbl>
              <a:tblPr/>
              <a:tblGrid>
                <a:gridCol w="699018"/>
                <a:gridCol w="1242700"/>
                <a:gridCol w="699018"/>
                <a:gridCol w="699018"/>
                <a:gridCol w="699018"/>
              </a:tblGrid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OEM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코드 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OEM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명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가산율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변경자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변경일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HMC 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0.0%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KMC 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0.0%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BMW 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1.5%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GM 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3.0%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8" name="TextBox 36"/>
          <p:cNvSpPr txBox="1">
            <a:spLocks noChangeArrowheads="1"/>
          </p:cNvSpPr>
          <p:nvPr/>
        </p:nvSpPr>
        <p:spPr bwMode="auto">
          <a:xfrm>
            <a:off x="1162180" y="2527816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2)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79" name="직사각형 78"/>
          <p:cNvSpPr/>
          <p:nvPr/>
        </p:nvSpPr>
        <p:spPr bwMode="auto">
          <a:xfrm>
            <a:off x="1242726" y="2646435"/>
            <a:ext cx="2664000" cy="288000"/>
          </a:xfrm>
          <a:prstGeom prst="rect">
            <a:avLst/>
          </a:prstGeom>
          <a:noFill/>
          <a:ln w="15875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80" name="TextBox 36"/>
          <p:cNvSpPr txBox="1">
            <a:spLocks noChangeArrowheads="1"/>
          </p:cNvSpPr>
          <p:nvPr/>
        </p:nvSpPr>
        <p:spPr bwMode="auto">
          <a:xfrm>
            <a:off x="3929025" y="2495627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3)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81" name="직사각형 80"/>
          <p:cNvSpPr/>
          <p:nvPr/>
        </p:nvSpPr>
        <p:spPr bwMode="auto">
          <a:xfrm>
            <a:off x="3938222" y="2646435"/>
            <a:ext cx="1404000" cy="288000"/>
          </a:xfrm>
          <a:prstGeom prst="rect">
            <a:avLst/>
          </a:prstGeom>
          <a:noFill/>
          <a:ln w="15875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graphicFrame>
        <p:nvGraphicFramePr>
          <p:cNvPr id="83" name="표 82"/>
          <p:cNvGraphicFramePr>
            <a:graphicFrameLocks noGrp="1"/>
          </p:cNvGraphicFramePr>
          <p:nvPr/>
        </p:nvGraphicFramePr>
        <p:xfrm>
          <a:off x="1316350" y="5010895"/>
          <a:ext cx="3276600" cy="1047750"/>
        </p:xfrm>
        <a:graphic>
          <a:graphicData uri="http://schemas.openxmlformats.org/drawingml/2006/table">
            <a:tbl>
              <a:tblPr/>
              <a:tblGrid>
                <a:gridCol w="1219200"/>
                <a:gridCol w="685800"/>
                <a:gridCol w="685800"/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지분구성 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가산율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변경자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변경일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0%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50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초과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-100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미만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0-50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3%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6" name="Picture 3"/>
          <p:cNvPicPr>
            <a:picLocks noChangeAspect="1" noChangeArrowheads="1"/>
          </p:cNvPicPr>
          <p:nvPr/>
        </p:nvPicPr>
        <p:blipFill>
          <a:blip r:embed="rId2" cstate="print"/>
          <a:srcRect l="66449" t="39690" r="31626" b="58009"/>
          <a:stretch>
            <a:fillRect/>
          </a:stretch>
        </p:blipFill>
        <p:spPr bwMode="auto">
          <a:xfrm>
            <a:off x="701850" y="2564880"/>
            <a:ext cx="391675" cy="269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7" name="직사각형 86"/>
          <p:cNvSpPr/>
          <p:nvPr/>
        </p:nvSpPr>
        <p:spPr bwMode="auto">
          <a:xfrm>
            <a:off x="700556" y="2608543"/>
            <a:ext cx="360000" cy="180000"/>
          </a:xfrm>
          <a:prstGeom prst="rect">
            <a:avLst/>
          </a:prstGeom>
          <a:noFill/>
          <a:ln w="15875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88" name="TextBox 87"/>
          <p:cNvSpPr txBox="1">
            <a:spLocks noChangeArrowheads="1"/>
          </p:cNvSpPr>
          <p:nvPr/>
        </p:nvSpPr>
        <p:spPr bwMode="auto">
          <a:xfrm>
            <a:off x="586100" y="2589889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1)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pic>
        <p:nvPicPr>
          <p:cNvPr id="89" name="Picture 3"/>
          <p:cNvPicPr>
            <a:picLocks noChangeAspect="1" noChangeArrowheads="1"/>
          </p:cNvPicPr>
          <p:nvPr/>
        </p:nvPicPr>
        <p:blipFill>
          <a:blip r:embed="rId2" cstate="print"/>
          <a:srcRect l="66449" t="39690" r="31626" b="58009"/>
          <a:stretch>
            <a:fillRect/>
          </a:stretch>
        </p:blipFill>
        <p:spPr bwMode="auto">
          <a:xfrm>
            <a:off x="676140" y="4888160"/>
            <a:ext cx="391675" cy="269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0" name="직사각형 89"/>
          <p:cNvSpPr/>
          <p:nvPr/>
        </p:nvSpPr>
        <p:spPr bwMode="auto">
          <a:xfrm>
            <a:off x="674846" y="4931823"/>
            <a:ext cx="360000" cy="180000"/>
          </a:xfrm>
          <a:prstGeom prst="rect">
            <a:avLst/>
          </a:prstGeom>
          <a:noFill/>
          <a:ln w="15875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91" name="TextBox 90"/>
          <p:cNvSpPr txBox="1">
            <a:spLocks noChangeArrowheads="1"/>
          </p:cNvSpPr>
          <p:nvPr/>
        </p:nvSpPr>
        <p:spPr bwMode="auto">
          <a:xfrm>
            <a:off x="560390" y="4913169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1)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57" name="AutoShape 279"/>
          <p:cNvSpPr>
            <a:spLocks noChangeArrowheads="1"/>
          </p:cNvSpPr>
          <p:nvPr/>
        </p:nvSpPr>
        <p:spPr bwMode="auto">
          <a:xfrm>
            <a:off x="5385060" y="2545938"/>
            <a:ext cx="252000" cy="14400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smtClean="0">
                <a:solidFill>
                  <a:schemeClr val="bg1"/>
                </a:solidFill>
                <a:latin typeface="가는각진제목체" pitchFamily="18" charset="-127"/>
                <a:ea typeface="가는각진제목체" pitchFamily="18" charset="-127"/>
              </a:rPr>
              <a:t>저장</a:t>
            </a:r>
            <a:endParaRPr kumimoji="0" lang="ko-KR" altLang="en-US" sz="800" b="1" dirty="0">
              <a:solidFill>
                <a:schemeClr val="bg1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58" name="AutoShape 279"/>
          <p:cNvSpPr>
            <a:spLocks noChangeArrowheads="1"/>
          </p:cNvSpPr>
          <p:nvPr/>
        </p:nvSpPr>
        <p:spPr bwMode="auto">
          <a:xfrm>
            <a:off x="5690550" y="2545938"/>
            <a:ext cx="252000" cy="14400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smtClean="0">
                <a:solidFill>
                  <a:schemeClr val="bg1"/>
                </a:solidFill>
                <a:latin typeface="가는각진제목체" pitchFamily="18" charset="-127"/>
                <a:ea typeface="가는각진제목체" pitchFamily="18" charset="-127"/>
              </a:rPr>
              <a:t>엑셀</a:t>
            </a:r>
            <a:endParaRPr kumimoji="0" lang="ko-KR" altLang="en-US" sz="800" b="1" dirty="0">
              <a:solidFill>
                <a:schemeClr val="bg1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59" name="TextBox 36"/>
          <p:cNvSpPr txBox="1">
            <a:spLocks noChangeArrowheads="1"/>
          </p:cNvSpPr>
          <p:nvPr/>
        </p:nvSpPr>
        <p:spPr bwMode="auto">
          <a:xfrm>
            <a:off x="5651289" y="2360425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4)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60" name="AutoShape 279"/>
          <p:cNvSpPr>
            <a:spLocks noChangeArrowheads="1"/>
          </p:cNvSpPr>
          <p:nvPr/>
        </p:nvSpPr>
        <p:spPr bwMode="auto">
          <a:xfrm>
            <a:off x="5313050" y="4910693"/>
            <a:ext cx="252000" cy="14400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smtClean="0">
                <a:solidFill>
                  <a:schemeClr val="bg1"/>
                </a:solidFill>
                <a:latin typeface="가는각진제목체" pitchFamily="18" charset="-127"/>
                <a:ea typeface="가는각진제목체" pitchFamily="18" charset="-127"/>
              </a:rPr>
              <a:t>저장</a:t>
            </a:r>
            <a:endParaRPr kumimoji="0" lang="ko-KR" altLang="en-US" sz="800" b="1" dirty="0">
              <a:solidFill>
                <a:schemeClr val="bg1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61" name="AutoShape 279"/>
          <p:cNvSpPr>
            <a:spLocks noChangeArrowheads="1"/>
          </p:cNvSpPr>
          <p:nvPr/>
        </p:nvSpPr>
        <p:spPr bwMode="auto">
          <a:xfrm>
            <a:off x="5618540" y="4910693"/>
            <a:ext cx="252000" cy="14400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smtClean="0">
                <a:solidFill>
                  <a:schemeClr val="bg1"/>
                </a:solidFill>
                <a:latin typeface="가는각진제목체" pitchFamily="18" charset="-127"/>
                <a:ea typeface="가는각진제목체" pitchFamily="18" charset="-127"/>
              </a:rPr>
              <a:t>엑셀</a:t>
            </a:r>
            <a:endParaRPr kumimoji="0" lang="ko-KR" altLang="en-US" sz="800" b="1" dirty="0">
              <a:solidFill>
                <a:schemeClr val="bg1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63" name="타원 62"/>
          <p:cNvSpPr/>
          <p:nvPr/>
        </p:nvSpPr>
        <p:spPr>
          <a:xfrm>
            <a:off x="4795087" y="110153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6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roup 82"/>
          <p:cNvGraphicFramePr>
            <a:graphicFrameLocks noGrp="1"/>
          </p:cNvGraphicFramePr>
          <p:nvPr/>
        </p:nvGraphicFramePr>
        <p:xfrm>
          <a:off x="6149460" y="1038815"/>
          <a:ext cx="3528000" cy="2647541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가는각진제목체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WACC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산출을 위한 기초정보를 정의함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1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기준연도로 검색가능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1)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행추가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및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행삭제로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데이터 추가 및 삭제 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2)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화면 입력 항목 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입력 후 저장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기준연도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항목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내용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백분율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소수 둘째 자리까지 입력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en-US" altLang="ko-KR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Rf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: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무위험이자율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E(</a:t>
                      </a:r>
                      <a:r>
                        <a:rPr lang="en-US" altLang="ko-KR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Rm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 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시장수익률의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기대값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3) Display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된 칼럼 순서대로 엑셀 다운로드 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3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화면입력 항목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기준연도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</a:t>
                      </a:r>
                      <a:r>
                        <a:rPr lang="en-US" altLang="ko-KR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Beta</a:t>
                      </a:r>
                      <a:r>
                        <a:rPr lang="en-US" altLang="ko-KR" sz="1000" i="1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u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외에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번 내용과 같음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en-US" altLang="ko-KR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Beta</a:t>
                      </a:r>
                      <a:r>
                        <a:rPr lang="en-US" altLang="ko-KR" sz="1000" i="1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u</a:t>
                      </a:r>
                      <a:r>
                        <a:rPr lang="en-US" altLang="ko-KR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: </a:t>
                      </a:r>
                      <a:r>
                        <a:rPr lang="ko-KR" altLang="en-US" sz="1000" i="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수치 입력 </a:t>
                      </a:r>
                      <a:r>
                        <a:rPr lang="en-US" altLang="ko-KR" sz="1000" i="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(</a:t>
                      </a:r>
                      <a:r>
                        <a:rPr lang="ko-KR" altLang="en-US" sz="1000" i="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소수점 </a:t>
                      </a:r>
                      <a:r>
                        <a:rPr lang="ko-KR" altLang="en-US" sz="1000" i="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둘째자리</a:t>
                      </a:r>
                      <a:r>
                        <a:rPr lang="en-US" altLang="ko-KR" sz="1000" i="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4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저장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3662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이전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5" name="AutoShape 279"/>
          <p:cNvSpPr>
            <a:spLocks noChangeArrowheads="1"/>
          </p:cNvSpPr>
          <p:nvPr/>
        </p:nvSpPr>
        <p:spPr bwMode="auto">
          <a:xfrm>
            <a:off x="472454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저장</a:t>
            </a:r>
          </a:p>
        </p:txBody>
      </p:sp>
      <p:sp>
        <p:nvSpPr>
          <p:cNvPr id="16" name="AutoShape 279"/>
          <p:cNvSpPr>
            <a:spLocks noChangeArrowheads="1"/>
          </p:cNvSpPr>
          <p:nvPr/>
        </p:nvSpPr>
        <p:spPr bwMode="auto">
          <a:xfrm>
            <a:off x="4270988" y="853662"/>
            <a:ext cx="360363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조회</a:t>
            </a: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엑셀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smtClean="0">
                <a:solidFill>
                  <a:sysClr val="windowText" lastClr="000000"/>
                </a:solidFill>
                <a:latin typeface="+mn-ea"/>
                <a:ea typeface="+mn-ea"/>
              </a:rPr>
              <a:t>원가관리</a:t>
            </a:r>
            <a:endParaRPr lang="ko-KR" altLang="en-US" sz="1050" kern="0" dirty="0" smtClea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23" name="직사각형 22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견적기준가 산출 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03</a:t>
            </a:r>
            <a:endParaRPr lang="ko-KR" altLang="en-US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4" name="직사각형 23"/>
          <p:cNvSpPr/>
          <p:nvPr/>
        </p:nvSpPr>
        <p:spPr bwMode="auto">
          <a:xfrm>
            <a:off x="3584810" y="276870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견적기준가 산출</a:t>
            </a:r>
          </a:p>
        </p:txBody>
      </p:sp>
      <p:sp>
        <p:nvSpPr>
          <p:cNvPr id="25" name="직사각형 24"/>
          <p:cNvSpPr/>
          <p:nvPr/>
        </p:nvSpPr>
        <p:spPr bwMode="auto">
          <a:xfrm>
            <a:off x="3588275" y="545165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36000" tIns="36000" rIns="36000" bIns="36000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WACC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기초정보</a:t>
            </a:r>
          </a:p>
        </p:txBody>
      </p:sp>
      <p:sp>
        <p:nvSpPr>
          <p:cNvPr id="26" name="직사각형 25"/>
          <p:cNvSpPr/>
          <p:nvPr/>
        </p:nvSpPr>
        <p:spPr bwMode="auto">
          <a:xfrm>
            <a:off x="7287765" y="28799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  </a:t>
            </a:r>
          </a:p>
        </p:txBody>
      </p:sp>
      <p:sp>
        <p:nvSpPr>
          <p:cNvPr id="27" name="직사각형 26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2013.05.15 /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정승필</a:t>
            </a:r>
          </a:p>
        </p:txBody>
      </p:sp>
      <p:graphicFrame>
        <p:nvGraphicFramePr>
          <p:cNvPr id="47" name="표 46"/>
          <p:cNvGraphicFramePr>
            <a:graphicFrameLocks noGrp="1"/>
          </p:cNvGraphicFramePr>
          <p:nvPr/>
        </p:nvGraphicFramePr>
        <p:xfrm>
          <a:off x="550615" y="1412728"/>
          <a:ext cx="728662" cy="22860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728662"/>
              </a:tblGrid>
              <a:tr h="2160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dirty="0" smtClean="0">
                          <a:solidFill>
                            <a:schemeClr val="bg1"/>
                          </a:solidFill>
                          <a:latin typeface="Arial"/>
                          <a:ea typeface="가는각진제목체"/>
                          <a:cs typeface="+mn-cs"/>
                          <a:sym typeface="Arial"/>
                        </a:rPr>
                        <a:t>검색조건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8" name="직사각형 47"/>
          <p:cNvSpPr/>
          <p:nvPr/>
        </p:nvSpPr>
        <p:spPr>
          <a:xfrm>
            <a:off x="488380" y="1340720"/>
            <a:ext cx="2376000" cy="360040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9" name="타원 48"/>
          <p:cNvSpPr/>
          <p:nvPr/>
        </p:nvSpPr>
        <p:spPr>
          <a:xfrm>
            <a:off x="272350" y="119669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50" name="직사각형 124"/>
          <p:cNvSpPr>
            <a:spLocks noChangeArrowheads="1"/>
          </p:cNvSpPr>
          <p:nvPr/>
        </p:nvSpPr>
        <p:spPr bwMode="auto">
          <a:xfrm>
            <a:off x="374345" y="1844780"/>
            <a:ext cx="5591356" cy="156314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235439" y="177277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68" name="직사각형 67"/>
          <p:cNvSpPr/>
          <p:nvPr/>
        </p:nvSpPr>
        <p:spPr bwMode="auto">
          <a:xfrm>
            <a:off x="2217502" y="1425304"/>
            <a:ext cx="503188" cy="21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prstClr val="black"/>
              </a:solidFill>
            </a:endParaRPr>
          </a:p>
        </p:txBody>
      </p:sp>
      <p:sp>
        <p:nvSpPr>
          <p:cNvPr id="69" name="TextBox 36"/>
          <p:cNvSpPr txBox="1">
            <a:spLocks noChangeArrowheads="1"/>
          </p:cNvSpPr>
          <p:nvPr/>
        </p:nvSpPr>
        <p:spPr bwMode="auto">
          <a:xfrm>
            <a:off x="1460610" y="1425304"/>
            <a:ext cx="684000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9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기준연도</a:t>
            </a:r>
          </a:p>
        </p:txBody>
      </p:sp>
      <p:sp>
        <p:nvSpPr>
          <p:cNvPr id="70" name="직사각형 124"/>
          <p:cNvSpPr>
            <a:spLocks noChangeArrowheads="1"/>
          </p:cNvSpPr>
          <p:nvPr/>
        </p:nvSpPr>
        <p:spPr bwMode="auto">
          <a:xfrm>
            <a:off x="362397" y="3501010"/>
            <a:ext cx="5591356" cy="156314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71" name="타원 70"/>
          <p:cNvSpPr/>
          <p:nvPr/>
        </p:nvSpPr>
        <p:spPr>
          <a:xfrm>
            <a:off x="223491" y="342900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graphicFrame>
        <p:nvGraphicFramePr>
          <p:cNvPr id="73" name="표 72"/>
          <p:cNvGraphicFramePr>
            <a:graphicFrameLocks noGrp="1"/>
          </p:cNvGraphicFramePr>
          <p:nvPr/>
        </p:nvGraphicFramePr>
        <p:xfrm>
          <a:off x="1533806" y="2181680"/>
          <a:ext cx="2590800" cy="628650"/>
        </p:xfrm>
        <a:graphic>
          <a:graphicData uri="http://schemas.openxmlformats.org/drawingml/2006/table">
            <a:tbl>
              <a:tblPr/>
              <a:tblGrid>
                <a:gridCol w="1219200"/>
                <a:gridCol w="685800"/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기준연도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항목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내용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2013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Rf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3.12%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2013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E(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Rm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10.63%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8" name="TextBox 36"/>
          <p:cNvSpPr txBox="1">
            <a:spLocks noChangeArrowheads="1"/>
          </p:cNvSpPr>
          <p:nvPr/>
        </p:nvSpPr>
        <p:spPr bwMode="auto">
          <a:xfrm>
            <a:off x="1409715" y="2000375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2)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79" name="직사각형 78"/>
          <p:cNvSpPr/>
          <p:nvPr/>
        </p:nvSpPr>
        <p:spPr bwMode="auto">
          <a:xfrm>
            <a:off x="1520041" y="2144435"/>
            <a:ext cx="2616140" cy="288000"/>
          </a:xfrm>
          <a:prstGeom prst="rect">
            <a:avLst/>
          </a:prstGeom>
          <a:noFill/>
          <a:ln w="15875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pic>
        <p:nvPicPr>
          <p:cNvPr id="81" name="Picture 3"/>
          <p:cNvPicPr>
            <a:picLocks noChangeAspect="1" noChangeArrowheads="1"/>
          </p:cNvPicPr>
          <p:nvPr/>
        </p:nvPicPr>
        <p:blipFill>
          <a:blip r:embed="rId2" cstate="print"/>
          <a:srcRect l="66449" t="39690" r="31626" b="58009"/>
          <a:stretch>
            <a:fillRect/>
          </a:stretch>
        </p:blipFill>
        <p:spPr bwMode="auto">
          <a:xfrm>
            <a:off x="701850" y="1965650"/>
            <a:ext cx="391675" cy="269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" name="직사각형 81"/>
          <p:cNvSpPr/>
          <p:nvPr/>
        </p:nvSpPr>
        <p:spPr bwMode="auto">
          <a:xfrm>
            <a:off x="700556" y="2009313"/>
            <a:ext cx="360000" cy="180000"/>
          </a:xfrm>
          <a:prstGeom prst="rect">
            <a:avLst/>
          </a:prstGeom>
          <a:noFill/>
          <a:ln w="15875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83" name="TextBox 82"/>
          <p:cNvSpPr txBox="1">
            <a:spLocks noChangeArrowheads="1"/>
          </p:cNvSpPr>
          <p:nvPr/>
        </p:nvSpPr>
        <p:spPr bwMode="auto">
          <a:xfrm>
            <a:off x="586100" y="1990659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1)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graphicFrame>
        <p:nvGraphicFramePr>
          <p:cNvPr id="84" name="표 83"/>
          <p:cNvGraphicFramePr>
            <a:graphicFrameLocks noGrp="1"/>
          </p:cNvGraphicFramePr>
          <p:nvPr/>
        </p:nvGraphicFramePr>
        <p:xfrm>
          <a:off x="1640539" y="3933460"/>
          <a:ext cx="2990811" cy="569970"/>
        </p:xfrm>
        <a:graphic>
          <a:graphicData uri="http://schemas.openxmlformats.org/drawingml/2006/table">
            <a:tbl>
              <a:tblPr/>
              <a:tblGrid>
                <a:gridCol w="996937"/>
                <a:gridCol w="996937"/>
                <a:gridCol w="996937"/>
              </a:tblGrid>
              <a:tr h="2156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기준연도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사업부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Betau</a:t>
                      </a: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2013</a:t>
                      </a:r>
                    </a:p>
                  </a:txBody>
                  <a:tcPr marL="9525" marR="720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PT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9525" marR="720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0.59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9525" marR="720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2013</a:t>
                      </a:r>
                    </a:p>
                  </a:txBody>
                  <a:tcPr marL="9525" marR="720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Seat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9525" marR="720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0.57</a:t>
                      </a:r>
                    </a:p>
                  </a:txBody>
                  <a:tcPr marL="9525" marR="720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5" name="Picture 3"/>
          <p:cNvPicPr>
            <a:picLocks noChangeAspect="1" noChangeArrowheads="1"/>
          </p:cNvPicPr>
          <p:nvPr/>
        </p:nvPicPr>
        <p:blipFill>
          <a:blip r:embed="rId2" cstate="print"/>
          <a:srcRect l="66449" t="39690" r="31626" b="58009"/>
          <a:stretch>
            <a:fillRect/>
          </a:stretch>
        </p:blipFill>
        <p:spPr bwMode="auto">
          <a:xfrm>
            <a:off x="615705" y="3701275"/>
            <a:ext cx="391675" cy="269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6" name="직사각형 85"/>
          <p:cNvSpPr/>
          <p:nvPr/>
        </p:nvSpPr>
        <p:spPr bwMode="auto">
          <a:xfrm>
            <a:off x="614411" y="3744938"/>
            <a:ext cx="360000" cy="180000"/>
          </a:xfrm>
          <a:prstGeom prst="rect">
            <a:avLst/>
          </a:prstGeom>
          <a:noFill/>
          <a:ln w="15875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88" name="AutoShape 279"/>
          <p:cNvSpPr>
            <a:spLocks noChangeArrowheads="1"/>
          </p:cNvSpPr>
          <p:nvPr/>
        </p:nvSpPr>
        <p:spPr bwMode="auto">
          <a:xfrm>
            <a:off x="5473141" y="2026215"/>
            <a:ext cx="358775" cy="21590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b="1" dirty="0" smtClean="0">
                <a:solidFill>
                  <a:schemeClr val="bg1"/>
                </a:solidFill>
                <a:latin typeface="가는각진제목체" pitchFamily="18" charset="-127"/>
                <a:ea typeface="가는각진제목체" pitchFamily="18" charset="-127"/>
              </a:rPr>
              <a:t>엑셀</a:t>
            </a:r>
            <a:endParaRPr kumimoji="0" lang="ko-KR" altLang="en-US" sz="900" b="1" dirty="0">
              <a:solidFill>
                <a:schemeClr val="bg1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89" name="TextBox 36"/>
          <p:cNvSpPr txBox="1">
            <a:spLocks noChangeArrowheads="1"/>
          </p:cNvSpPr>
          <p:nvPr/>
        </p:nvSpPr>
        <p:spPr bwMode="auto">
          <a:xfrm>
            <a:off x="5385060" y="1916790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3)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90" name="AutoShape 279"/>
          <p:cNvSpPr>
            <a:spLocks noChangeArrowheads="1"/>
          </p:cNvSpPr>
          <p:nvPr/>
        </p:nvSpPr>
        <p:spPr bwMode="auto">
          <a:xfrm>
            <a:off x="5458345" y="3717170"/>
            <a:ext cx="358775" cy="21590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b="1" dirty="0" smtClean="0">
                <a:solidFill>
                  <a:schemeClr val="bg1"/>
                </a:solidFill>
                <a:latin typeface="가는각진제목체" pitchFamily="18" charset="-127"/>
                <a:ea typeface="가는각진제목체" pitchFamily="18" charset="-127"/>
              </a:rPr>
              <a:t>엑셀</a:t>
            </a:r>
            <a:endParaRPr kumimoji="0" lang="ko-KR" altLang="en-US" sz="900" b="1" dirty="0">
              <a:solidFill>
                <a:schemeClr val="bg1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35" name="AutoShape 279"/>
          <p:cNvSpPr>
            <a:spLocks noChangeArrowheads="1"/>
          </p:cNvSpPr>
          <p:nvPr/>
        </p:nvSpPr>
        <p:spPr bwMode="auto">
          <a:xfrm>
            <a:off x="5025010" y="2026085"/>
            <a:ext cx="358775" cy="21590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b="1" dirty="0" smtClean="0">
                <a:solidFill>
                  <a:schemeClr val="bg1"/>
                </a:solidFill>
                <a:latin typeface="가는각진제목체" pitchFamily="18" charset="-127"/>
                <a:ea typeface="가는각진제목체" pitchFamily="18" charset="-127"/>
              </a:rPr>
              <a:t>저장</a:t>
            </a:r>
            <a:endParaRPr kumimoji="0" lang="ko-KR" altLang="en-US" sz="900" b="1" dirty="0">
              <a:solidFill>
                <a:schemeClr val="bg1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36" name="AutoShape 279"/>
          <p:cNvSpPr>
            <a:spLocks noChangeArrowheads="1"/>
          </p:cNvSpPr>
          <p:nvPr/>
        </p:nvSpPr>
        <p:spPr bwMode="auto">
          <a:xfrm>
            <a:off x="5025010" y="3702905"/>
            <a:ext cx="358775" cy="21590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b="1" dirty="0" smtClean="0">
                <a:solidFill>
                  <a:schemeClr val="bg1"/>
                </a:solidFill>
                <a:latin typeface="가는각진제목체" pitchFamily="18" charset="-127"/>
                <a:ea typeface="가는각진제목체" pitchFamily="18" charset="-127"/>
              </a:rPr>
              <a:t>저장</a:t>
            </a:r>
            <a:endParaRPr kumimoji="0" lang="ko-KR" altLang="en-US" sz="900" b="1" dirty="0">
              <a:solidFill>
                <a:schemeClr val="bg1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37" name="타원 36"/>
          <p:cNvSpPr/>
          <p:nvPr/>
        </p:nvSpPr>
        <p:spPr>
          <a:xfrm>
            <a:off x="4797405" y="1105357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4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roup 82"/>
          <p:cNvGraphicFramePr>
            <a:graphicFrameLocks noGrp="1"/>
          </p:cNvGraphicFramePr>
          <p:nvPr/>
        </p:nvGraphicFramePr>
        <p:xfrm>
          <a:off x="6149460" y="1038815"/>
          <a:ext cx="3528000" cy="157998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NPV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산출을 위한 과정 및 산출결과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프로젝트명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견적차수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민감도코드로 검색해서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NPV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를 산출대상 선택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손익계산서 끌어옴 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견적원가 산출 화면에서 끌어옴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&lt;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손익계산서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&gt;</a:t>
                      </a:r>
                    </a:p>
                    <a:p>
                      <a:pPr marL="92075" indent="-92075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1)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선택한 프로젝트의 손익계산서를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Display</a:t>
                      </a:r>
                    </a:p>
                    <a:p>
                      <a:pPr marL="92075" indent="-92075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2)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저장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3662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이전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5" name="AutoShape 279"/>
          <p:cNvSpPr>
            <a:spLocks noChangeArrowheads="1"/>
          </p:cNvSpPr>
          <p:nvPr/>
        </p:nvSpPr>
        <p:spPr bwMode="auto">
          <a:xfrm>
            <a:off x="472454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저장</a:t>
            </a:r>
          </a:p>
        </p:txBody>
      </p:sp>
      <p:sp>
        <p:nvSpPr>
          <p:cNvPr id="16" name="AutoShape 279"/>
          <p:cNvSpPr>
            <a:spLocks noChangeArrowheads="1"/>
          </p:cNvSpPr>
          <p:nvPr/>
        </p:nvSpPr>
        <p:spPr bwMode="auto">
          <a:xfrm>
            <a:off x="4270988" y="853662"/>
            <a:ext cx="360363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조회</a:t>
            </a: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엑셀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smtClean="0">
                <a:solidFill>
                  <a:sysClr val="windowText" lastClr="000000"/>
                </a:solidFill>
                <a:latin typeface="+mn-ea"/>
                <a:ea typeface="+mn-ea"/>
              </a:rPr>
              <a:t>원가관리</a:t>
            </a:r>
            <a:endParaRPr lang="ko-KR" altLang="en-US" sz="1050" kern="0" dirty="0" smtClea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23" name="직사각형 22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견적기준가 산출 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04</a:t>
            </a:r>
            <a:endParaRPr lang="ko-KR" altLang="en-US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4" name="직사각형 23"/>
          <p:cNvSpPr/>
          <p:nvPr/>
        </p:nvSpPr>
        <p:spPr bwMode="auto">
          <a:xfrm>
            <a:off x="3584810" y="276870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견적기준가 산출</a:t>
            </a:r>
          </a:p>
        </p:txBody>
      </p:sp>
      <p:sp>
        <p:nvSpPr>
          <p:cNvPr id="25" name="직사각형 24"/>
          <p:cNvSpPr/>
          <p:nvPr/>
        </p:nvSpPr>
        <p:spPr bwMode="auto">
          <a:xfrm>
            <a:off x="3588275" y="545165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36000" tIns="36000" rIns="36000" bIns="36000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NPV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산출</a:t>
            </a:r>
          </a:p>
        </p:txBody>
      </p:sp>
      <p:sp>
        <p:nvSpPr>
          <p:cNvPr id="26" name="직사각형 25"/>
          <p:cNvSpPr/>
          <p:nvPr/>
        </p:nvSpPr>
        <p:spPr bwMode="auto">
          <a:xfrm>
            <a:off x="7287765" y="28799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  </a:t>
            </a:r>
          </a:p>
        </p:txBody>
      </p:sp>
      <p:sp>
        <p:nvSpPr>
          <p:cNvPr id="27" name="직사각형 26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2013.05.10 /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정승필</a:t>
            </a:r>
          </a:p>
        </p:txBody>
      </p:sp>
      <p:sp>
        <p:nvSpPr>
          <p:cNvPr id="35" name="직사각형 124"/>
          <p:cNvSpPr>
            <a:spLocks noChangeArrowheads="1"/>
          </p:cNvSpPr>
          <p:nvPr/>
        </p:nvSpPr>
        <p:spPr bwMode="auto">
          <a:xfrm>
            <a:off x="397494" y="1853794"/>
            <a:ext cx="5591356" cy="4311586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36" name="타원 35"/>
          <p:cNvSpPr/>
          <p:nvPr/>
        </p:nvSpPr>
        <p:spPr>
          <a:xfrm>
            <a:off x="258588" y="1781785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graphicFrame>
        <p:nvGraphicFramePr>
          <p:cNvPr id="37" name="표 36"/>
          <p:cNvGraphicFramePr>
            <a:graphicFrameLocks noGrp="1"/>
          </p:cNvGraphicFramePr>
          <p:nvPr/>
        </p:nvGraphicFramePr>
        <p:xfrm>
          <a:off x="501858" y="2276837"/>
          <a:ext cx="5243252" cy="3344366"/>
        </p:xfrm>
        <a:graphic>
          <a:graphicData uri="http://schemas.openxmlformats.org/drawingml/2006/table">
            <a:tbl>
              <a:tblPr/>
              <a:tblGrid>
                <a:gridCol w="196622"/>
                <a:gridCol w="177896"/>
                <a:gridCol w="983110"/>
                <a:gridCol w="611713"/>
                <a:gridCol w="852028"/>
                <a:gridCol w="798972"/>
                <a:gridCol w="823939"/>
                <a:gridCol w="798972"/>
              </a:tblGrid>
              <a:tr h="256136">
                <a:tc gridSpan="8"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&lt;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손익계산서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&gt;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144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136">
                <a:tc gridSpan="3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'13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'14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'15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'16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'17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136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물 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-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-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21,286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53,214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53,214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136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매출액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-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-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9,387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23,467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23,467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136">
                <a:tc rowSpan="4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재료비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-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-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4,900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12,250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12,250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136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노무비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-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-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2,070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2,173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2,282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734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경비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81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266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3,489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7,012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7,104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136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감가상각비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-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-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1,237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3,092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3,092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136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제조원가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81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266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10,459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21,436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21,636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136">
                <a:tc rowSpan="3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인건비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-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-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90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93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96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136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판매관리비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5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160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285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244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136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판매관리비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5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250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378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340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136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영업이익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(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EBIT)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-      82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-          271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-      1,322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1,654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1,491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3" name="표 42"/>
          <p:cNvGraphicFramePr>
            <a:graphicFrameLocks noGrp="1"/>
          </p:cNvGraphicFramePr>
          <p:nvPr/>
        </p:nvGraphicFramePr>
        <p:xfrm>
          <a:off x="550615" y="1412728"/>
          <a:ext cx="728662" cy="22860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728662"/>
              </a:tblGrid>
              <a:tr h="2160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dirty="0" smtClean="0">
                          <a:solidFill>
                            <a:schemeClr val="bg1"/>
                          </a:solidFill>
                          <a:latin typeface="Arial"/>
                          <a:ea typeface="가는각진제목체"/>
                          <a:cs typeface="+mn-cs"/>
                          <a:sym typeface="Arial"/>
                        </a:rPr>
                        <a:t>검색조건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4" name="직사각형 43"/>
          <p:cNvSpPr/>
          <p:nvPr/>
        </p:nvSpPr>
        <p:spPr>
          <a:xfrm>
            <a:off x="488380" y="1340720"/>
            <a:ext cx="5256730" cy="360040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5" name="타원 44"/>
          <p:cNvSpPr/>
          <p:nvPr/>
        </p:nvSpPr>
        <p:spPr>
          <a:xfrm>
            <a:off x="272350" y="119669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46" name="직사각형 45"/>
          <p:cNvSpPr/>
          <p:nvPr/>
        </p:nvSpPr>
        <p:spPr bwMode="auto">
          <a:xfrm>
            <a:off x="2217502" y="1425304"/>
            <a:ext cx="503188" cy="21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prstClr val="black"/>
              </a:solidFill>
            </a:endParaRPr>
          </a:p>
        </p:txBody>
      </p:sp>
      <p:sp>
        <p:nvSpPr>
          <p:cNvPr id="47" name="TextBox 36"/>
          <p:cNvSpPr txBox="1">
            <a:spLocks noChangeArrowheads="1"/>
          </p:cNvSpPr>
          <p:nvPr/>
        </p:nvSpPr>
        <p:spPr bwMode="auto">
          <a:xfrm>
            <a:off x="1460610" y="1425304"/>
            <a:ext cx="684000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900" dirty="0" err="1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프로젝트명</a:t>
            </a:r>
            <a:endParaRPr lang="ko-KR" altLang="en-US" sz="9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49" name="직사각형 48"/>
          <p:cNvSpPr/>
          <p:nvPr/>
        </p:nvSpPr>
        <p:spPr bwMode="auto">
          <a:xfrm>
            <a:off x="3693612" y="1424295"/>
            <a:ext cx="503188" cy="21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prstClr val="black"/>
              </a:solidFill>
            </a:endParaRPr>
          </a:p>
        </p:txBody>
      </p:sp>
      <p:sp>
        <p:nvSpPr>
          <p:cNvPr id="50" name="TextBox 36"/>
          <p:cNvSpPr txBox="1">
            <a:spLocks noChangeArrowheads="1"/>
          </p:cNvSpPr>
          <p:nvPr/>
        </p:nvSpPr>
        <p:spPr bwMode="auto">
          <a:xfrm>
            <a:off x="2936720" y="1424295"/>
            <a:ext cx="684000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9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견적차수</a:t>
            </a: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488380" y="2050867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1)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31" name="직사각형 30"/>
          <p:cNvSpPr/>
          <p:nvPr/>
        </p:nvSpPr>
        <p:spPr bwMode="auto">
          <a:xfrm>
            <a:off x="5133812" y="1424295"/>
            <a:ext cx="503188" cy="21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prstClr val="black"/>
              </a:solidFill>
            </a:endParaRPr>
          </a:p>
        </p:txBody>
      </p:sp>
      <p:sp>
        <p:nvSpPr>
          <p:cNvPr id="32" name="TextBox 36"/>
          <p:cNvSpPr txBox="1">
            <a:spLocks noChangeArrowheads="1"/>
          </p:cNvSpPr>
          <p:nvPr/>
        </p:nvSpPr>
        <p:spPr bwMode="auto">
          <a:xfrm>
            <a:off x="4376920" y="1424295"/>
            <a:ext cx="684000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9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민감도코드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직사각형 124"/>
          <p:cNvSpPr>
            <a:spLocks noChangeArrowheads="1"/>
          </p:cNvSpPr>
          <p:nvPr/>
        </p:nvSpPr>
        <p:spPr bwMode="auto">
          <a:xfrm>
            <a:off x="244085" y="1988798"/>
            <a:ext cx="5822029" cy="4248591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graphicFrame>
        <p:nvGraphicFramePr>
          <p:cNvPr id="11" name="Group 82"/>
          <p:cNvGraphicFramePr>
            <a:graphicFrameLocks noGrp="1"/>
          </p:cNvGraphicFramePr>
          <p:nvPr/>
        </p:nvGraphicFramePr>
        <p:xfrm>
          <a:off x="6149460" y="1038815"/>
          <a:ext cx="3528000" cy="257058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NPV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산출을 위한 과정 및 산출결과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프로젝트명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견적차수로 검색해서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NPV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를 산출대상 선택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손익계산서 끌어옴 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견적원가 산출 화면에서 끌어옴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3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&lt;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조정작업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&gt;</a:t>
                      </a: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1) 2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의 손익계산서에서 감가상각 정보 끌어옴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연도 기준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2) EBITDA Logic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계산 </a:t>
                      </a:r>
                      <a:r>
                        <a:rPr lang="en-US" altLang="ko-KR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(</a:t>
                      </a:r>
                      <a:r>
                        <a:rPr lang="ko-KR" altLang="en-US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상세</a:t>
                      </a:r>
                      <a:r>
                        <a:rPr lang="en-US" altLang="ko-KR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spec </a:t>
                      </a:r>
                      <a:r>
                        <a:rPr lang="ko-KR" altLang="en-US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참고</a:t>
                      </a:r>
                      <a:r>
                        <a:rPr lang="en-US" altLang="ko-KR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3)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기초값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자동입력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색칠된 부분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0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으로 입력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4)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최초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기초값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외 나머지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Logic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계산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( 4)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의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박스범위 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</a:t>
                      </a:r>
                      <a:r>
                        <a:rPr lang="en-US" altLang="ko-KR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(</a:t>
                      </a:r>
                      <a:r>
                        <a:rPr lang="ko-KR" altLang="en-US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상세</a:t>
                      </a:r>
                      <a:r>
                        <a:rPr lang="en-US" altLang="ko-KR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spec </a:t>
                      </a:r>
                      <a:r>
                        <a:rPr lang="ko-KR" altLang="en-US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참고</a:t>
                      </a:r>
                      <a:r>
                        <a:rPr lang="en-US" altLang="ko-KR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5)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수익성분석 기준정보에서 법인세율 끌어옴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</a:t>
                      </a:r>
                      <a:r>
                        <a:rPr lang="en-US" altLang="ko-KR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(</a:t>
                      </a:r>
                      <a:r>
                        <a:rPr lang="ko-KR" altLang="en-US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상세</a:t>
                      </a:r>
                      <a:r>
                        <a:rPr lang="en-US" altLang="ko-KR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spec </a:t>
                      </a:r>
                      <a:r>
                        <a:rPr lang="ko-KR" altLang="en-US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참고</a:t>
                      </a:r>
                      <a:r>
                        <a:rPr lang="en-US" altLang="ko-KR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6) Logic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으로 계산  </a:t>
                      </a:r>
                      <a:r>
                        <a:rPr lang="en-US" altLang="ko-KR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(</a:t>
                      </a:r>
                      <a:r>
                        <a:rPr lang="ko-KR" altLang="en-US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상세</a:t>
                      </a:r>
                      <a:r>
                        <a:rPr lang="en-US" altLang="ko-KR" sz="1000" i="1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sepc</a:t>
                      </a:r>
                      <a:r>
                        <a:rPr lang="en-US" altLang="ko-KR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ko-KR" altLang="en-US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참고</a:t>
                      </a:r>
                      <a:r>
                        <a:rPr lang="en-US" altLang="ko-KR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3662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이전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5" name="AutoShape 279"/>
          <p:cNvSpPr>
            <a:spLocks noChangeArrowheads="1"/>
          </p:cNvSpPr>
          <p:nvPr/>
        </p:nvSpPr>
        <p:spPr bwMode="auto">
          <a:xfrm>
            <a:off x="472454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저장</a:t>
            </a:r>
          </a:p>
        </p:txBody>
      </p:sp>
      <p:sp>
        <p:nvSpPr>
          <p:cNvPr id="16" name="AutoShape 279"/>
          <p:cNvSpPr>
            <a:spLocks noChangeArrowheads="1"/>
          </p:cNvSpPr>
          <p:nvPr/>
        </p:nvSpPr>
        <p:spPr bwMode="auto">
          <a:xfrm>
            <a:off x="4270988" y="853662"/>
            <a:ext cx="360363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조회</a:t>
            </a: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엑셀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smtClean="0">
                <a:solidFill>
                  <a:sysClr val="windowText" lastClr="000000"/>
                </a:solidFill>
                <a:latin typeface="+mn-ea"/>
                <a:ea typeface="+mn-ea"/>
              </a:rPr>
              <a:t>원가관리</a:t>
            </a:r>
            <a:endParaRPr lang="ko-KR" altLang="en-US" sz="1050" kern="0" dirty="0" smtClea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23" name="직사각형 22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견적기준가 산출 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04</a:t>
            </a:r>
            <a:endParaRPr lang="ko-KR" altLang="en-US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4" name="직사각형 23"/>
          <p:cNvSpPr/>
          <p:nvPr/>
        </p:nvSpPr>
        <p:spPr bwMode="auto">
          <a:xfrm>
            <a:off x="3584810" y="276870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견적기준가 산출</a:t>
            </a:r>
          </a:p>
        </p:txBody>
      </p:sp>
      <p:sp>
        <p:nvSpPr>
          <p:cNvPr id="25" name="직사각형 24"/>
          <p:cNvSpPr/>
          <p:nvPr/>
        </p:nvSpPr>
        <p:spPr bwMode="auto">
          <a:xfrm>
            <a:off x="3588275" y="545165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36000" tIns="36000" rIns="36000" bIns="36000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NPV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산출</a:t>
            </a:r>
          </a:p>
        </p:txBody>
      </p:sp>
      <p:sp>
        <p:nvSpPr>
          <p:cNvPr id="26" name="직사각형 25"/>
          <p:cNvSpPr/>
          <p:nvPr/>
        </p:nvSpPr>
        <p:spPr bwMode="auto">
          <a:xfrm>
            <a:off x="7287765" y="28799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  </a:t>
            </a:r>
          </a:p>
        </p:txBody>
      </p:sp>
      <p:sp>
        <p:nvSpPr>
          <p:cNvPr id="27" name="직사각형 26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2013.05.10 /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정승필</a:t>
            </a:r>
          </a:p>
        </p:txBody>
      </p:sp>
      <p:graphicFrame>
        <p:nvGraphicFramePr>
          <p:cNvPr id="51" name="표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8691639"/>
              </p:ext>
            </p:extLst>
          </p:nvPr>
        </p:nvGraphicFramePr>
        <p:xfrm>
          <a:off x="830221" y="2562853"/>
          <a:ext cx="5130919" cy="3627120"/>
        </p:xfrm>
        <a:graphic>
          <a:graphicData uri="http://schemas.openxmlformats.org/drawingml/2006/table">
            <a:tbl>
              <a:tblPr/>
              <a:tblGrid>
                <a:gridCol w="180867"/>
                <a:gridCol w="999530"/>
                <a:gridCol w="621930"/>
                <a:gridCol w="866259"/>
                <a:gridCol w="812316"/>
                <a:gridCol w="837701"/>
                <a:gridCol w="812316"/>
              </a:tblGrid>
              <a:tr h="20955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구분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'13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'14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'15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'16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'17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감가상각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0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0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1236.61441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3091.53604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3091.53604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EBITDA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-      82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-          271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-          85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4,745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4,582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 rowSpan="9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매출채권 기초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0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0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0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2188.09814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5470.24535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매출채권 기말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0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- 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2,188 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5,470 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5,470 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매출채권 증감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0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0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2188.09814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3282.14721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0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재고자산 기초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0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0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27.145046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1067.1945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2187.30571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재고자산 기말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0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27 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1,067 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2,187 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2,208 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재고자산 증감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0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27.145046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1040.04945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1120.11121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20.4564165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매입채무 기초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0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0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0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1131.68132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2829.20329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매입채무 기말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0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- 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1,132 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2,829 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2,829 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매입채무 증감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0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0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1131.68132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1697.52198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0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순운전자본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증감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0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27.145046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2096.46627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2704.73644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20.4564165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72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72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72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72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0955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법인세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(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EBIT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*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Tc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-  33.00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-      108.00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-     529.00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661.00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596.00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법인세율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10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40%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41%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41%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41%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9" name="타원 58"/>
          <p:cNvSpPr/>
          <p:nvPr/>
        </p:nvSpPr>
        <p:spPr>
          <a:xfrm>
            <a:off x="105180" y="191679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28" name="직사각형 27"/>
          <p:cNvSpPr/>
          <p:nvPr/>
        </p:nvSpPr>
        <p:spPr bwMode="auto">
          <a:xfrm>
            <a:off x="784750" y="3357300"/>
            <a:ext cx="5220000" cy="2160000"/>
          </a:xfrm>
          <a:prstGeom prst="rect">
            <a:avLst/>
          </a:prstGeom>
          <a:noFill/>
          <a:ln w="15875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690885" y="3247935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4)</a:t>
            </a:r>
            <a:endParaRPr lang="ko-KR" altLang="en-US" sz="9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643975" y="2767015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1)</a:t>
            </a:r>
            <a:endParaRPr lang="ko-KR" altLang="en-US" sz="9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643975" y="2953147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2)</a:t>
            </a:r>
            <a:endParaRPr lang="ko-KR" altLang="en-US" sz="9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cxnSp>
        <p:nvCxnSpPr>
          <p:cNvPr id="33" name="직선 화살표 연결선 32"/>
          <p:cNvCxnSpPr/>
          <p:nvPr/>
        </p:nvCxnSpPr>
        <p:spPr bwMode="auto">
          <a:xfrm flipV="1">
            <a:off x="1015430" y="3553985"/>
            <a:ext cx="1124060" cy="6144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" name="직선 화살표 연결선 33"/>
          <p:cNvCxnSpPr/>
          <p:nvPr/>
        </p:nvCxnSpPr>
        <p:spPr bwMode="auto">
          <a:xfrm flipV="1">
            <a:off x="966570" y="4180059"/>
            <a:ext cx="1124060" cy="788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직선 화살표 연결선 34"/>
          <p:cNvCxnSpPr/>
          <p:nvPr/>
        </p:nvCxnSpPr>
        <p:spPr bwMode="auto">
          <a:xfrm>
            <a:off x="969130" y="4186807"/>
            <a:ext cx="1138025" cy="61062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856784" y="4070582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3)</a:t>
            </a:r>
            <a:endParaRPr lang="ko-KR" altLang="en-US" sz="9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37" name="AutoShape 279"/>
          <p:cNvSpPr>
            <a:spLocks noChangeArrowheads="1"/>
          </p:cNvSpPr>
          <p:nvPr/>
        </p:nvSpPr>
        <p:spPr bwMode="auto">
          <a:xfrm>
            <a:off x="5529080" y="2263128"/>
            <a:ext cx="358775" cy="21590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b="1" dirty="0">
                <a:solidFill>
                  <a:schemeClr val="bg1"/>
                </a:solidFill>
                <a:latin typeface="가는각진제목체" pitchFamily="18" charset="-127"/>
                <a:ea typeface="가는각진제목체" pitchFamily="18" charset="-127"/>
              </a:rPr>
              <a:t>저장</a:t>
            </a:r>
          </a:p>
        </p:txBody>
      </p:sp>
      <p:sp>
        <p:nvSpPr>
          <p:cNvPr id="38" name="TextBox 37"/>
          <p:cNvSpPr txBox="1">
            <a:spLocks noChangeArrowheads="1"/>
          </p:cNvSpPr>
          <p:nvPr/>
        </p:nvSpPr>
        <p:spPr bwMode="auto">
          <a:xfrm>
            <a:off x="5385060" y="2184240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5)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graphicFrame>
        <p:nvGraphicFramePr>
          <p:cNvPr id="39" name="표 38"/>
          <p:cNvGraphicFramePr>
            <a:graphicFrameLocks noGrp="1"/>
          </p:cNvGraphicFramePr>
          <p:nvPr/>
        </p:nvGraphicFramePr>
        <p:xfrm>
          <a:off x="550615" y="1412728"/>
          <a:ext cx="728662" cy="22860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728662"/>
              </a:tblGrid>
              <a:tr h="2160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dirty="0" smtClean="0">
                          <a:solidFill>
                            <a:schemeClr val="bg1"/>
                          </a:solidFill>
                          <a:latin typeface="Arial"/>
                          <a:ea typeface="가는각진제목체"/>
                          <a:cs typeface="+mn-cs"/>
                          <a:sym typeface="Arial"/>
                        </a:rPr>
                        <a:t>검색조건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0" name="직사각형 39"/>
          <p:cNvSpPr/>
          <p:nvPr/>
        </p:nvSpPr>
        <p:spPr>
          <a:xfrm>
            <a:off x="488380" y="1340720"/>
            <a:ext cx="5256730" cy="360040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1" name="타원 40"/>
          <p:cNvSpPr/>
          <p:nvPr/>
        </p:nvSpPr>
        <p:spPr>
          <a:xfrm>
            <a:off x="272350" y="119669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42" name="직사각형 41"/>
          <p:cNvSpPr/>
          <p:nvPr/>
        </p:nvSpPr>
        <p:spPr bwMode="auto">
          <a:xfrm>
            <a:off x="2217502" y="1425304"/>
            <a:ext cx="503188" cy="21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prstClr val="black"/>
              </a:solidFill>
            </a:endParaRPr>
          </a:p>
        </p:txBody>
      </p:sp>
      <p:sp>
        <p:nvSpPr>
          <p:cNvPr id="48" name="TextBox 36"/>
          <p:cNvSpPr txBox="1">
            <a:spLocks noChangeArrowheads="1"/>
          </p:cNvSpPr>
          <p:nvPr/>
        </p:nvSpPr>
        <p:spPr bwMode="auto">
          <a:xfrm>
            <a:off x="1460610" y="1425304"/>
            <a:ext cx="684000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900" dirty="0" err="1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프로젝트명</a:t>
            </a:r>
            <a:endParaRPr lang="ko-KR" altLang="en-US" sz="9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52" name="직사각형 51"/>
          <p:cNvSpPr/>
          <p:nvPr/>
        </p:nvSpPr>
        <p:spPr bwMode="auto">
          <a:xfrm>
            <a:off x="3693612" y="1424295"/>
            <a:ext cx="503188" cy="21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prstClr val="black"/>
              </a:solidFill>
            </a:endParaRPr>
          </a:p>
        </p:txBody>
      </p:sp>
      <p:sp>
        <p:nvSpPr>
          <p:cNvPr id="53" name="TextBox 36"/>
          <p:cNvSpPr txBox="1">
            <a:spLocks noChangeArrowheads="1"/>
          </p:cNvSpPr>
          <p:nvPr/>
        </p:nvSpPr>
        <p:spPr bwMode="auto">
          <a:xfrm>
            <a:off x="2936720" y="1424295"/>
            <a:ext cx="684000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9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견적차수</a:t>
            </a:r>
          </a:p>
        </p:txBody>
      </p:sp>
      <p:sp>
        <p:nvSpPr>
          <p:cNvPr id="54" name="직사각형 53"/>
          <p:cNvSpPr/>
          <p:nvPr/>
        </p:nvSpPr>
        <p:spPr bwMode="auto">
          <a:xfrm>
            <a:off x="5133812" y="1424295"/>
            <a:ext cx="503188" cy="21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prstClr val="black"/>
              </a:solidFill>
            </a:endParaRPr>
          </a:p>
        </p:txBody>
      </p:sp>
      <p:sp>
        <p:nvSpPr>
          <p:cNvPr id="55" name="TextBox 36"/>
          <p:cNvSpPr txBox="1">
            <a:spLocks noChangeArrowheads="1"/>
          </p:cNvSpPr>
          <p:nvPr/>
        </p:nvSpPr>
        <p:spPr bwMode="auto">
          <a:xfrm>
            <a:off x="4376920" y="1424295"/>
            <a:ext cx="684000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9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민감도코드</a:t>
            </a:r>
          </a:p>
        </p:txBody>
      </p:sp>
      <p:sp>
        <p:nvSpPr>
          <p:cNvPr id="56" name="AutoShape 279"/>
          <p:cNvSpPr>
            <a:spLocks noChangeArrowheads="1"/>
          </p:cNvSpPr>
          <p:nvPr/>
        </p:nvSpPr>
        <p:spPr bwMode="auto">
          <a:xfrm>
            <a:off x="1628965" y="5949370"/>
            <a:ext cx="358775" cy="14400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b="1" dirty="0" smtClean="0">
                <a:solidFill>
                  <a:schemeClr val="bg1"/>
                </a:solidFill>
                <a:latin typeface="가는각진제목체" pitchFamily="18" charset="-127"/>
                <a:ea typeface="가는각진제목체" pitchFamily="18" charset="-127"/>
              </a:rPr>
              <a:t>조회</a:t>
            </a:r>
            <a:endParaRPr kumimoji="0" lang="ko-KR" altLang="en-US" sz="900" b="1" dirty="0">
              <a:solidFill>
                <a:schemeClr val="bg1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58" name="AutoShape 279"/>
          <p:cNvSpPr>
            <a:spLocks noChangeArrowheads="1"/>
          </p:cNvSpPr>
          <p:nvPr/>
        </p:nvSpPr>
        <p:spPr bwMode="auto">
          <a:xfrm>
            <a:off x="1634085" y="5742355"/>
            <a:ext cx="358775" cy="14400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b="1" dirty="0" smtClean="0">
                <a:solidFill>
                  <a:schemeClr val="bg1"/>
                </a:solidFill>
                <a:latin typeface="가는각진제목체" pitchFamily="18" charset="-127"/>
                <a:ea typeface="가는각진제목체" pitchFamily="18" charset="-127"/>
              </a:rPr>
              <a:t>계산</a:t>
            </a:r>
            <a:endParaRPr kumimoji="0" lang="ko-KR" altLang="en-US" sz="900" b="1" dirty="0">
              <a:solidFill>
                <a:schemeClr val="bg1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60" name="TextBox 59"/>
          <p:cNvSpPr txBox="1">
            <a:spLocks noChangeArrowheads="1"/>
          </p:cNvSpPr>
          <p:nvPr/>
        </p:nvSpPr>
        <p:spPr bwMode="auto">
          <a:xfrm>
            <a:off x="640754" y="5714997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6)</a:t>
            </a:r>
            <a:endParaRPr lang="ko-KR" altLang="en-US" sz="9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61" name="TextBox 60"/>
          <p:cNvSpPr txBox="1">
            <a:spLocks noChangeArrowheads="1"/>
          </p:cNvSpPr>
          <p:nvPr/>
        </p:nvSpPr>
        <p:spPr bwMode="auto">
          <a:xfrm>
            <a:off x="643975" y="5890547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5)</a:t>
            </a:r>
            <a:endParaRPr lang="ko-KR" altLang="en-US" sz="9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상세 </a:t>
            </a:r>
            <a:r>
              <a:rPr lang="en-US" altLang="ko-KR" dirty="0" smtClean="0">
                <a:solidFill>
                  <a:srgbClr val="000000"/>
                </a:solidFill>
              </a:rPr>
              <a:t>Spec_</a:t>
            </a:r>
            <a:r>
              <a:rPr lang="ko-KR" altLang="en-US" dirty="0" smtClean="0">
                <a:solidFill>
                  <a:srgbClr val="000000"/>
                </a:solidFill>
                <a:latin typeface="Arial"/>
                <a:ea typeface="가는각진제목체"/>
              </a:rPr>
              <a:t> </a:t>
            </a:r>
            <a:r>
              <a:rPr lang="en-US" altLang="ko-KR" dirty="0" smtClean="0">
                <a:solidFill>
                  <a:srgbClr val="000000"/>
                </a:solidFill>
                <a:latin typeface="Arial"/>
                <a:ea typeface="가는각진제목체"/>
              </a:rPr>
              <a:t>NPV</a:t>
            </a:r>
            <a:r>
              <a:rPr lang="ko-KR" altLang="en-US" dirty="0" smtClean="0">
                <a:solidFill>
                  <a:srgbClr val="000000"/>
                </a:solidFill>
                <a:latin typeface="Arial"/>
                <a:ea typeface="가는각진제목체"/>
              </a:rPr>
              <a:t>산출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3" name="Rectangle 33"/>
          <p:cNvSpPr>
            <a:spLocks noChangeArrowheads="1"/>
          </p:cNvSpPr>
          <p:nvPr/>
        </p:nvSpPr>
        <p:spPr bwMode="auto">
          <a:xfrm>
            <a:off x="416370" y="790575"/>
            <a:ext cx="8857230" cy="566284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3.  </a:t>
            </a:r>
            <a:r>
              <a:rPr kumimoji="0"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조정작업</a:t>
            </a:r>
            <a:endParaRPr kumimoji="0" lang="ko-KR" altLang="en-US" sz="12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ko-KR" altLang="en-US" sz="12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2) EBITDA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산출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Logic</a:t>
            </a:r>
          </a:p>
          <a:p>
            <a:pPr marL="177800" indent="-93663" fontAlgn="ctr" latinLnBrk="0">
              <a:lnSpc>
                <a:spcPct val="140000"/>
              </a:lnSpc>
              <a:defRPr/>
            </a:pPr>
            <a:endParaRPr kumimoji="0" lang="en-US" altLang="ko-KR" sz="120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marL="92075" lvl="0" defTabSz="914400" fontAlgn="t">
              <a:defRPr/>
            </a:pP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    EBITDA =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영업이익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(EBIT) +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감가상각</a:t>
            </a:r>
            <a:endParaRPr kumimoji="0" lang="en-US" altLang="ko-KR" sz="120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marL="92075" lvl="0" defTabSz="914400" fontAlgn="t">
              <a:defRPr/>
            </a:pP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  </a:t>
            </a:r>
          </a:p>
          <a:p>
            <a:pPr marL="92075" lvl="0" defTabSz="914400" fontAlgn="t">
              <a:defRPr/>
            </a:pP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 4)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최초 </a:t>
            </a:r>
            <a:r>
              <a:rPr kumimoji="0" lang="ko-KR" altLang="en-US" sz="1200" dirty="0" err="1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기초값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 외 </a:t>
            </a:r>
            <a:r>
              <a:rPr kumimoji="0" lang="ko-KR" altLang="en-US" sz="1200" dirty="0" err="1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기초값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 계산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Logic =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직전연도 </a:t>
            </a:r>
            <a:r>
              <a:rPr kumimoji="0" lang="ko-KR" altLang="en-US" sz="1200" dirty="0" err="1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기말값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(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매출채권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,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매입채무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,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재고자산 모두 동일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)</a:t>
            </a:r>
          </a:p>
          <a:p>
            <a:pPr marL="92075" lvl="0" defTabSz="914400" fontAlgn="t">
              <a:defRPr/>
            </a:pP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    </a:t>
            </a:r>
          </a:p>
          <a:p>
            <a:pPr marL="92075" lvl="0" defTabSz="914400" fontAlgn="t">
              <a:defRPr/>
            </a:pP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   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매출채권 </a:t>
            </a:r>
            <a:r>
              <a:rPr kumimoji="0" lang="ko-KR" altLang="en-US" sz="1200" dirty="0" err="1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기말값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=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당해 매출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/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매출채권 회전율         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(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매출채권 회전율은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‘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수익성분석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Factor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등록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’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에서 선택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)</a:t>
            </a:r>
          </a:p>
          <a:p>
            <a:pPr marL="92075" lvl="0" defTabSz="914400" fontAlgn="t">
              <a:defRPr/>
            </a:pP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    </a:t>
            </a:r>
          </a:p>
          <a:p>
            <a:pPr marL="92075" lvl="0" defTabSz="914400" fontAlgn="t">
              <a:defRPr/>
            </a:pP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   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재고자산 </a:t>
            </a:r>
            <a:r>
              <a:rPr kumimoji="0" lang="ko-KR" altLang="en-US" sz="1200" dirty="0" err="1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기말값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=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당해 제조원가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/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재고자산 회전율     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(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재고자산 회전율은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‘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수익성분석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Factor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등록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’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에서 선택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)</a:t>
            </a:r>
          </a:p>
          <a:p>
            <a:pPr marL="92075" lvl="0" defTabSz="914400" fontAlgn="t">
              <a:defRPr/>
            </a:pP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    </a:t>
            </a:r>
          </a:p>
          <a:p>
            <a:pPr marL="92075" lvl="0" defTabSz="914400" fontAlgn="t">
              <a:defRPr/>
            </a:pP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   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매입채무 </a:t>
            </a:r>
            <a:r>
              <a:rPr kumimoji="0" lang="ko-KR" altLang="en-US" sz="1200" dirty="0" err="1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기말값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=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당해 재료비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/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매입채무 회전율       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(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매입채무 회전율은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‘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수익성분석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Factor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등록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’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에서 선택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)</a:t>
            </a:r>
          </a:p>
          <a:p>
            <a:pPr marL="92075" lvl="0" defTabSz="914400" fontAlgn="t">
              <a:defRPr/>
            </a:pPr>
            <a:r>
              <a:rPr kumimoji="0" lang="en-US" altLang="ko-KR" sz="1200" i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   </a:t>
            </a:r>
          </a:p>
          <a:p>
            <a:pPr marL="92075" lvl="0" defTabSz="914400" fontAlgn="t">
              <a:defRPr/>
            </a:pPr>
            <a:r>
              <a:rPr kumimoji="0" lang="en-US" altLang="ko-KR" sz="1200" i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  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각 항목의 증감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=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기말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–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기초</a:t>
            </a:r>
            <a:endParaRPr kumimoji="0" lang="en-US" altLang="ko-KR" sz="120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marL="92075" lvl="0" defTabSz="914400" fontAlgn="t">
              <a:defRPr/>
            </a:pPr>
            <a:r>
              <a:rPr kumimoji="0" lang="en-US" altLang="ko-KR" sz="1200" i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   </a:t>
            </a:r>
          </a:p>
          <a:p>
            <a:pPr marL="92075" lvl="0" defTabSz="914400" fontAlgn="t">
              <a:defRPr/>
            </a:pPr>
            <a:r>
              <a:rPr kumimoji="0" lang="en-US" altLang="ko-KR" sz="1200" i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   </a:t>
            </a:r>
            <a:r>
              <a:rPr kumimoji="0" lang="ko-KR" altLang="en-US" sz="1200" dirty="0" err="1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순운전자본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증감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=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매출채권 증감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+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재고자산 증감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–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매입채무 증감</a:t>
            </a:r>
            <a:endParaRPr kumimoji="0" lang="en-US" altLang="ko-KR" sz="120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marL="92075" lvl="0" defTabSz="914400" fontAlgn="t">
              <a:defRPr/>
            </a:pPr>
            <a:endParaRPr kumimoji="0" lang="en-US" altLang="ko-KR" sz="1200" i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en-US" altLang="ko-KR" sz="1200" i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5)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법인세 </a:t>
            </a:r>
            <a:endParaRPr kumimoji="0" lang="en-US" altLang="ko-KR" sz="120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Wingdings" pitchFamily="2" charset="2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     (1) </a:t>
            </a:r>
            <a:r>
              <a:rPr kumimoji="0" lang="ko-KR" altLang="en-US" sz="1200" b="1" i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손익계산서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의 첫해부터 판별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– a)‘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수익성분석 기준정보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’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에서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 적용연도를 기준으로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같은 연도의 법인세율이 있을 경우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,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끌어옴</a:t>
            </a:r>
            <a:endParaRPr kumimoji="0" lang="en-US" altLang="ko-KR" sz="120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Wingdings" pitchFamily="2" charset="2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                                            (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중복될 경우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,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변경일자 기준 최신 정보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)</a:t>
            </a: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                                         b)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없을 경우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, (</a:t>
            </a:r>
            <a:r>
              <a:rPr kumimoji="0" lang="ko-KR" altLang="en-US" sz="1200" dirty="0" err="1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이하값으로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)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기준정보에서 적용연도를 기준으로 가장 최근 연도 법인세율을 끌어옴</a:t>
            </a:r>
            <a:endParaRPr kumimoji="0" lang="en-US" altLang="ko-KR" sz="120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Wingdings" pitchFamily="2" charset="2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                                            (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중복될 경우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,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변경일자 기준 최신 정보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)</a:t>
            </a: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     (2)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첫해에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a)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일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경우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, </a:t>
            </a:r>
            <a:r>
              <a:rPr kumimoji="0" lang="ko-KR" altLang="en-US" sz="1200" dirty="0" err="1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두번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 째 해 역시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a), b)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를 판별</a:t>
            </a:r>
            <a:endParaRPr kumimoji="0" lang="en-US" altLang="ko-KR" sz="120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Wingdings" pitchFamily="2" charset="2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        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첫해에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b)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일 경우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,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나머지 모두 첫해의 법인세율 적용</a:t>
            </a:r>
            <a:endParaRPr kumimoji="0" lang="en-US" altLang="ko-KR" sz="120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Wingdings" pitchFamily="2" charset="2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6)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법인세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=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영업이익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(EBIT) *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법인세율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(</a:t>
            </a:r>
            <a:r>
              <a:rPr kumimoji="0" lang="en-US" altLang="ko-KR" sz="1200" dirty="0" err="1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Tc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)</a:t>
            </a:r>
            <a:endParaRPr kumimoji="0" lang="ko-KR" altLang="en-US" sz="1200" i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</a:t>
            </a:r>
            <a:endParaRPr kumimoji="0" lang="en-US" altLang="ko-KR" sz="105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Wingdings" pitchFamily="2" charset="2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직사각형 51"/>
          <p:cNvSpPr/>
          <p:nvPr/>
        </p:nvSpPr>
        <p:spPr>
          <a:xfrm>
            <a:off x="488380" y="1340720"/>
            <a:ext cx="5256730" cy="360040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1" name="직사각형 60"/>
          <p:cNvSpPr/>
          <p:nvPr/>
        </p:nvSpPr>
        <p:spPr bwMode="auto">
          <a:xfrm>
            <a:off x="5133812" y="1424295"/>
            <a:ext cx="503188" cy="21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prstClr val="black"/>
              </a:solidFill>
            </a:endParaRPr>
          </a:p>
        </p:txBody>
      </p:sp>
      <p:graphicFrame>
        <p:nvGraphicFramePr>
          <p:cNvPr id="11" name="Group 82"/>
          <p:cNvGraphicFramePr>
            <a:graphicFrameLocks noGrp="1"/>
          </p:cNvGraphicFramePr>
          <p:nvPr/>
        </p:nvGraphicFramePr>
        <p:xfrm>
          <a:off x="6149460" y="1038815"/>
          <a:ext cx="3528000" cy="4093242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가는각진제목체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NPV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산출을 위한 과정 및 산출결과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1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프로젝트명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견적차수로 검색해서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NPV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를 산출대상 선택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손익계산서 끌어옴 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견적원가 산출 화면에서 끌어옴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4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&lt;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조정작업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&gt;(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계속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5) Template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정의 </a:t>
                      </a:r>
                      <a:r>
                        <a:rPr lang="en-US" altLang="ko-KR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(</a:t>
                      </a:r>
                      <a:r>
                        <a:rPr lang="ko-KR" altLang="en-US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상세</a:t>
                      </a:r>
                      <a:r>
                        <a:rPr lang="en-US" altLang="ko-KR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spec </a:t>
                      </a:r>
                      <a:r>
                        <a:rPr lang="ko-KR" altLang="en-US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참고</a:t>
                      </a:r>
                      <a:r>
                        <a:rPr lang="en-US" altLang="ko-KR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신규투자비 등록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I/F </a:t>
                      </a: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구분의 각 항목에 대해 현금 지출 연도 기준으로 금액 끌어옴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라인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–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생산라인탭의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라인투자금액을 지출연도별로 합계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나머지 항목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–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항목명으로 같은 것들을 찾고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지출연도 별로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함계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6)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계산수행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Logic : 5)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합계의 수치를 순서대로 끌어옴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7) Logic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으로 계산  </a:t>
                      </a:r>
                      <a:r>
                        <a:rPr lang="en-US" altLang="ko-KR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(</a:t>
                      </a:r>
                      <a:r>
                        <a:rPr lang="ko-KR" altLang="en-US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상세</a:t>
                      </a:r>
                      <a:r>
                        <a:rPr lang="en-US" altLang="ko-KR" sz="1000" i="1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sepc</a:t>
                      </a:r>
                      <a:r>
                        <a:rPr lang="en-US" altLang="ko-KR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ko-KR" altLang="en-US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참고</a:t>
                      </a:r>
                      <a:r>
                        <a:rPr lang="en-US" altLang="ko-KR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8)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수익성분석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Factor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등록에서 동일한 프로젝트 명의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WACC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을 끌어옴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9) Logic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으로 계산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en-US" altLang="ko-KR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(</a:t>
                      </a:r>
                      <a:r>
                        <a:rPr lang="ko-KR" altLang="en-US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상세 </a:t>
                      </a:r>
                      <a:r>
                        <a:rPr lang="en-US" altLang="ko-KR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spec</a:t>
                      </a:r>
                      <a:r>
                        <a:rPr lang="ko-KR" altLang="en-US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참고</a:t>
                      </a:r>
                      <a:r>
                        <a:rPr lang="en-US" altLang="ko-KR" sz="1000" i="1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10) Logic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으로 계산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: PV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의 합계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11) Logic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으로 계산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상세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spec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참고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12)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저장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저장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이력관리 </a:t>
                      </a:r>
                      <a:r>
                        <a:rPr lang="ko-KR" altLang="en-US" sz="100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안함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동일 검색조건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결과내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최신값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저장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3662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이전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5" name="AutoShape 279"/>
          <p:cNvSpPr>
            <a:spLocks noChangeArrowheads="1"/>
          </p:cNvSpPr>
          <p:nvPr/>
        </p:nvSpPr>
        <p:spPr bwMode="auto">
          <a:xfrm>
            <a:off x="472454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저장</a:t>
            </a:r>
          </a:p>
        </p:txBody>
      </p:sp>
      <p:sp>
        <p:nvSpPr>
          <p:cNvPr id="16" name="AutoShape 279"/>
          <p:cNvSpPr>
            <a:spLocks noChangeArrowheads="1"/>
          </p:cNvSpPr>
          <p:nvPr/>
        </p:nvSpPr>
        <p:spPr bwMode="auto">
          <a:xfrm>
            <a:off x="4270988" y="853662"/>
            <a:ext cx="360363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조회</a:t>
            </a: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엑셀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smtClean="0">
                <a:solidFill>
                  <a:sysClr val="windowText" lastClr="000000"/>
                </a:solidFill>
                <a:latin typeface="+mn-ea"/>
                <a:ea typeface="+mn-ea"/>
              </a:rPr>
              <a:t>원가관리</a:t>
            </a:r>
            <a:endParaRPr lang="ko-KR" altLang="en-US" sz="1050" kern="0" dirty="0" smtClea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23" name="직사각형 22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견적기준가 산출 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04</a:t>
            </a:r>
            <a:endParaRPr lang="ko-KR" altLang="en-US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4" name="직사각형 23"/>
          <p:cNvSpPr/>
          <p:nvPr/>
        </p:nvSpPr>
        <p:spPr bwMode="auto">
          <a:xfrm>
            <a:off x="3584810" y="276870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견적기준가 산출</a:t>
            </a:r>
          </a:p>
        </p:txBody>
      </p:sp>
      <p:sp>
        <p:nvSpPr>
          <p:cNvPr id="25" name="직사각형 24"/>
          <p:cNvSpPr/>
          <p:nvPr/>
        </p:nvSpPr>
        <p:spPr bwMode="auto">
          <a:xfrm>
            <a:off x="3588275" y="545165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36000" tIns="36000" rIns="36000" bIns="36000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NPV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산출</a:t>
            </a:r>
          </a:p>
        </p:txBody>
      </p:sp>
      <p:sp>
        <p:nvSpPr>
          <p:cNvPr id="26" name="직사각형 25"/>
          <p:cNvSpPr/>
          <p:nvPr/>
        </p:nvSpPr>
        <p:spPr bwMode="auto">
          <a:xfrm>
            <a:off x="7287765" y="28799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  </a:t>
            </a:r>
          </a:p>
        </p:txBody>
      </p:sp>
      <p:sp>
        <p:nvSpPr>
          <p:cNvPr id="27" name="직사각형 26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2013.05.15 /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정승필</a:t>
            </a:r>
          </a:p>
        </p:txBody>
      </p:sp>
      <p:sp>
        <p:nvSpPr>
          <p:cNvPr id="33" name="직사각형 124"/>
          <p:cNvSpPr>
            <a:spLocks noChangeArrowheads="1"/>
          </p:cNvSpPr>
          <p:nvPr/>
        </p:nvSpPr>
        <p:spPr bwMode="auto">
          <a:xfrm>
            <a:off x="397494" y="1807494"/>
            <a:ext cx="5591356" cy="4392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35" name="타원 34"/>
          <p:cNvSpPr/>
          <p:nvPr/>
        </p:nvSpPr>
        <p:spPr>
          <a:xfrm>
            <a:off x="258588" y="1735485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4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graphicFrame>
        <p:nvGraphicFramePr>
          <p:cNvPr id="43" name="표 42"/>
          <p:cNvGraphicFramePr>
            <a:graphicFrameLocks noGrp="1"/>
          </p:cNvGraphicFramePr>
          <p:nvPr/>
        </p:nvGraphicFramePr>
        <p:xfrm>
          <a:off x="632401" y="1928114"/>
          <a:ext cx="5166001" cy="3802299"/>
        </p:xfrm>
        <a:graphic>
          <a:graphicData uri="http://schemas.openxmlformats.org/drawingml/2006/table">
            <a:tbl>
              <a:tblPr/>
              <a:tblGrid>
                <a:gridCol w="265951"/>
                <a:gridCol w="172729"/>
                <a:gridCol w="954556"/>
                <a:gridCol w="593946"/>
                <a:gridCol w="827281"/>
                <a:gridCol w="775765"/>
                <a:gridCol w="800008"/>
                <a:gridCol w="775765"/>
              </a:tblGrid>
              <a:tr h="200121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구분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'13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'14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'15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'16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'17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121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Capex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121">
                <a:tc gridSpan="3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0121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구분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'13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'14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'15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'16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'17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121">
                <a:tc rowSpan="5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라인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000"/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121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건구축물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 sz="1000"/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000"/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121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연구개발비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000"/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000"/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121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토지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 sz="1000"/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000"/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000"/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000"/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121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기타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 sz="1000"/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000"/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000"/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121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투   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자 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(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합계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121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720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720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720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720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720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121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10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00121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구분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'13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'14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'15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'16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'17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121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영업활동 현금흐름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-  49.01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-  16,302.11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-   8,417.80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1,379.41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3,966.03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121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PV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00121">
                <a:tc gridSpan="2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00121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WACC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   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00121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NPV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0121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회수기간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427945" y="1965650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5)</a:t>
            </a:r>
            <a:endParaRPr lang="ko-KR" altLang="en-US" sz="9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46" name="직사각형 45"/>
          <p:cNvSpPr/>
          <p:nvPr/>
        </p:nvSpPr>
        <p:spPr bwMode="auto">
          <a:xfrm>
            <a:off x="582985" y="1853794"/>
            <a:ext cx="5292000" cy="2154861"/>
          </a:xfrm>
          <a:prstGeom prst="rect">
            <a:avLst/>
          </a:prstGeom>
          <a:noFill/>
          <a:ln w="15875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48" name="AutoShape 279"/>
          <p:cNvSpPr>
            <a:spLocks noChangeArrowheads="1"/>
          </p:cNvSpPr>
          <p:nvPr/>
        </p:nvSpPr>
        <p:spPr bwMode="auto">
          <a:xfrm>
            <a:off x="1677825" y="2132820"/>
            <a:ext cx="358775" cy="17874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b="1" dirty="0" smtClean="0">
                <a:solidFill>
                  <a:schemeClr val="bg1"/>
                </a:solidFill>
                <a:latin typeface="가는각진제목체" pitchFamily="18" charset="-127"/>
                <a:ea typeface="가는각진제목체" pitchFamily="18" charset="-127"/>
              </a:rPr>
              <a:t>계산</a:t>
            </a:r>
            <a:endParaRPr kumimoji="0" lang="ko-KR" altLang="en-US" sz="900" b="1" dirty="0">
              <a:solidFill>
                <a:schemeClr val="bg1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49" name="TextBox 48"/>
          <p:cNvSpPr txBox="1">
            <a:spLocks noChangeArrowheads="1"/>
          </p:cNvSpPr>
          <p:nvPr/>
        </p:nvSpPr>
        <p:spPr bwMode="auto">
          <a:xfrm>
            <a:off x="860005" y="2112230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6)</a:t>
            </a:r>
            <a:endParaRPr lang="ko-KR" altLang="en-US" sz="9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51" name="TextBox 50"/>
          <p:cNvSpPr txBox="1">
            <a:spLocks noChangeArrowheads="1"/>
          </p:cNvSpPr>
          <p:nvPr/>
        </p:nvSpPr>
        <p:spPr bwMode="auto">
          <a:xfrm>
            <a:off x="739135" y="4534860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7)</a:t>
            </a:r>
            <a:endParaRPr lang="ko-KR" altLang="en-US" sz="9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57" name="TextBox 56"/>
          <p:cNvSpPr txBox="1">
            <a:spLocks noChangeArrowheads="1"/>
          </p:cNvSpPr>
          <p:nvPr/>
        </p:nvSpPr>
        <p:spPr bwMode="auto">
          <a:xfrm>
            <a:off x="424724" y="5330165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10)</a:t>
            </a:r>
            <a:endParaRPr lang="ko-KR" altLang="en-US" sz="9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59" name="AutoShape 279"/>
          <p:cNvSpPr>
            <a:spLocks noChangeArrowheads="1"/>
          </p:cNvSpPr>
          <p:nvPr/>
        </p:nvSpPr>
        <p:spPr bwMode="auto">
          <a:xfrm>
            <a:off x="2073875" y="5165575"/>
            <a:ext cx="358775" cy="14400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b="1" dirty="0" smtClean="0">
                <a:solidFill>
                  <a:schemeClr val="bg1"/>
                </a:solidFill>
                <a:latin typeface="가는각진제목체" pitchFamily="18" charset="-127"/>
                <a:ea typeface="가는각진제목체" pitchFamily="18" charset="-127"/>
              </a:rPr>
              <a:t>조회</a:t>
            </a:r>
            <a:endParaRPr kumimoji="0" lang="ko-KR" altLang="en-US" sz="900" b="1" dirty="0">
              <a:solidFill>
                <a:schemeClr val="bg1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60" name="TextBox 59"/>
          <p:cNvSpPr txBox="1">
            <a:spLocks noChangeArrowheads="1"/>
          </p:cNvSpPr>
          <p:nvPr/>
        </p:nvSpPr>
        <p:spPr bwMode="auto">
          <a:xfrm>
            <a:off x="739135" y="4716165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9)</a:t>
            </a:r>
            <a:endParaRPr lang="ko-KR" altLang="en-US" sz="9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72" name="AutoShape 279"/>
          <p:cNvSpPr>
            <a:spLocks noChangeArrowheads="1"/>
          </p:cNvSpPr>
          <p:nvPr/>
        </p:nvSpPr>
        <p:spPr bwMode="auto">
          <a:xfrm>
            <a:off x="1640540" y="4564778"/>
            <a:ext cx="358775" cy="14400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b="1" dirty="0" smtClean="0">
                <a:solidFill>
                  <a:schemeClr val="bg1"/>
                </a:solidFill>
                <a:latin typeface="가는각진제목체" pitchFamily="18" charset="-127"/>
                <a:ea typeface="가는각진제목체" pitchFamily="18" charset="-127"/>
              </a:rPr>
              <a:t>계산</a:t>
            </a:r>
            <a:endParaRPr kumimoji="0" lang="ko-KR" altLang="en-US" sz="900" b="1" dirty="0">
              <a:solidFill>
                <a:schemeClr val="bg1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73" name="TextBox 72"/>
          <p:cNvSpPr txBox="1">
            <a:spLocks noChangeArrowheads="1"/>
          </p:cNvSpPr>
          <p:nvPr/>
        </p:nvSpPr>
        <p:spPr bwMode="auto">
          <a:xfrm>
            <a:off x="442080" y="5116695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8)</a:t>
            </a:r>
            <a:endParaRPr lang="ko-KR" altLang="en-US" sz="9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74" name="AutoShape 279"/>
          <p:cNvSpPr>
            <a:spLocks noChangeArrowheads="1"/>
          </p:cNvSpPr>
          <p:nvPr/>
        </p:nvSpPr>
        <p:spPr bwMode="auto">
          <a:xfrm>
            <a:off x="1640540" y="4757658"/>
            <a:ext cx="358775" cy="14400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b="1" dirty="0" smtClean="0">
                <a:solidFill>
                  <a:schemeClr val="bg1"/>
                </a:solidFill>
                <a:latin typeface="가는각진제목체" pitchFamily="18" charset="-127"/>
                <a:ea typeface="가는각진제목체" pitchFamily="18" charset="-127"/>
              </a:rPr>
              <a:t>계산</a:t>
            </a:r>
            <a:endParaRPr kumimoji="0" lang="ko-KR" altLang="en-US" sz="900" b="1" dirty="0">
              <a:solidFill>
                <a:schemeClr val="bg1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75" name="TextBox 74"/>
          <p:cNvSpPr txBox="1">
            <a:spLocks noChangeArrowheads="1"/>
          </p:cNvSpPr>
          <p:nvPr/>
        </p:nvSpPr>
        <p:spPr bwMode="auto">
          <a:xfrm>
            <a:off x="427945" y="5505715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11)</a:t>
            </a:r>
            <a:endParaRPr lang="ko-KR" altLang="en-US" sz="9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76" name="AutoShape 279"/>
          <p:cNvSpPr>
            <a:spLocks noChangeArrowheads="1"/>
          </p:cNvSpPr>
          <p:nvPr/>
        </p:nvSpPr>
        <p:spPr bwMode="auto">
          <a:xfrm>
            <a:off x="2073875" y="5381605"/>
            <a:ext cx="358775" cy="14400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b="1" dirty="0" smtClean="0">
                <a:solidFill>
                  <a:schemeClr val="bg1"/>
                </a:solidFill>
                <a:latin typeface="가는각진제목체" pitchFamily="18" charset="-127"/>
                <a:ea typeface="가는각진제목체" pitchFamily="18" charset="-127"/>
              </a:rPr>
              <a:t>계산</a:t>
            </a:r>
            <a:endParaRPr kumimoji="0" lang="ko-KR" altLang="en-US" sz="900" b="1" dirty="0">
              <a:solidFill>
                <a:schemeClr val="bg1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77" name="AutoShape 279"/>
          <p:cNvSpPr>
            <a:spLocks noChangeArrowheads="1"/>
          </p:cNvSpPr>
          <p:nvPr/>
        </p:nvSpPr>
        <p:spPr bwMode="auto">
          <a:xfrm>
            <a:off x="2072600" y="5571925"/>
            <a:ext cx="358775" cy="14400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b="1" dirty="0" smtClean="0">
                <a:solidFill>
                  <a:schemeClr val="bg1"/>
                </a:solidFill>
                <a:latin typeface="가는각진제목체" pitchFamily="18" charset="-127"/>
                <a:ea typeface="가는각진제목체" pitchFamily="18" charset="-127"/>
              </a:rPr>
              <a:t>계산</a:t>
            </a:r>
            <a:endParaRPr kumimoji="0" lang="ko-KR" altLang="en-US" sz="900" b="1" dirty="0">
              <a:solidFill>
                <a:schemeClr val="bg1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80" name="AutoShape 279"/>
          <p:cNvSpPr>
            <a:spLocks noChangeArrowheads="1"/>
          </p:cNvSpPr>
          <p:nvPr/>
        </p:nvSpPr>
        <p:spPr bwMode="auto">
          <a:xfrm>
            <a:off x="5719400" y="1605730"/>
            <a:ext cx="358775" cy="21590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b="1" dirty="0">
                <a:solidFill>
                  <a:schemeClr val="bg1"/>
                </a:solidFill>
                <a:latin typeface="가는각진제목체" pitchFamily="18" charset="-127"/>
                <a:ea typeface="가는각진제목체" pitchFamily="18" charset="-127"/>
              </a:rPr>
              <a:t>저장</a:t>
            </a:r>
          </a:p>
        </p:txBody>
      </p:sp>
      <p:sp>
        <p:nvSpPr>
          <p:cNvPr id="81" name="TextBox 80"/>
          <p:cNvSpPr txBox="1">
            <a:spLocks noChangeArrowheads="1"/>
          </p:cNvSpPr>
          <p:nvPr/>
        </p:nvSpPr>
        <p:spPr bwMode="auto">
          <a:xfrm>
            <a:off x="5540655" y="1526842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12)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graphicFrame>
        <p:nvGraphicFramePr>
          <p:cNvPr id="45" name="표 44"/>
          <p:cNvGraphicFramePr>
            <a:graphicFrameLocks noGrp="1"/>
          </p:cNvGraphicFramePr>
          <p:nvPr/>
        </p:nvGraphicFramePr>
        <p:xfrm>
          <a:off x="550615" y="1412728"/>
          <a:ext cx="728662" cy="22860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728662"/>
              </a:tblGrid>
              <a:tr h="2160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dirty="0" smtClean="0">
                          <a:solidFill>
                            <a:schemeClr val="bg1"/>
                          </a:solidFill>
                          <a:latin typeface="Arial"/>
                          <a:ea typeface="가는각진제목체"/>
                          <a:cs typeface="+mn-cs"/>
                          <a:sym typeface="Arial"/>
                        </a:rPr>
                        <a:t>검색조건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3" name="타원 52"/>
          <p:cNvSpPr/>
          <p:nvPr/>
        </p:nvSpPr>
        <p:spPr>
          <a:xfrm>
            <a:off x="272350" y="119669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54" name="직사각형 53"/>
          <p:cNvSpPr/>
          <p:nvPr/>
        </p:nvSpPr>
        <p:spPr bwMode="auto">
          <a:xfrm>
            <a:off x="2217502" y="1425304"/>
            <a:ext cx="503188" cy="21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prstClr val="black"/>
              </a:solidFill>
            </a:endParaRPr>
          </a:p>
        </p:txBody>
      </p:sp>
      <p:sp>
        <p:nvSpPr>
          <p:cNvPr id="55" name="TextBox 36"/>
          <p:cNvSpPr txBox="1">
            <a:spLocks noChangeArrowheads="1"/>
          </p:cNvSpPr>
          <p:nvPr/>
        </p:nvSpPr>
        <p:spPr bwMode="auto">
          <a:xfrm>
            <a:off x="1460610" y="1425304"/>
            <a:ext cx="684000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900" dirty="0" err="1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프로젝트명</a:t>
            </a:r>
            <a:endParaRPr lang="ko-KR" altLang="en-US" sz="9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56" name="직사각형 55"/>
          <p:cNvSpPr/>
          <p:nvPr/>
        </p:nvSpPr>
        <p:spPr bwMode="auto">
          <a:xfrm>
            <a:off x="3693612" y="1424295"/>
            <a:ext cx="503188" cy="21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prstClr val="black"/>
              </a:solidFill>
            </a:endParaRPr>
          </a:p>
        </p:txBody>
      </p:sp>
      <p:sp>
        <p:nvSpPr>
          <p:cNvPr id="58" name="TextBox 36"/>
          <p:cNvSpPr txBox="1">
            <a:spLocks noChangeArrowheads="1"/>
          </p:cNvSpPr>
          <p:nvPr/>
        </p:nvSpPr>
        <p:spPr bwMode="auto">
          <a:xfrm>
            <a:off x="2936720" y="1424295"/>
            <a:ext cx="684000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9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견적차수</a:t>
            </a:r>
          </a:p>
        </p:txBody>
      </p:sp>
      <p:sp>
        <p:nvSpPr>
          <p:cNvPr id="62" name="TextBox 36"/>
          <p:cNvSpPr txBox="1">
            <a:spLocks noChangeArrowheads="1"/>
          </p:cNvSpPr>
          <p:nvPr/>
        </p:nvSpPr>
        <p:spPr bwMode="auto">
          <a:xfrm>
            <a:off x="4376920" y="1424295"/>
            <a:ext cx="684000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9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민감도코드</a:t>
            </a:r>
          </a:p>
        </p:txBody>
      </p:sp>
      <p:sp>
        <p:nvSpPr>
          <p:cNvPr id="63" name="타원 62"/>
          <p:cNvSpPr/>
          <p:nvPr/>
        </p:nvSpPr>
        <p:spPr>
          <a:xfrm>
            <a:off x="4785830" y="1087395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5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상세 </a:t>
            </a:r>
            <a:r>
              <a:rPr lang="en-US" altLang="ko-KR" dirty="0" smtClean="0">
                <a:solidFill>
                  <a:srgbClr val="000000"/>
                </a:solidFill>
              </a:rPr>
              <a:t>Spec_</a:t>
            </a:r>
            <a:r>
              <a:rPr lang="ko-KR" altLang="en-US" dirty="0" smtClean="0">
                <a:solidFill>
                  <a:srgbClr val="000000"/>
                </a:solidFill>
                <a:latin typeface="Arial"/>
                <a:ea typeface="가는각진제목체"/>
              </a:rPr>
              <a:t> </a:t>
            </a:r>
            <a:r>
              <a:rPr lang="en-US" altLang="ko-KR" dirty="0" smtClean="0">
                <a:solidFill>
                  <a:srgbClr val="000000"/>
                </a:solidFill>
                <a:latin typeface="Arial"/>
                <a:ea typeface="가는각진제목체"/>
              </a:rPr>
              <a:t>NPV</a:t>
            </a:r>
            <a:r>
              <a:rPr lang="ko-KR" altLang="en-US" dirty="0" smtClean="0">
                <a:solidFill>
                  <a:srgbClr val="000000"/>
                </a:solidFill>
                <a:latin typeface="Arial"/>
                <a:ea typeface="가는각진제목체"/>
              </a:rPr>
              <a:t>산출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3" name="Rectangle 33"/>
          <p:cNvSpPr>
            <a:spLocks noChangeArrowheads="1"/>
          </p:cNvSpPr>
          <p:nvPr/>
        </p:nvSpPr>
        <p:spPr bwMode="auto">
          <a:xfrm>
            <a:off x="416370" y="790575"/>
            <a:ext cx="8857230" cy="53181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4.  </a:t>
            </a:r>
            <a:r>
              <a:rPr kumimoji="0"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조정작업</a:t>
            </a:r>
            <a:endParaRPr kumimoji="0" lang="ko-KR" altLang="en-US" sz="12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ko-KR" altLang="en-US" sz="12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5)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산출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Process</a:t>
            </a: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   (1) 5)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의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Template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형성</a:t>
            </a:r>
            <a:endParaRPr kumimoji="0" lang="en-US" altLang="ko-KR" sz="120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      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투자내역 상세의 연도 범위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: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프로젝트 코드등록 </a:t>
            </a:r>
            <a:r>
              <a:rPr kumimoji="0" lang="ko-KR" altLang="en-US" sz="1200" dirty="0" err="1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당해부터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,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손익계산서의 물량공급 마지막 연도까지 </a:t>
            </a:r>
            <a:endParaRPr kumimoji="0" lang="en-US" altLang="ko-KR" sz="120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                                     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프로젝트 코드등록 연도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 ~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손익계산서 마지막 해</a:t>
            </a:r>
            <a:endParaRPr kumimoji="0" lang="en-US" altLang="ko-KR" sz="120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Wingdings" pitchFamily="2" charset="2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       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투자내역 상세 연도범위의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Column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수만큼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, </a:t>
            </a:r>
            <a:r>
              <a:rPr kumimoji="0" lang="en-US" altLang="ko-KR" sz="1200" dirty="0" err="1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Capex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투자 금액 입력할 공간 필요</a:t>
            </a:r>
            <a:endParaRPr kumimoji="0" lang="en-US" altLang="ko-KR" sz="120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Wingdings" pitchFamily="2" charset="2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endParaRPr kumimoji="0" lang="en-US" altLang="ko-KR" sz="120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7)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영업활동 현금흐름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산출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Logic (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연도범위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: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프로젝트 코드등록 연도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 ~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손익계산서 마지막 해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)</a:t>
            </a:r>
            <a:endParaRPr kumimoji="0" lang="en-US" altLang="ko-KR" sz="120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endParaRPr kumimoji="0" lang="en-US" altLang="ko-KR" sz="120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marL="92075" lvl="0" defTabSz="914400" fontAlgn="t">
              <a:defRPr/>
            </a:pP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   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영업활동 현금흐름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= EBITDA – </a:t>
            </a:r>
            <a:r>
              <a:rPr kumimoji="0" lang="ko-KR" altLang="en-US" sz="1200" dirty="0" err="1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순운전자본증감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– </a:t>
            </a:r>
            <a:r>
              <a:rPr kumimoji="0" lang="en-US" altLang="ko-KR" sz="1200" dirty="0" err="1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Capex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투자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–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법인세 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(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동일 연도 별로 계산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,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연도 내 값이 없는 경우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0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처리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)</a:t>
            </a:r>
          </a:p>
          <a:p>
            <a:pPr marL="92075" lvl="0" defTabSz="914400" fontAlgn="t">
              <a:defRPr/>
            </a:pP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  </a:t>
            </a:r>
          </a:p>
          <a:p>
            <a:pPr marL="92075" lvl="0" defTabSz="914400" fontAlgn="t">
              <a:defRPr/>
            </a:pP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9) PV(Present Value)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산출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Logic</a:t>
            </a:r>
          </a:p>
          <a:p>
            <a:pPr marL="92075" lvl="0" defTabSz="914400" fontAlgn="t">
              <a:defRPr/>
            </a:pPr>
            <a:endParaRPr kumimoji="0" lang="en-US" altLang="ko-KR" sz="120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pPr marL="92075" lvl="0" defTabSz="914400" fontAlgn="t">
              <a:defRPr/>
            </a:pP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    PV =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영업활동 현금흐름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* (1+WACC)^(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프로젝트 코드등록 당해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 –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영업활동 현금흐름 연도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)</a:t>
            </a:r>
          </a:p>
          <a:p>
            <a:pPr marL="92075" lvl="0" defTabSz="914400" fontAlgn="t">
              <a:defRPr/>
            </a:pPr>
            <a:endParaRPr kumimoji="0" lang="en-US" altLang="ko-KR" sz="120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pPr marL="92075" lvl="0" defTabSz="914400" fontAlgn="t">
              <a:defRPr/>
            </a:pP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 11)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회수기간 산출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Logic</a:t>
            </a:r>
          </a:p>
          <a:p>
            <a:pPr marL="92075" lvl="0" defTabSz="914400" fontAlgn="t">
              <a:defRPr/>
            </a:pP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      (1) NPV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에서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PV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최종연도 값을 뺀다</a:t>
            </a:r>
            <a:endParaRPr kumimoji="0" lang="en-US" altLang="ko-KR" sz="120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pPr marL="92075" lvl="0" defTabSz="914400" fontAlgn="t">
              <a:defRPr/>
            </a:pP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      (2) (1)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이 양수라면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, (1)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의 결과값에서 최종연도의 직전연도값을 뺀다</a:t>
            </a:r>
            <a:endParaRPr kumimoji="0" lang="en-US" altLang="ko-KR" sz="120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pPr marL="92075" lvl="0" defTabSz="914400" fontAlgn="t">
              <a:defRPr/>
            </a:pP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      (3) NPV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에서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PV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값을 연도 역순으로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(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누적으로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)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 빼가면서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0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보다 작아지는 해를 찾는다 </a:t>
            </a:r>
            <a:endParaRPr kumimoji="0" lang="en-US" altLang="ko-KR" sz="120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pPr marL="92075" lvl="0" defTabSz="914400" fontAlgn="t">
              <a:defRPr/>
            </a:pP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      (4)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‘(3)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의 결과값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-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최초 투자해 연도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-1’+ ‘(3)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의 결과값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-1’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연도까지의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PV </a:t>
            </a:r>
            <a:r>
              <a:rPr kumimoji="0" lang="ko-KR" altLang="en-US" sz="1200" dirty="0" err="1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누적액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(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연도 순차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)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절대값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/(3)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의 결과값 해의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PV</a:t>
            </a:r>
          </a:p>
          <a:p>
            <a:pPr marL="177800" indent="-93663" fontAlgn="ctr" latinLnBrk="0">
              <a:lnSpc>
                <a:spcPct val="140000"/>
              </a:lnSpc>
              <a:defRPr/>
            </a:pPr>
            <a:endParaRPr kumimoji="0" lang="en-US" altLang="ko-KR" sz="120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Wingdings" pitchFamily="2" charset="2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endParaRPr kumimoji="0" lang="en-US" altLang="ko-KR" sz="120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Wingdings" pitchFamily="2" charset="2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en-US" altLang="ko-KR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Wingdings" pitchFamily="2" charset="2"/>
              </a:rPr>
              <a:t>  </a:t>
            </a:r>
            <a:endParaRPr kumimoji="0" lang="en-US" altLang="ko-KR" sz="105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Wingdings" pitchFamily="2" charset="2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5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chemeClr val="tx1"/>
          </a:solidFill>
          <a:prstDash val="dash"/>
          <a:round/>
          <a:headEnd/>
          <a:tailEnd/>
        </a:ln>
      </a:spPr>
      <a:bodyPr wrap="none" anchor="ctr"/>
      <a:lstStyle>
        <a:defPPr eaLnBrk="0" latinLnBrk="0" hangingPunct="0">
          <a:defRPr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6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chemeClr val="tx1"/>
          </a:solidFill>
          <a:prstDash val="dash"/>
          <a:round/>
          <a:headEnd/>
          <a:tailEnd/>
        </a:ln>
      </a:spPr>
      <a:bodyPr wrap="none" anchor="ctr"/>
      <a:lstStyle>
        <a:defPPr eaLnBrk="0" latinLnBrk="0" hangingPunct="0">
          <a:defRPr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50214</TotalTime>
  <Words>2614</Words>
  <Application>Microsoft Office PowerPoint</Application>
  <PresentationFormat>A4 용지(210x297mm)</PresentationFormat>
  <Paragraphs>1210</Paragraphs>
  <Slides>13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13</vt:i4>
      </vt:variant>
    </vt:vector>
  </HeadingPairs>
  <TitlesOfParts>
    <vt:vector size="15" baseType="lpstr">
      <vt:lpstr>5_tb4_onscreen_v2.1</vt:lpstr>
      <vt:lpstr>6_tb4_onscreen_v2.1</vt:lpstr>
      <vt:lpstr>PowerPoint 프레젠테이션</vt:lpstr>
      <vt:lpstr>PowerPoint 프레젠테이션</vt:lpstr>
      <vt:lpstr>PowerPoint 프레젠테이션</vt:lpstr>
      <vt:lpstr>상세 Spec_ 수익성 분석 사전정보 입력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상세 Spec_ NPV산출</vt:lpstr>
      <vt:lpstr>PowerPoint 프레젠테이션</vt:lpstr>
      <vt:lpstr>상세 Spec_ NPV산출</vt:lpstr>
    </vt:vector>
  </TitlesOfParts>
  <Company>Samil PwC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김성은</dc:creator>
  <cp:lastModifiedBy>JJun</cp:lastModifiedBy>
  <cp:revision>7045</cp:revision>
  <cp:lastPrinted>2012-11-21T23:07:40Z</cp:lastPrinted>
  <dcterms:created xsi:type="dcterms:W3CDTF">2011-12-22T02:00:23Z</dcterms:created>
  <dcterms:modified xsi:type="dcterms:W3CDTF">2013-05-16T07:26:44Z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B template version">
    <vt:lpwstr>6</vt:lpwstr>
  </property>
  <property fmtid="{D5CDD505-2E9C-101B-9397-08002B2CF9AE}" pid="3" name="TB template type">
    <vt:lpwstr>Onscreen</vt:lpwstr>
  </property>
  <property fmtid="{D5CDD505-2E9C-101B-9397-08002B2CF9AE}" pid="4" name="Template created by">
    <vt:lpwstr>PwC</vt:lpwstr>
  </property>
  <property fmtid="{D5CDD505-2E9C-101B-9397-08002B2CF9AE}" pid="5" name="Template version">
    <vt:lpwstr>6</vt:lpwstr>
  </property>
</Properties>
</file>