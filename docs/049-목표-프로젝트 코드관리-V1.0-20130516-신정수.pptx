
<file path=[Content_Types].xml><?xml version="1.0" encoding="utf-8"?>
<Types xmlns="http://schemas.openxmlformats.org/package/2006/content-types"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jpeg" ContentType="image/jpeg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4675" r:id="rId1"/>
    <p:sldMasterId id="2147484678" r:id="rId2"/>
    <p:sldMasterId id="2147484681" r:id="rId3"/>
  </p:sldMasterIdLst>
  <p:notesMasterIdLst>
    <p:notesMasterId r:id="rId8"/>
  </p:notesMasterIdLst>
  <p:handoutMasterIdLst>
    <p:handoutMasterId r:id="rId9"/>
  </p:handoutMasterIdLst>
  <p:sldIdLst>
    <p:sldId id="2254" r:id="rId4"/>
    <p:sldId id="2250" r:id="rId5"/>
    <p:sldId id="2251" r:id="rId6"/>
    <p:sldId id="2255" r:id="rId7"/>
  </p:sldIdLst>
  <p:sldSz cx="9906000" cy="6858000" type="A4"/>
  <p:notesSz cx="6797675" cy="9926638"/>
  <p:defaultTextStyle>
    <a:defPPr>
      <a:defRPr lang="en-US"/>
    </a:defPPr>
    <a:lvl1pPr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1pPr>
    <a:lvl2pPr marL="474382" indent="-46009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2pPr>
    <a:lvl3pPr marL="953522" indent="-95196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3pPr>
    <a:lvl4pPr marL="1432663" indent="-144378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4pPr>
    <a:lvl5pPr marL="1911802" indent="-193560" algn="l" defTabSz="953522" rtl="0" fontAlgn="base" latinLnBrk="1">
      <a:spcBef>
        <a:spcPct val="0"/>
      </a:spcBef>
      <a:spcAft>
        <a:spcPct val="0"/>
      </a:spcAft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5pPr>
    <a:lvl6pPr marL="2284644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6pPr>
    <a:lvl7pPr marL="2741570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7pPr>
    <a:lvl8pPr marL="3198501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8pPr>
    <a:lvl9pPr marL="3655428" algn="l" defTabSz="913856" rtl="0" eaLnBrk="1" latinLnBrk="1" hangingPunct="1">
      <a:defRPr kumimoji="1" sz="1900" kern="1200">
        <a:solidFill>
          <a:schemeClr val="tx1"/>
        </a:solidFill>
        <a:latin typeface="굴림" charset="-127"/>
        <a:ea typeface="굴림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000000"/>
    <a:srgbClr val="0000CC"/>
    <a:srgbClr val="CC0000"/>
    <a:srgbClr val="DC6900"/>
    <a:srgbClr val="FFFF66"/>
    <a:srgbClr val="333333"/>
    <a:srgbClr val="FF9999"/>
    <a:srgbClr val="FFCCCC"/>
    <a:srgbClr val="FFF7E1"/>
    <a:srgbClr val="FFFD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69D073F8-1565-44D7-B386-08B59EADF2EE}">
  <a:tblStyle styleId="{69D073F8-1565-44D7-B386-08B59EADF2EE}" styleName="PwC Table">
    <a:wholeTbl>
      <a:tcTxStyle>
        <a:fontRef idx="maj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bottom>
            <a:ln w="38100" cmpd="sng">
              <a:noFill/>
            </a:ln>
          </a:bottom>
        </a:tcBdr>
      </a:tcStyle>
    </a:band1H>
    <a:band2H>
      <a:tcStyle>
        <a:tcBdr>
          <a:bottom>
            <a:ln w="38100" cmpd="sng">
              <a:noFill/>
            </a:ln>
          </a:bottom>
        </a:tcBdr>
      </a:tcStyle>
    </a:band2H>
    <a:firstCol>
      <a:tcTxStyle i="on">
        <a:fontRef idx="major">
          <a:prstClr val="black"/>
        </a:fontRef>
        <a:schemeClr val="dk1"/>
      </a:tcTxStyle>
      <a:tcStyle>
        <a:tcBdr/>
        <a:fill>
          <a:noFill/>
        </a:fill>
      </a:tcStyle>
    </a:firstCol>
    <a:firstRow>
      <a:tcTxStyle b="on">
        <a:fontRef idx="major">
          <a:prstClr val="black"/>
        </a:fontRef>
        <a:schemeClr val="dk2"/>
      </a:tcTxStyle>
      <a:tcStyle>
        <a:tcBdr>
          <a:bottom>
            <a:ln w="38100" cmpd="sng">
              <a:noFill/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206" autoAdjust="0"/>
    <p:restoredTop sz="82572" autoAdjust="0"/>
  </p:normalViewPr>
  <p:slideViewPr>
    <p:cSldViewPr snapToObjects="1">
      <p:cViewPr>
        <p:scale>
          <a:sx n="75" d="100"/>
          <a:sy n="75" d="100"/>
        </p:scale>
        <p:origin x="-1314" y="114"/>
      </p:cViewPr>
      <p:guideLst>
        <p:guide orient="horz" pos="300"/>
        <p:guide orient="horz" pos="2296"/>
        <p:guide orient="horz" pos="1661"/>
        <p:guide pos="6023"/>
      </p:guideLst>
    </p:cSldViewPr>
  </p:slideViewPr>
  <p:outlineViewPr>
    <p:cViewPr>
      <p:scale>
        <a:sx n="33" d="100"/>
        <a:sy n="33" d="100"/>
      </p:scale>
      <p:origin x="0" y="10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Objects="1">
      <p:cViewPr varScale="1">
        <p:scale>
          <a:sx n="49" d="100"/>
          <a:sy n="49" d="100"/>
        </p:scale>
        <p:origin x="-2712" y="-108"/>
      </p:cViewPr>
      <p:guideLst>
        <p:guide orient="horz" pos="3127"/>
        <p:guide pos="2141"/>
      </p:guideLst>
    </p:cSldViewPr>
  </p:notesViewPr>
  <p:gridSpacing cx="73737788" cy="7373778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598B7DD0-F933-4256-AFA8-DB79D4CAE8E1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0790A42-1C5E-4D8C-9AE2-6811605AC8D4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33075673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645" y="0"/>
            <a:ext cx="2945448" cy="496253"/>
          </a:xfrm>
          <a:prstGeom prst="rect">
            <a:avLst/>
          </a:prstGeom>
        </p:spPr>
        <p:txBody>
          <a:bodyPr vert="horz" lIns="91658" tIns="45830" rIns="91658" bIns="45830" rtlCol="0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B733C386-9AAD-4375-8F24-A34430528E7D}" type="datetimeFigureOut">
              <a:rPr lang="en-US" altLang="ko-KR"/>
              <a:pPr>
                <a:defRPr/>
              </a:pPr>
              <a:t>5/16/2013</a:t>
            </a:fld>
            <a:endParaRPr lang="ko-KR" alt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4538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658" tIns="45830" rIns="91658" bIns="45830" rtlCol="0" anchor="ctr"/>
          <a:lstStyle/>
          <a:p>
            <a:pPr lvl="0"/>
            <a:endParaRPr lang="en-GB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085" y="4715193"/>
            <a:ext cx="5437506" cy="4466274"/>
          </a:xfrm>
          <a:prstGeom prst="rect">
            <a:avLst/>
          </a:prstGeom>
        </p:spPr>
        <p:txBody>
          <a:bodyPr vert="horz" lIns="91658" tIns="45830" rIns="91658" bIns="45830" rtlCol="0">
            <a:normAutofit/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  <a:endParaRPr lang="ko-KR" alt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l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ko-KR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645" y="9428801"/>
            <a:ext cx="2945448" cy="496252"/>
          </a:xfrm>
          <a:prstGeom prst="rect">
            <a:avLst/>
          </a:prstGeom>
        </p:spPr>
        <p:txBody>
          <a:bodyPr vert="horz" lIns="91658" tIns="45830" rIns="91658" bIns="45830" rtlCol="0" anchor="b"/>
          <a:lstStyle>
            <a:lvl1pPr algn="r" defTabSz="1017069" fontAlgn="auto" latinLnBrk="0">
              <a:spcBef>
                <a:spcPts val="0"/>
              </a:spcBef>
              <a:spcAft>
                <a:spcPts val="0"/>
              </a:spcAft>
              <a:defRPr kumimoji="0" sz="12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fld id="{DBE75456-4044-433B-A0B1-1CCD6A62A8D3}" type="slidenum">
              <a:rPr lang="en-US" altLang="ko-KR"/>
              <a:pPr>
                <a:defRPr/>
              </a:pPr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="" xmlns:p14="http://schemas.microsoft.com/office/powerpoint/2010/main" val="986330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47438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2pPr>
    <a:lvl3pPr marL="95352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3pPr>
    <a:lvl4pPr marL="1432663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4pPr>
    <a:lvl5pPr marL="1911802" algn="l" defTabSz="953522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5pPr>
    <a:lvl6pPr marL="2393022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871627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350230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828833" algn="l" defTabSz="95720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4538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3449BE4-5C86-4C49-AD04-A69537C68BBF}" type="slidenum">
              <a:rPr lang="ko-KR" altLang="en-US" smtClean="0">
                <a:solidFill>
                  <a:prstClr val="black"/>
                </a:solidFill>
              </a:rPr>
              <a:pPr>
                <a:defRPr/>
              </a:pPr>
              <a:t>0</a:t>
            </a:fld>
            <a:endParaRPr lang="ko-KR" altLang="en-US" dirty="0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 userDrawn="1"/>
        </p:nvSpPr>
        <p:spPr>
          <a:xfrm>
            <a:off x="6681193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6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9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6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5" name="Group 239"/>
          <p:cNvGraphicFramePr>
            <a:graphicFrameLocks noGrp="1"/>
          </p:cNvGraphicFramePr>
          <p:nvPr userDrawn="1"/>
        </p:nvGraphicFramePr>
        <p:xfrm>
          <a:off x="200340" y="260561"/>
          <a:ext cx="9505188" cy="6120849"/>
        </p:xfrm>
        <a:graphic>
          <a:graphicData uri="http://schemas.openxmlformats.org/drawingml/2006/table">
            <a:tbl>
              <a:tblPr/>
              <a:tblGrid>
                <a:gridCol w="864120"/>
                <a:gridCol w="1368190"/>
                <a:gridCol w="1152160"/>
                <a:gridCol w="2547369"/>
                <a:gridCol w="1125141"/>
                <a:gridCol w="2448208"/>
              </a:tblGrid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시스템명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목표원가시스템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Main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Sub Process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ID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화면명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작성일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작성자</a:t>
                      </a:r>
                    </a:p>
                  </a:txBody>
                  <a:tcPr anchor="ctr" horzOverflow="overflow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3132">
                <a:tc rowSpan="2" gridSpan="4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화면기능 설명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61453">
                <a:tc gridSpan="4" v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6681192" y="6453336"/>
            <a:ext cx="3024336" cy="21602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ko-KR" altLang="en-US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목표원가 관리시스템 구축 </a:t>
            </a:r>
            <a:r>
              <a:rPr lang="en-US" altLang="ko-KR" sz="1400" b="1" dirty="0" smtClean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TFT</a:t>
            </a:r>
            <a:endParaRPr lang="ko-KR" altLang="en-US" sz="1400" b="1" dirty="0">
              <a:solidFill>
                <a:srgbClr val="000000"/>
              </a:solidFill>
              <a:latin typeface="가는각진제목체" pitchFamily="18" charset="-127"/>
              <a:ea typeface="가는각진제목체" pitchFamily="18" charset="-127"/>
            </a:endParaRPr>
          </a:p>
        </p:txBody>
      </p:sp>
      <p:pic>
        <p:nvPicPr>
          <p:cNvPr id="4" name="Picture 4" descr="현대다이모스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4488" y="6597352"/>
            <a:ext cx="718561" cy="2606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3551857912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6" r:id="rId1"/>
    <p:sldLayoutId id="2147484680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79" r:id="rId1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0500" y="906463"/>
            <a:ext cx="9513888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GB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title"/>
          </p:nvPr>
        </p:nvSpPr>
        <p:spPr bwMode="black">
          <a:xfrm>
            <a:off x="227014" y="142875"/>
            <a:ext cx="7115175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ko-KR" smtClean="0"/>
              <a:t>Click to edit Master title style</a:t>
            </a:r>
          </a:p>
        </p:txBody>
      </p:sp>
      <p:sp>
        <p:nvSpPr>
          <p:cNvPr id="2719749" name="Rectangle 5"/>
          <p:cNvSpPr>
            <a:spLocks noChangeArrowheads="1"/>
          </p:cNvSpPr>
          <p:nvPr/>
        </p:nvSpPr>
        <p:spPr bwMode="blackWhite">
          <a:xfrm>
            <a:off x="-15874" y="247652"/>
            <a:ext cx="153988" cy="504825"/>
          </a:xfrm>
          <a:prstGeom prst="rect">
            <a:avLst/>
          </a:prstGeom>
          <a:solidFill>
            <a:schemeClr val="bg2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80000" tIns="72000" rIns="180000" bIns="36000"/>
          <a:lstStyle/>
          <a:p>
            <a:pPr algn="r" defTabSz="914400" latinLnBrk="0">
              <a:buSzPct val="90000"/>
              <a:defRPr/>
            </a:pPr>
            <a:endParaRPr kumimoji="0" lang="en-US" altLang="ko-KR" sz="1200" dirty="0">
              <a:solidFill>
                <a:srgbClr val="8BCBE6"/>
              </a:solidFill>
              <a:latin typeface="Arial" pitchFamily="34" charset="0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7" name="Line 133"/>
          <p:cNvSpPr>
            <a:spLocks noChangeShapeType="1"/>
          </p:cNvSpPr>
          <p:nvPr userDrawn="1"/>
        </p:nvSpPr>
        <p:spPr bwMode="auto">
          <a:xfrm>
            <a:off x="395289" y="6423356"/>
            <a:ext cx="9159875" cy="0"/>
          </a:xfrm>
          <a:prstGeom prst="line">
            <a:avLst/>
          </a:prstGeom>
          <a:noFill/>
          <a:ln w="12700">
            <a:solidFill>
              <a:srgbClr val="333399"/>
            </a:solidFill>
            <a:round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ko-KR" altLang="en-US">
              <a:solidFill>
                <a:srgbClr val="3A4972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82" r:id="rId1"/>
    <p:sldLayoutId id="2147484683" r:id="rId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pitchFamily="34" charset="0"/>
          <a:ea typeface="맑은 고딕" pitchFamily="50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맑은 고딕" pitchFamily="50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1600" b="1">
          <a:solidFill>
            <a:schemeClr val="bg2"/>
          </a:solidFill>
          <a:latin typeface="Arial" charset="0"/>
          <a:ea typeface="돋움" pitchFamily="50" charset="-127"/>
        </a:defRPr>
      </a:lvl9pPr>
    </p:titleStyle>
    <p:bodyStyle>
      <a:lvl1pPr marL="342900" indent="-342900" algn="l" defTabSz="695325" rtl="0" eaLnBrk="0" fontAlgn="base" latinLnBrk="1" hangingPunct="0">
        <a:spcBef>
          <a:spcPct val="20000"/>
        </a:spcBef>
        <a:spcAft>
          <a:spcPct val="20000"/>
        </a:spcAft>
        <a:buSzPct val="90000"/>
        <a:buFont typeface="Arial" pitchFamily="34" charset="0"/>
        <a:defRPr kumimoji="1" sz="1600" b="1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358775" indent="-35718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2pPr>
      <a:lvl3pPr marL="723900" indent="-363538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3pPr>
      <a:lvl4pPr marL="1076325" indent="-350838" algn="l" defTabSz="695325" rtl="0" eaLnBrk="0" fontAlgn="base" latinLnBrk="1" hangingPunct="0">
        <a:spcBef>
          <a:spcPct val="0"/>
        </a:spcBef>
        <a:spcAft>
          <a:spcPct val="20000"/>
        </a:spcAft>
        <a:buChar char="•"/>
        <a:defRPr kumimoji="1" sz="2400">
          <a:solidFill>
            <a:schemeClr val="bg2"/>
          </a:solidFill>
          <a:latin typeface="+mn-lt"/>
          <a:ea typeface="+mn-ea"/>
        </a:defRPr>
      </a:lvl4pPr>
      <a:lvl5pPr marL="1438275" indent="-360363" algn="l" defTabSz="695325" rtl="0" eaLnBrk="0" fontAlgn="base" latinLnBrk="1" hangingPunct="0">
        <a:spcBef>
          <a:spcPct val="0"/>
        </a:spcBef>
        <a:spcAft>
          <a:spcPct val="20000"/>
        </a:spcAft>
        <a:buFont typeface="Arial" pitchFamily="34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5pPr>
      <a:lvl6pPr marL="18954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6pPr>
      <a:lvl7pPr marL="23526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7pPr>
      <a:lvl8pPr marL="28098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8pPr>
      <a:lvl9pPr marL="3267075" indent="-360363" algn="l" defTabSz="695325" rtl="0" fontAlgn="base" latinLnBrk="1">
        <a:spcBef>
          <a:spcPct val="0"/>
        </a:spcBef>
        <a:spcAft>
          <a:spcPct val="20000"/>
        </a:spcAft>
        <a:buFont typeface="Arial" charset="0"/>
        <a:buChar char="-"/>
        <a:defRPr kumimoji="1" sz="2400">
          <a:solidFill>
            <a:schemeClr val="bg2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/>
        </p:nvSpPr>
        <p:spPr bwMode="auto">
          <a:xfrm>
            <a:off x="0" y="531815"/>
            <a:ext cx="9906000" cy="482447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grpSp>
        <p:nvGrpSpPr>
          <p:cNvPr id="2" name="그룹 1"/>
          <p:cNvGrpSpPr>
            <a:grpSpLocks/>
          </p:cNvGrpSpPr>
          <p:nvPr/>
        </p:nvGrpSpPr>
        <p:grpSpPr bwMode="auto">
          <a:xfrm>
            <a:off x="415926" y="406402"/>
            <a:ext cx="1944688" cy="358775"/>
            <a:chOff x="2208212" y="2187772"/>
            <a:chExt cx="5959947" cy="1469677"/>
          </a:xfrm>
        </p:grpSpPr>
        <p:pic>
          <p:nvPicPr>
            <p:cNvPr id="5127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3" cstate="print"/>
            <a:srcRect t="31873" r="30904" b="38634"/>
            <a:stretch>
              <a:fillRect/>
            </a:stretch>
          </p:blipFill>
          <p:spPr bwMode="auto">
            <a:xfrm>
              <a:off x="2208212" y="2187772"/>
              <a:ext cx="4429333" cy="14060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5128" name="Picture 2" descr="C:\Documents and Settings\admin\바탕 화면\제목 ss없음-1.jpg"/>
            <p:cNvPicPr>
              <a:picLocks noChangeAspect="1" noChangeArrowheads="1"/>
            </p:cNvPicPr>
            <p:nvPr/>
          </p:nvPicPr>
          <p:blipFill>
            <a:blip r:embed="rId4" cstate="print"/>
            <a:srcRect l="68555" t="31873" b="28601"/>
            <a:stretch>
              <a:fillRect/>
            </a:stretch>
          </p:blipFill>
          <p:spPr bwMode="auto">
            <a:xfrm>
              <a:off x="6602819" y="2194115"/>
              <a:ext cx="1565340" cy="14633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" name="Text Box 4"/>
          <p:cNvSpPr txBox="1">
            <a:spLocks noChangeArrowheads="1"/>
          </p:cNvSpPr>
          <p:nvPr/>
        </p:nvSpPr>
        <p:spPr bwMode="auto">
          <a:xfrm>
            <a:off x="3872860" y="5284320"/>
            <a:ext cx="3312408" cy="4121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03333" tIns="51667" rIns="103333" bIns="51667" anchor="ctr">
            <a:spAutoFit/>
          </a:bodyPr>
          <a:lstStyle/>
          <a:p>
            <a:pPr defTabSz="914400"/>
            <a:r>
              <a:rPr lang="ko-KR" altLang="en-US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목표원가관리시스템 구축 </a:t>
            </a:r>
            <a:r>
              <a:rPr lang="en-US" altLang="ko-KR" sz="2000" b="1" dirty="0" smtClean="0">
                <a:solidFill>
                  <a:srgbClr val="000000">
                    <a:lumMod val="95000"/>
                    <a:lumOff val="5000"/>
                  </a:srgbClr>
                </a:solidFill>
                <a:latin typeface="Arial"/>
                <a:ea typeface="가는각진제목체"/>
              </a:rPr>
              <a:t>TFT</a:t>
            </a:r>
            <a:endParaRPr lang="ko-KR" altLang="en-US" sz="2000" b="1" dirty="0">
              <a:solidFill>
                <a:srgbClr val="000000">
                  <a:lumMod val="95000"/>
                  <a:lumOff val="5000"/>
                </a:srgbClr>
              </a:solidFill>
              <a:latin typeface="Arial"/>
              <a:ea typeface="가는각진제목체"/>
            </a:endParaRPr>
          </a:p>
        </p:txBody>
      </p:sp>
      <p:pic>
        <p:nvPicPr>
          <p:cNvPr id="11" name="Picture 394" descr="현대다이모스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26381" t="20050" r="27190" b="56340"/>
          <a:stretch>
            <a:fillRect/>
          </a:stretch>
        </p:blipFill>
        <p:spPr bwMode="auto">
          <a:xfrm>
            <a:off x="2648716" y="5229250"/>
            <a:ext cx="1296144" cy="441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Rectangle 29"/>
          <p:cNvSpPr>
            <a:spLocks noChangeArrowheads="1"/>
          </p:cNvSpPr>
          <p:nvPr/>
        </p:nvSpPr>
        <p:spPr bwMode="auto">
          <a:xfrm>
            <a:off x="948126" y="1782052"/>
            <a:ext cx="7965315" cy="2189428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2"/>
            </a:solidFill>
            <a:miter lim="800000"/>
            <a:headEnd/>
            <a:tailEnd/>
          </a:ln>
          <a:effectLst>
            <a:outerShdw dist="107763" dir="2700000" algn="ctr" rotWithShape="0">
              <a:schemeClr val="bg2">
                <a:alpha val="50000"/>
              </a:schemeClr>
            </a:outerShdw>
          </a:effectLst>
        </p:spPr>
        <p:txBody>
          <a:bodyPr wrap="none" lIns="91339" tIns="180000" rIns="91339" bIns="45669" anchor="t"/>
          <a:lstStyle/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20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목표원가관리 시스템 </a:t>
            </a:r>
            <a:endParaRPr lang="en-US" altLang="ko-KR" sz="2000" b="1" dirty="0" smtClean="0">
              <a:solidFill>
                <a:srgbClr val="000000"/>
              </a:solidFill>
              <a:latin typeface="Arial"/>
              <a:ea typeface="가는각진제목체"/>
            </a:endParaRP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화면</a:t>
            </a:r>
            <a:r>
              <a:rPr lang="en-US" altLang="ko-KR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/</a:t>
            </a:r>
            <a:r>
              <a:rPr lang="ko-KR" altLang="en-US" sz="3200" b="1" dirty="0" smtClean="0">
                <a:solidFill>
                  <a:srgbClr val="000000"/>
                </a:solidFill>
                <a:latin typeface="Arial"/>
                <a:ea typeface="가는각진제목체"/>
              </a:rPr>
              <a:t>프로그램 개발요청서</a:t>
            </a:r>
          </a:p>
          <a:p>
            <a:pPr algn="ctr">
              <a:lnSpc>
                <a:spcPct val="150000"/>
              </a:lnSpc>
              <a:spcBef>
                <a:spcPct val="10000"/>
              </a:spcBef>
              <a:buFont typeface="Wingdings" pitchFamily="2" charset="2"/>
              <a:buNone/>
              <a:defRPr/>
            </a:pPr>
            <a:endParaRPr lang="en-US" altLang="ko-KR" sz="1200" b="1" dirty="0" smtClean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7" name="TextBox 6"/>
          <p:cNvSpPr txBox="1">
            <a:spLocks noChangeArrowheads="1"/>
          </p:cNvSpPr>
          <p:nvPr/>
        </p:nvSpPr>
        <p:spPr bwMode="auto">
          <a:xfrm>
            <a:off x="733712" y="1196690"/>
            <a:ext cx="643591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300">
                <a:solidFill>
                  <a:srgbClr val="000000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defTabSz="914400" eaLnBrk="1" hangingPunct="1"/>
            <a:r>
              <a:rPr lang="en-US" altLang="ko-KR" sz="1800" dirty="0">
                <a:latin typeface="Arial"/>
                <a:ea typeface="가는각진제목체"/>
                <a:cs typeface="Arial" charset="0"/>
              </a:rPr>
              <a:t>『 </a:t>
            </a:r>
            <a:r>
              <a:rPr lang="ko-KR" altLang="en-US" sz="1800" b="1" dirty="0">
                <a:solidFill>
                  <a:srgbClr val="606060"/>
                </a:solidFill>
                <a:latin typeface="Arial"/>
                <a:ea typeface="가는각진제목체"/>
              </a:rPr>
              <a:t>전진적 </a:t>
            </a:r>
            <a:r>
              <a:rPr lang="ko-KR" altLang="en-US" sz="1800" b="1" dirty="0" smtClean="0">
                <a:solidFill>
                  <a:srgbClr val="606060"/>
                </a:solidFill>
                <a:latin typeface="Arial"/>
                <a:ea typeface="가는각진제목체"/>
              </a:rPr>
              <a:t>원가관리 업무체계 확립</a:t>
            </a:r>
            <a:r>
              <a:rPr lang="en-US" altLang="ko-KR" sz="1800" dirty="0" smtClean="0">
                <a:latin typeface="Arial"/>
                <a:ea typeface="가는각진제목체"/>
                <a:cs typeface="Arial" charset="0"/>
              </a:rPr>
              <a:t>』</a:t>
            </a:r>
            <a:endParaRPr lang="ko-KR" altLang="en-US" sz="1800" dirty="0">
              <a:latin typeface="Arial"/>
              <a:ea typeface="가는각진제목체"/>
              <a:cs typeface="Arial" charset="0"/>
            </a:endParaRPr>
          </a:p>
        </p:txBody>
      </p:sp>
      <p:sp>
        <p:nvSpPr>
          <p:cNvPr id="19" name="직사각형 18"/>
          <p:cNvSpPr/>
          <p:nvPr/>
        </p:nvSpPr>
        <p:spPr bwMode="auto">
          <a:xfrm>
            <a:off x="200340" y="6237390"/>
            <a:ext cx="9705660" cy="62061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0" name="직사각형 19"/>
          <p:cNvSpPr/>
          <p:nvPr/>
        </p:nvSpPr>
        <p:spPr bwMode="auto">
          <a:xfrm>
            <a:off x="0" y="193675"/>
            <a:ext cx="200340" cy="571500"/>
          </a:xfrm>
          <a:prstGeom prst="rect">
            <a:avLst/>
          </a:prstGeom>
          <a:solidFill>
            <a:schemeClr val="bg1"/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algn="ctr" eaLnBrk="0" latinLnBrk="0" hangingPunct="0"/>
            <a:endParaRPr lang="ko-KR" altLang="en-US" dirty="0" smtClean="0">
              <a:solidFill>
                <a:srgbClr val="3A4972"/>
              </a:solidFill>
              <a:latin typeface="맑은 고딕" pitchFamily="50" charset="-127"/>
              <a:ea typeface="맑은 고딕" pitchFamily="50" charset="-127"/>
              <a:cs typeface="Arial" pitchFamily="34" charset="0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562834" y="3375663"/>
            <a:ext cx="24288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10000"/>
              </a:spcBef>
              <a:defRPr/>
            </a:pP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-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049.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프로젝트 코드관리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(</a:t>
            </a:r>
            <a:r>
              <a:rPr lang="ko-KR" altLang="en-US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목표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)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 </a:t>
            </a:r>
            <a:r>
              <a:rPr lang="en-US" altLang="ko-KR" sz="1400" b="1" dirty="0" smtClean="0">
                <a:solidFill>
                  <a:srgbClr val="000000"/>
                </a:solidFill>
                <a:latin typeface="Arial"/>
                <a:ea typeface="가는각진제목체"/>
                <a:cs typeface="Arial" charset="0"/>
              </a:rPr>
              <a:t>- </a:t>
            </a:r>
            <a:endParaRPr lang="en-US" altLang="ko-KR" sz="1400" b="1" dirty="0">
              <a:solidFill>
                <a:srgbClr val="000000"/>
              </a:solidFill>
              <a:latin typeface="Arial"/>
              <a:ea typeface="가는각진제목체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397360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" name="Group 944"/>
          <p:cNvGraphicFramePr>
            <a:graphicFrameLocks noGrp="1"/>
          </p:cNvGraphicFramePr>
          <p:nvPr/>
        </p:nvGraphicFramePr>
        <p:xfrm>
          <a:off x="376061" y="307172"/>
          <a:ext cx="9238086" cy="3602592"/>
        </p:xfrm>
        <a:graphic>
          <a:graphicData uri="http://schemas.openxmlformats.org/drawingml/2006/table">
            <a:tbl>
              <a:tblPr/>
              <a:tblGrid>
                <a:gridCol w="2139422"/>
                <a:gridCol w="1161167"/>
                <a:gridCol w="1162050"/>
                <a:gridCol w="738011"/>
                <a:gridCol w="417336"/>
                <a:gridCol w="904663"/>
                <a:gridCol w="264090"/>
                <a:gridCol w="313760"/>
                <a:gridCol w="671866"/>
                <a:gridCol w="157480"/>
                <a:gridCol w="1308241"/>
              </a:tblGrid>
              <a:tr h="336744">
                <a:tc gridSpan="1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일반 개요</a:t>
                      </a:r>
                      <a:endParaRPr kumimoji="1" lang="en-US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Program ID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-049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Process ID</a:t>
                      </a:r>
                      <a:endParaRPr kumimoji="1" lang="en-GB" altLang="ko-KR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latinLnBrk="1"/>
                      <a:r>
                        <a:rPr kumimoji="1" lang="ko-KR" altLang="en-US" sz="11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  <a:cs typeface="+mn-cs"/>
                        </a:rPr>
                        <a:t>목표원가 대상 선정</a:t>
                      </a:r>
                      <a:endParaRPr kumimoji="1" lang="ko-KR" altLang="en-US" sz="11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  <a:cs typeface="+mn-cs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36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코드 생성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(1/5)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: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프로젝트와 목표원가 코드 및 대표사양 관리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50407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설명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10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 관리가 필요한 개발프로젝트에 대해서 목표원가 관리 코드를 생성하고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OEM,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차종 등의 프로젝트 기초정보를 입력한다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목표원가관리의 출발점이며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이때 관리대상으로 지정된 주요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사양별로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상세 구분 관리 코드를 생성함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9858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프로그램 구분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Master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Interface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Data Input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Creation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(Costing)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Schedule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7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(Monitor)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ucida Sans Unicode" pitchFamily="34" charset="0"/>
                          <a:ea typeface="새굴림" pitchFamily="18" charset="-127"/>
                        </a:rPr>
                        <a:t>Report</a:t>
                      </a: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950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돋움" pitchFamily="50" charset="-127"/>
                        </a:rPr>
                        <a:t>●</a:t>
                      </a: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돋움" pitchFamily="50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0" marB="0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개발완료 요청일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모듈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작성자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컨설턴트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신 정 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팀장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배 병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28804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고 현 철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서명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일자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9" name="Group 820"/>
          <p:cNvGraphicFramePr>
            <a:graphicFrameLocks noGrp="1"/>
          </p:cNvGraphicFramePr>
          <p:nvPr/>
        </p:nvGraphicFramePr>
        <p:xfrm>
          <a:off x="376061" y="4005080"/>
          <a:ext cx="9238086" cy="2332741"/>
        </p:xfrm>
        <a:graphic>
          <a:graphicData uri="http://schemas.openxmlformats.org/drawingml/2006/table">
            <a:tbl>
              <a:tblPr/>
              <a:tblGrid>
                <a:gridCol w="1575937"/>
                <a:gridCol w="1154760"/>
                <a:gridCol w="5248492"/>
                <a:gridCol w="1258897"/>
              </a:tblGrid>
              <a:tr h="306438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Document History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6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Date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변경 내용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사유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요청부서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담당자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ko-KR" altLang="en-US" sz="11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Version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2013.05.16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신정수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초기작성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V1.0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4569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roup 512"/>
          <p:cNvGraphicFramePr>
            <a:graphicFrameLocks noGrp="1"/>
          </p:cNvGraphicFramePr>
          <p:nvPr/>
        </p:nvGraphicFramePr>
        <p:xfrm>
          <a:off x="376061" y="343221"/>
          <a:ext cx="9153878" cy="4125428"/>
        </p:xfrm>
        <a:graphic>
          <a:graphicData uri="http://schemas.openxmlformats.org/drawingml/2006/table">
            <a:tbl>
              <a:tblPr/>
              <a:tblGrid>
                <a:gridCol w="2263247"/>
                <a:gridCol w="2260953"/>
                <a:gridCol w="2263245"/>
                <a:gridCol w="2366433"/>
              </a:tblGrid>
              <a:tr h="277389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Business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584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요구사항정의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수익성 분석이 완료되고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목표원가관리가 시작되면 관리목적 코드 생성이 필요하다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OEM/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차종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제품별로 프로젝트를 관리하고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내의 다양한 사양 중 원가관리대상을 별도로 지정 관리해야 한다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PMS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와 연계하여 개발 프로젝트 기초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공유할 수 있도록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PMS code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를 입력하여 필요 항목을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IF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할 수 있게 한다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현상원가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산출시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PDM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으로부터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E-BOM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을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IF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하고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,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양산이후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실적 원가와 비교 할 수 있도록 </a:t>
                      </a: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품번정보를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입력하여 관리할 필요가 있다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. 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업무담당자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67720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개발에 따른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기대 효용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목표원가관리가 수행중인 전체 개발프로젝트의 기초정보 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관리 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  <a:p>
                      <a:pPr marL="180975" marR="0" lvl="0" indent="-180975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AutoNum type="arabicPeriod"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목표원가관리 대상과 해당항목의 최종 견적원가 결과 연계로 수주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견적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개발 연계관리 가능</a:t>
                      </a: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세부화면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GB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On-Line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</a:t>
                      </a:r>
                      <a:r>
                        <a:rPr kumimoji="1" lang="en-US" altLang="ko-KR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Data </a:t>
                      </a: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건수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710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예상 개발 소요 기간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입력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–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원가관리 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/ 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조회</a:t>
                      </a: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-</a:t>
                      </a: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프로젝트 구성원으로 등록된 인원 전체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19012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기타요구사항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2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6" name="Group 399"/>
          <p:cNvGraphicFramePr>
            <a:graphicFrameLocks noGrp="1"/>
          </p:cNvGraphicFramePr>
          <p:nvPr/>
        </p:nvGraphicFramePr>
        <p:xfrm>
          <a:off x="376061" y="5391993"/>
          <a:ext cx="9153886" cy="649094"/>
        </p:xfrm>
        <a:graphic>
          <a:graphicData uri="http://schemas.openxmlformats.org/drawingml/2006/table">
            <a:tbl>
              <a:tblPr/>
              <a:tblGrid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  <a:gridCol w="653849"/>
              </a:tblGrid>
              <a:tr h="324547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권한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전사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사업부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담당팀</a:t>
                      </a:r>
                      <a:endParaRPr kumimoji="1" lang="ko-KR" altLang="en-US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중요도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상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중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하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난이도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1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2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3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4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5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8EEF7"/>
                    </a:solidFill>
                  </a:tcPr>
                </a:tc>
              </a:tr>
              <a:tr h="32454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가는각진제목체" pitchFamily="18" charset="-127"/>
                          <a:ea typeface="가는각진제목체" pitchFamily="18" charset="-127"/>
                        </a:rPr>
                        <a:t>●</a:t>
                      </a: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GB" altLang="ko-KR" sz="11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가는각진제목체" pitchFamily="18" charset="-127"/>
                        <a:ea typeface="가는각진제목체" pitchFamily="18" charset="-127"/>
                      </a:endParaRPr>
                    </a:p>
                  </a:txBody>
                  <a:tcPr marL="132080" marR="132080" marT="31652" marB="31652" anchor="ctr" horzOverflow="overflow">
                    <a:lnL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DA8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 Box 346"/>
          <p:cNvSpPr txBox="1">
            <a:spLocks noChangeArrowheads="1"/>
          </p:cNvSpPr>
          <p:nvPr/>
        </p:nvSpPr>
        <p:spPr bwMode="auto">
          <a:xfrm>
            <a:off x="376066" y="6135189"/>
            <a:ext cx="1781257" cy="2462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*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난이도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( 1-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단순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, 5 – </a:t>
            </a:r>
            <a:r>
              <a:rPr lang="ko-KR" altLang="en-US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복잡 </a:t>
            </a:r>
            <a:r>
              <a:rPr lang="en-US" altLang="ko-KR" sz="1000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  <p:sp>
        <p:nvSpPr>
          <p:cNvPr id="8" name="Text Box 347"/>
          <p:cNvSpPr txBox="1">
            <a:spLocks noChangeArrowheads="1"/>
          </p:cNvSpPr>
          <p:nvPr/>
        </p:nvSpPr>
        <p:spPr bwMode="auto">
          <a:xfrm>
            <a:off x="344360" y="5085230"/>
            <a:ext cx="54694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defTabSz="914400" latinLnBrk="0"/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(</a:t>
            </a:r>
            <a:r>
              <a:rPr lang="ko-KR" altLang="en-US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분류</a:t>
            </a:r>
            <a:r>
              <a:rPr lang="en-US" altLang="ko-KR" sz="1200" b="1" dirty="0">
                <a:solidFill>
                  <a:srgbClr val="000000"/>
                </a:solidFill>
                <a:latin typeface="가는각진제목체" pitchFamily="18" charset="-127"/>
                <a:ea typeface="가는각진제목체" pitchFamily="18" charset="-127"/>
              </a:rPr>
              <a:t>)</a:t>
            </a: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 bwMode="auto">
          <a:xfrm>
            <a:off x="3584810" y="276870"/>
            <a:ext cx="129618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</a:t>
            </a:r>
          </a:p>
        </p:txBody>
      </p:sp>
      <p:sp>
        <p:nvSpPr>
          <p:cNvPr id="6" name="직사각형 5"/>
          <p:cNvSpPr/>
          <p:nvPr/>
        </p:nvSpPr>
        <p:spPr bwMode="auto">
          <a:xfrm>
            <a:off x="7287765" y="287990"/>
            <a:ext cx="22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</a:rPr>
              <a:t>목표원가 대상 선정과 기초정보 등록</a:t>
            </a:r>
            <a:endParaRPr lang="ko-KR" altLang="en-US" sz="1000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" name="직사각형 6"/>
          <p:cNvSpPr/>
          <p:nvPr/>
        </p:nvSpPr>
        <p:spPr bwMode="auto">
          <a:xfrm>
            <a:off x="1064460" y="541305"/>
            <a:ext cx="136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01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graphicFrame>
        <p:nvGraphicFramePr>
          <p:cNvPr id="11" name="Group 82"/>
          <p:cNvGraphicFramePr>
            <a:graphicFrameLocks noGrp="1"/>
          </p:cNvGraphicFramePr>
          <p:nvPr/>
        </p:nvGraphicFramePr>
        <p:xfrm>
          <a:off x="6146706" y="1026940"/>
          <a:ext cx="3528000" cy="5221680"/>
        </p:xfrm>
        <a:graphic>
          <a:graphicData uri="http://schemas.openxmlformats.org/drawingml/2006/table">
            <a:tbl>
              <a:tblPr/>
              <a:tblGrid>
                <a:gridCol w="574994"/>
                <a:gridCol w="2953006"/>
              </a:tblGrid>
              <a:tr h="3034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화면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개요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indent="-82550">
                        <a:buFont typeface="Wingdings" pitchFamily="2" charset="2"/>
                        <a:buChar char="§"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견적산출시 등록한 코드와 연계하여 목표원가관리용 코드를 생성하고 필요한 기초 정보를 등록함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불러오기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이미 등록된 프로젝트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 조회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-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 제출연도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코드에 등록된 견적제출일 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조회조건에 따라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’Tab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에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목록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신규로 생성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변경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삭제된 내역을 저장함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(7</a:t>
                      </a:r>
                      <a:r>
                        <a:rPr lang="ko-KR" altLang="en-US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 탭 모두에 적용</a:t>
                      </a:r>
                      <a:r>
                        <a:rPr lang="en-US" altLang="ko-KR" sz="1000" kern="12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449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팝업으로 신규 개발 프로젝트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정보입력창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표시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Key-In.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마스터에 등록된 정보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검색→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 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등록된 견적코드 중 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목표와 </a:t>
                      </a:r>
                      <a:r>
                        <a:rPr lang="en-US" altLang="ko-KR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1:N </a:t>
                      </a:r>
                      <a:r>
                        <a:rPr lang="ko-KR" altLang="en-US" sz="1000" b="1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성립</a:t>
                      </a:r>
                      <a:endParaRPr lang="en-US" altLang="ko-KR" sz="1000" b="1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입력된 정보를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수정해야하는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경우 특정 항목 활성화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클릭시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나타나는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구성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):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정보 등록 후 저장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저장시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프로젝트 코드를 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 생성 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Rule: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T 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연도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en-US" altLang="ko-KR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Seq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4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+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하이픈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’-’ + </a:t>
                      </a:r>
                      <a:r>
                        <a:rPr lang="ko-KR" altLang="en-US" sz="1000" baseline="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코드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자리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1600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4</a:t>
                      </a:r>
                    </a:p>
                  </a:txBody>
                  <a:tcPr marL="58500" marR="58500" marT="36000" marB="36000" anchor="ctr" horzOverflow="overflow">
                    <a:lnL>
                      <a:noFill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 관리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해당 프로젝트의 사양 중 대표항목 지정</a:t>
                      </a:r>
                      <a:endParaRPr lang="en-US" altLang="ko-KR" sz="100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하위의 </a:t>
                      </a:r>
                      <a:r>
                        <a:rPr lang="ko-KR" altLang="en-US" sz="1000" dirty="0" err="1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사양별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견적코드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최종 버전</a:t>
                      </a:r>
                      <a:r>
                        <a:rPr lang="en-US" altLang="ko-KR" sz="100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-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목표원가코드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지정된 항목을 선택하여 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/>
                      </a:r>
                      <a:b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</a:b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자동으로 생성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대표선정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해제 클릭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lang="en-US" altLang="ko-KR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&amp;</a:t>
                      </a:r>
                      <a:r>
                        <a:rPr lang="ko-KR" altLang="en-US" sz="1000" baseline="0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선택해제 모두 가능</a:t>
                      </a:r>
                      <a:endParaRPr lang="en-US" altLang="ko-KR" sz="1000" baseline="0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-PMS Code: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추후 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PMS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코드가 생성되면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‘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검색 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→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’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양산품목의 품번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하여 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최대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3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개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~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견적에서 입력된 정보 가져오기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           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사양정보는 </a:t>
                      </a:r>
                      <a:r>
                        <a:rPr kumimoji="1" lang="en-US" altLang="ko-KR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Key-In </a:t>
                      </a:r>
                      <a:r>
                        <a:rPr kumimoji="1" lang="ko-KR" altLang="en-US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 가능</a:t>
                      </a:r>
                      <a:endParaRPr kumimoji="1" lang="en-US" altLang="ko-KR" sz="10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대표사양으로 지정한 사유입력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(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메모 기능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Key-In)</a:t>
                      </a: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수정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삭제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저장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 변경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/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신규지정 경우 고려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marL="82550" marR="0" lvl="0" indent="-8255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-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행 추가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: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팝업창에서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품번코드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사양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,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사유 입력하도록함</a:t>
                      </a:r>
                      <a:r>
                        <a:rPr kumimoji="1" lang="en-US" altLang="ko-KR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. </a:t>
                      </a:r>
                      <a:r>
                        <a:rPr kumimoji="1" lang="ko-KR" altLang="en-US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견적코드는 필수항목 아님</a:t>
                      </a:r>
                      <a:endParaRPr kumimoji="1" lang="en-US" altLang="ko-KR" sz="1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58500" marR="58500" marT="36000" marB="36000" anchor="ctr" horzOverflow="overflow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직사각형 11"/>
          <p:cNvSpPr/>
          <p:nvPr/>
        </p:nvSpPr>
        <p:spPr bwMode="auto">
          <a:xfrm>
            <a:off x="3626375" y="532465"/>
            <a:ext cx="2448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lIns="0" rIns="0" rtlCol="0" anchor="ctr"/>
          <a:lstStyle/>
          <a:p>
            <a:pPr eaLnBrk="0" latinLnBrk="0" hangingPunct="0"/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목표원가 코드 생성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(1/5)</a:t>
            </a:r>
            <a:endParaRPr lang="ko-KR" altLang="en-US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</p:txBody>
      </p:sp>
      <p:sp>
        <p:nvSpPr>
          <p:cNvPr id="13" name="Rectangle 286"/>
          <p:cNvSpPr>
            <a:spLocks noChangeArrowheads="1"/>
          </p:cNvSpPr>
          <p:nvPr/>
        </p:nvSpPr>
        <p:spPr bwMode="auto">
          <a:xfrm>
            <a:off x="234115" y="842272"/>
            <a:ext cx="5832000" cy="249237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kumimoji="0" lang="ko-KR" altLang="en-US" dirty="0">
              <a:solidFill>
                <a:srgbClr val="000000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" name="AutoShape 279"/>
          <p:cNvSpPr>
            <a:spLocks noChangeArrowheads="1"/>
          </p:cNvSpPr>
          <p:nvPr/>
        </p:nvSpPr>
        <p:spPr bwMode="auto">
          <a:xfrm>
            <a:off x="5628488" y="858940"/>
            <a:ext cx="360362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7" name="AutoShape 279"/>
          <p:cNvSpPr>
            <a:spLocks noChangeArrowheads="1"/>
          </p:cNvSpPr>
          <p:nvPr/>
        </p:nvSpPr>
        <p:spPr bwMode="auto">
          <a:xfrm>
            <a:off x="5176516" y="858940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조회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261230" y="858890"/>
            <a:ext cx="648000" cy="216000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rgbClr val="FFFFFF">
                <a:lumMod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36000" tIns="36000" rIns="36000" bIns="36000" anchor="ctr"/>
          <a:lstStyle/>
          <a:p>
            <a:pPr algn="ctr" latinLnBrk="0">
              <a:defRPr/>
            </a:pPr>
            <a:r>
              <a:rPr lang="ko-KR" altLang="en-US" sz="1050" kern="0" dirty="0" smtClean="0">
                <a:solidFill>
                  <a:sysClr val="windowText" lastClr="000000"/>
                </a:solidFill>
                <a:latin typeface="Arial"/>
                <a:ea typeface="가는각진제목체" pitchFamily="18" charset="-127"/>
              </a:rPr>
              <a:t>원가관리</a:t>
            </a:r>
          </a:p>
        </p:txBody>
      </p:sp>
      <p:sp>
        <p:nvSpPr>
          <p:cNvPr id="27" name="모서리가 둥근 직사각형 26"/>
          <p:cNvSpPr/>
          <p:nvPr/>
        </p:nvSpPr>
        <p:spPr bwMode="auto">
          <a:xfrm>
            <a:off x="416370" y="1269402"/>
            <a:ext cx="3636000" cy="287338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2000" dirty="0">
              <a:solidFill>
                <a:prstClr val="white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28" name="TextBox 33"/>
          <p:cNvSpPr txBox="1">
            <a:spLocks noChangeArrowheads="1"/>
          </p:cNvSpPr>
          <p:nvPr/>
        </p:nvSpPr>
        <p:spPr bwMode="auto">
          <a:xfrm>
            <a:off x="2089620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고객사</a:t>
            </a:r>
          </a:p>
        </p:txBody>
      </p:sp>
      <p:sp>
        <p:nvSpPr>
          <p:cNvPr id="29" name="TextBox 35"/>
          <p:cNvSpPr txBox="1">
            <a:spLocks noChangeArrowheads="1"/>
          </p:cNvSpPr>
          <p:nvPr/>
        </p:nvSpPr>
        <p:spPr bwMode="auto">
          <a:xfrm>
            <a:off x="1298834" y="1305319"/>
            <a:ext cx="36004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차종</a:t>
            </a:r>
          </a:p>
        </p:txBody>
      </p:sp>
      <p:sp>
        <p:nvSpPr>
          <p:cNvPr id="30" name="TextBox 36"/>
          <p:cNvSpPr txBox="1">
            <a:spLocks noChangeArrowheads="1"/>
          </p:cNvSpPr>
          <p:nvPr/>
        </p:nvSpPr>
        <p:spPr bwMode="auto">
          <a:xfrm>
            <a:off x="477886" y="1305319"/>
            <a:ext cx="504063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제품</a:t>
            </a:r>
          </a:p>
        </p:txBody>
      </p:sp>
      <p:sp>
        <p:nvSpPr>
          <p:cNvPr id="63" name="직사각형 41"/>
          <p:cNvSpPr>
            <a:spLocks noChangeArrowheads="1"/>
          </p:cNvSpPr>
          <p:nvPr/>
        </p:nvSpPr>
        <p:spPr bwMode="auto">
          <a:xfrm>
            <a:off x="5135250" y="804890"/>
            <a:ext cx="936000" cy="324000"/>
          </a:xfrm>
          <a:prstGeom prst="rect">
            <a:avLst/>
          </a:prstGeom>
          <a:noFill/>
          <a:ln w="25400" algn="ctr">
            <a:solidFill>
              <a:srgbClr val="FF0000"/>
            </a:solidFill>
            <a:prstDash val="dash"/>
            <a:round/>
            <a:headEnd/>
            <a:tailEnd/>
          </a:ln>
        </p:spPr>
        <p:txBody>
          <a:bodyPr anchor="ctr"/>
          <a:lstStyle/>
          <a:p>
            <a:pPr marL="88900" indent="-88900" latinLnBrk="0">
              <a:spcBef>
                <a:spcPct val="20000"/>
              </a:spcBef>
              <a:buFont typeface="Wingdings" pitchFamily="2" charset="2"/>
              <a:buNone/>
            </a:pPr>
            <a:endParaRPr lang="ko-KR" altLang="en-US" sz="900" dirty="0" smtClean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4" name="타원 63"/>
          <p:cNvSpPr/>
          <p:nvPr/>
        </p:nvSpPr>
        <p:spPr>
          <a:xfrm>
            <a:off x="4994888" y="643488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2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67" name="타원 66"/>
          <p:cNvSpPr/>
          <p:nvPr/>
        </p:nvSpPr>
        <p:spPr>
          <a:xfrm>
            <a:off x="258457" y="117887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1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grpSp>
        <p:nvGrpSpPr>
          <p:cNvPr id="2" name="그룹 69"/>
          <p:cNvGrpSpPr/>
          <p:nvPr/>
        </p:nvGrpSpPr>
        <p:grpSpPr>
          <a:xfrm>
            <a:off x="837169" y="1307470"/>
            <a:ext cx="360000" cy="226591"/>
            <a:chOff x="837169" y="1307470"/>
            <a:chExt cx="360000" cy="226591"/>
          </a:xfrm>
        </p:grpSpPr>
        <p:sp>
          <p:nvSpPr>
            <p:cNvPr id="33" name="TextBox 32"/>
            <p:cNvSpPr txBox="1"/>
            <p:nvPr/>
          </p:nvSpPr>
          <p:spPr bwMode="auto">
            <a:xfrm>
              <a:off x="837169" y="1307470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wrap="square"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8" name="실행 단추: 앞으로 또는 다음 67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041726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3" name="그룹 65"/>
          <p:cNvGrpSpPr/>
          <p:nvPr/>
        </p:nvGrpSpPr>
        <p:grpSpPr>
          <a:xfrm>
            <a:off x="1513540" y="1307502"/>
            <a:ext cx="360000" cy="226591"/>
            <a:chOff x="1701166" y="1307502"/>
            <a:chExt cx="360000" cy="226591"/>
          </a:xfrm>
        </p:grpSpPr>
        <p:sp>
          <p:nvSpPr>
            <p:cNvPr id="32" name="TextBox 31"/>
            <p:cNvSpPr txBox="1"/>
            <p:nvPr/>
          </p:nvSpPr>
          <p:spPr bwMode="auto">
            <a:xfrm>
              <a:off x="1701166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69" name="실행 단추: 앞으로 또는 다음 68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1922991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grpSp>
        <p:nvGrpSpPr>
          <p:cNvPr id="5" name="그룹 70"/>
          <p:cNvGrpSpPr/>
          <p:nvPr/>
        </p:nvGrpSpPr>
        <p:grpSpPr>
          <a:xfrm>
            <a:off x="2424260" y="1307502"/>
            <a:ext cx="360000" cy="226591"/>
            <a:chOff x="2709337" y="1307502"/>
            <a:chExt cx="360000" cy="226591"/>
          </a:xfrm>
        </p:grpSpPr>
        <p:sp>
          <p:nvSpPr>
            <p:cNvPr id="31" name="TextBox 30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72" name="실행 단추: 앞으로 또는 다음 71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0" name="직사각형 124"/>
          <p:cNvSpPr>
            <a:spLocks noChangeArrowheads="1"/>
          </p:cNvSpPr>
          <p:nvPr/>
        </p:nvSpPr>
        <p:spPr bwMode="auto">
          <a:xfrm>
            <a:off x="326718" y="2082017"/>
            <a:ext cx="5705782" cy="1656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55" name="AutoShape 279"/>
          <p:cNvSpPr>
            <a:spLocks noChangeArrowheads="1"/>
          </p:cNvSpPr>
          <p:nvPr/>
        </p:nvSpPr>
        <p:spPr bwMode="auto">
          <a:xfrm>
            <a:off x="5570488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3" name="TextBox 33"/>
          <p:cNvSpPr txBox="1">
            <a:spLocks noChangeArrowheads="1"/>
          </p:cNvSpPr>
          <p:nvPr/>
        </p:nvSpPr>
        <p:spPr bwMode="auto">
          <a:xfrm>
            <a:off x="2902810" y="1306800"/>
            <a:ext cx="666175" cy="22659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36000" rIns="0" bIns="36000">
            <a:spAutoFit/>
          </a:bodyPr>
          <a:lstStyle/>
          <a:p>
            <a:r>
              <a:rPr lang="ko-KR" altLang="en-US" sz="1000" dirty="0" smtClean="0">
                <a:solidFill>
                  <a:prstClr val="black"/>
                </a:solidFill>
                <a:latin typeface="Arial"/>
                <a:ea typeface="가는각진제목체" pitchFamily="18" charset="-127"/>
                <a:sym typeface="Arial" charset="0"/>
              </a:rPr>
              <a:t>견적 제출연도</a:t>
            </a:r>
          </a:p>
        </p:txBody>
      </p:sp>
      <p:grpSp>
        <p:nvGrpSpPr>
          <p:cNvPr id="8" name="그룹 74"/>
          <p:cNvGrpSpPr/>
          <p:nvPr/>
        </p:nvGrpSpPr>
        <p:grpSpPr>
          <a:xfrm>
            <a:off x="3576350" y="1308983"/>
            <a:ext cx="360000" cy="226591"/>
            <a:chOff x="2709337" y="1307502"/>
            <a:chExt cx="360000" cy="226591"/>
          </a:xfrm>
        </p:grpSpPr>
        <p:sp>
          <p:nvSpPr>
            <p:cNvPr id="77" name="TextBox 76"/>
            <p:cNvSpPr txBox="1"/>
            <p:nvPr/>
          </p:nvSpPr>
          <p:spPr bwMode="auto">
            <a:xfrm>
              <a:off x="2709337" y="1307502"/>
              <a:ext cx="360000" cy="226591"/>
            </a:xfrm>
            <a:prstGeom prst="rect">
              <a:avLst/>
            </a:prstGeom>
            <a:noFill/>
            <a:ln>
              <a:solidFill>
                <a:srgbClr val="0070C0"/>
              </a:solidFill>
            </a:ln>
          </p:spPr>
          <p:txBody>
            <a:bodyPr lIns="0" tIns="36000" rIns="0" bIns="36000">
              <a:spAutoFit/>
            </a:bodyPr>
            <a:lstStyle/>
            <a:p>
              <a:pPr algn="ctr">
                <a:defRPr/>
              </a:pPr>
              <a:endParaRPr lang="ko-KR" altLang="en-US" sz="1000" dirty="0">
                <a:solidFill>
                  <a:srgbClr val="1F497D">
                    <a:lumMod val="60000"/>
                    <a:lumOff val="40000"/>
                  </a:srgbClr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  <p:sp>
          <p:nvSpPr>
            <p:cNvPr id="81" name="실행 단추: 앞으로 또는 다음 80">
              <a:hlinkClick r:id="" action="ppaction://hlinkshowjump?jump=nextslide" highlightClick="1"/>
            </p:cNvPr>
            <p:cNvSpPr/>
            <p:nvPr/>
          </p:nvSpPr>
          <p:spPr bwMode="auto">
            <a:xfrm rot="5400000">
              <a:off x="2931162" y="1368155"/>
              <a:ext cx="160908" cy="115441"/>
            </a:xfrm>
            <a:prstGeom prst="actionButtonForwardNext">
              <a:avLst/>
            </a:prstGeom>
            <a:solidFill>
              <a:schemeClr val="bg1">
                <a:lumMod val="85000"/>
              </a:schemeClr>
            </a:solidFill>
            <a:ln w="63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ko-KR" altLang="en-US" sz="1100" b="1" dirty="0">
                <a:solidFill>
                  <a:prstClr val="white"/>
                </a:solidFill>
                <a:latin typeface="Arial"/>
                <a:ea typeface="가는각진제목체" pitchFamily="18" charset="-127"/>
                <a:sym typeface="Arial"/>
              </a:endParaRPr>
            </a:p>
          </p:txBody>
        </p:sp>
      </p:grpSp>
      <p:sp>
        <p:nvSpPr>
          <p:cNvPr id="85" name="직사각형 124"/>
          <p:cNvSpPr>
            <a:spLocks noChangeArrowheads="1"/>
          </p:cNvSpPr>
          <p:nvPr/>
        </p:nvSpPr>
        <p:spPr bwMode="auto">
          <a:xfrm>
            <a:off x="326719" y="4189257"/>
            <a:ext cx="5705782" cy="1584000"/>
          </a:xfrm>
          <a:prstGeom prst="rect">
            <a:avLst/>
          </a:prstGeom>
          <a:solidFill>
            <a:schemeClr val="bg1"/>
          </a:solidFill>
          <a:ln w="6350" algn="ctr">
            <a:solidFill>
              <a:schemeClr val="tx1"/>
            </a:solidFill>
            <a:round/>
            <a:headEnd/>
            <a:tailEnd type="triangle" w="med" len="med"/>
          </a:ln>
        </p:spPr>
        <p:txBody>
          <a:bodyPr wrap="none" anchor="t" anchorCtr="0"/>
          <a:lstStyle/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  <a:p>
            <a:endParaRPr lang="en-US" altLang="ko-KR" sz="900" b="1" dirty="0" smtClean="0">
              <a:solidFill>
                <a:srgbClr val="000000"/>
              </a:solidFill>
              <a:latin typeface="Arial"/>
              <a:ea typeface="가는각진제목체" pitchFamily="18" charset="-127"/>
              <a:sym typeface="Arial" charset="0"/>
            </a:endParaRPr>
          </a:p>
        </p:txBody>
      </p:sp>
      <p:sp>
        <p:nvSpPr>
          <p:cNvPr id="92" name="AutoShape 279"/>
          <p:cNvSpPr>
            <a:spLocks noChangeArrowheads="1"/>
          </p:cNvSpPr>
          <p:nvPr/>
        </p:nvSpPr>
        <p:spPr bwMode="auto">
          <a:xfrm>
            <a:off x="5570488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저장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122" name="표 121"/>
          <p:cNvGraphicFramePr>
            <a:graphicFrameLocks noGrp="1"/>
          </p:cNvGraphicFramePr>
          <p:nvPr/>
        </p:nvGraphicFramePr>
        <p:xfrm>
          <a:off x="390970" y="4706008"/>
          <a:ext cx="5576297" cy="843330"/>
        </p:xfrm>
        <a:graphic>
          <a:graphicData uri="http://schemas.openxmlformats.org/drawingml/2006/table">
            <a:tbl>
              <a:tblPr/>
              <a:tblGrid>
                <a:gridCol w="169420"/>
                <a:gridCol w="612000"/>
                <a:gridCol w="900000"/>
                <a:gridCol w="936000"/>
                <a:gridCol w="576000"/>
                <a:gridCol w="468000"/>
                <a:gridCol w="291777"/>
                <a:gridCol w="393265"/>
                <a:gridCol w="329835"/>
                <a:gridCol w="396000"/>
                <a:gridCol w="504000"/>
              </a:tblGrid>
              <a:tr h="161925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견적원가 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목표원가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PMS Code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품번코드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사양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사유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2014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 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130007-TM-T00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130007-TMA-Q01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T130007-TMA-T01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일반형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OEM 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지정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130007-TMB-Q01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대표선정</a:t>
                      </a:r>
                      <a:r>
                        <a:rPr lang="en-US" altLang="ko-KR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/</a:t>
                      </a:r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해제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130007-TMC-Q01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T/M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마이티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HMC 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최고급형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ko-KR" altLang="en-US" sz="800" b="0" i="0" u="none" strike="noStrike" dirty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　</a:t>
                      </a:r>
                    </a:p>
                  </a:txBody>
                  <a:tcPr marL="36000" marR="36000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8" name="AutoShape 279"/>
          <p:cNvSpPr>
            <a:spLocks noChangeArrowheads="1"/>
          </p:cNvSpPr>
          <p:nvPr/>
        </p:nvSpPr>
        <p:spPr bwMode="auto">
          <a:xfrm>
            <a:off x="4306185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29" name="AutoShape 279"/>
          <p:cNvSpPr>
            <a:spLocks noChangeArrowheads="1"/>
          </p:cNvSpPr>
          <p:nvPr/>
        </p:nvSpPr>
        <p:spPr bwMode="auto">
          <a:xfrm>
            <a:off x="5149053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삭제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140" name="직사각형 139"/>
          <p:cNvSpPr/>
          <p:nvPr/>
        </p:nvSpPr>
        <p:spPr bwMode="auto">
          <a:xfrm>
            <a:off x="360615" y="5853275"/>
            <a:ext cx="4536000" cy="4680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9525" algn="ctr">
            <a:noFill/>
            <a:prstDash val="dash"/>
            <a:round/>
            <a:headEnd/>
            <a:tailEnd/>
          </a:ln>
        </p:spPr>
        <p:txBody>
          <a:bodyPr wrap="none" lIns="36000" rIns="36000" rtlCol="0" anchor="ctr" anchorCtr="0"/>
          <a:lstStyle/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※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각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Tab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간 관계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프로젝트 관리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에서 특정 프로젝트를 선택하여야 다음 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4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개의 탭으로 이동 가능</a:t>
            </a:r>
            <a:endParaRPr lang="en-US" altLang="ko-KR" sz="1000" dirty="0" smtClean="0">
              <a:solidFill>
                <a:srgbClr val="000000"/>
              </a:solidFill>
              <a:latin typeface="Arial"/>
              <a:ea typeface="가는각진제목체" pitchFamily="18" charset="-127"/>
              <a:cs typeface="Arial" pitchFamily="34" charset="0"/>
            </a:endParaRPr>
          </a:p>
          <a:p>
            <a:pPr eaLnBrk="0" latinLnBrk="0" hangingPunct="0">
              <a:lnSpc>
                <a:spcPct val="90000"/>
              </a:lnSpc>
            </a:pP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 - ‘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대표사양 관리</a:t>
            </a:r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’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 이하에서는 좌상단에 선택된  프로젝트의 프로젝트 명과 목표원가 코드 표시</a:t>
            </a:r>
          </a:p>
        </p:txBody>
      </p:sp>
      <p:graphicFrame>
        <p:nvGraphicFramePr>
          <p:cNvPr id="141" name="표 140"/>
          <p:cNvGraphicFramePr>
            <a:graphicFrameLocks noGrp="1"/>
          </p:cNvGraphicFramePr>
          <p:nvPr/>
        </p:nvGraphicFramePr>
        <p:xfrm>
          <a:off x="384116" y="4288842"/>
          <a:ext cx="1526732" cy="323850"/>
        </p:xfrm>
        <a:graphic>
          <a:graphicData uri="http://schemas.openxmlformats.org/drawingml/2006/table">
            <a:tbl>
              <a:tblPr/>
              <a:tblGrid>
                <a:gridCol w="763366"/>
                <a:gridCol w="763366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명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800" b="1" i="0" u="none" strike="noStrike" dirty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프로젝트 </a:t>
                      </a:r>
                      <a:r>
                        <a:rPr lang="ko-KR" altLang="en-US" sz="800" b="1" i="0" u="none" strike="noStrike" dirty="0" smtClean="0">
                          <a:solidFill>
                            <a:srgbClr val="FFFFFF"/>
                          </a:solidFill>
                          <a:latin typeface="+mj-lt"/>
                          <a:ea typeface="가는각진제목체" pitchFamily="18" charset="-127"/>
                        </a:rPr>
                        <a:t>코드</a:t>
                      </a:r>
                      <a:endParaRPr lang="ko-KR" altLang="en-US" sz="800" b="1" i="0" u="none" strike="noStrike" dirty="0">
                        <a:solidFill>
                          <a:srgbClr val="FFFFFF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7498"/>
                    </a:solidFill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TM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제품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AA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차종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130007-TM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latin typeface="+mj-lt"/>
                        <a:ea typeface="가는각진제목체" pitchFamily="18" charset="-127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pSp>
        <p:nvGrpSpPr>
          <p:cNvPr id="9" name="그룹 105"/>
          <p:cNvGrpSpPr/>
          <p:nvPr/>
        </p:nvGrpSpPr>
        <p:grpSpPr>
          <a:xfrm>
            <a:off x="326717" y="1832082"/>
            <a:ext cx="5515141" cy="252668"/>
            <a:chOff x="326717" y="1882882"/>
            <a:chExt cx="5515141" cy="252668"/>
          </a:xfrm>
        </p:grpSpPr>
        <p:sp>
          <p:nvSpPr>
            <p:cNvPr id="90" name="한쪽 모서리가 잘린 사각형 89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89" name="한쪽 모서리가 잘린 사각형 8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23" name="한쪽 모서리가 잘린 사각형 122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33" name="한쪽 모서리가 잘린 사각형 132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87" name="한쪽 모서리가 잘린 사각형 86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04" name="한쪽 모서리가 잘린 사각형 10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34" name="한쪽 모서리가 잘린 사각형 133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grpSp>
        <p:nvGrpSpPr>
          <p:cNvPr id="10" name="그룹 106"/>
          <p:cNvGrpSpPr/>
          <p:nvPr/>
        </p:nvGrpSpPr>
        <p:grpSpPr>
          <a:xfrm>
            <a:off x="331108" y="3938341"/>
            <a:ext cx="5515141" cy="252668"/>
            <a:chOff x="326717" y="1882882"/>
            <a:chExt cx="5515141" cy="252668"/>
          </a:xfrm>
        </p:grpSpPr>
        <p:sp>
          <p:nvSpPr>
            <p:cNvPr id="108" name="한쪽 모서리가 잘린 사각형 107"/>
            <p:cNvSpPr/>
            <p:nvPr/>
          </p:nvSpPr>
          <p:spPr bwMode="auto">
            <a:xfrm>
              <a:off x="326717" y="1885612"/>
              <a:ext cx="792000" cy="24993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프로젝트 관리</a:t>
              </a:r>
            </a:p>
          </p:txBody>
        </p:sp>
        <p:sp>
          <p:nvSpPr>
            <p:cNvPr id="109" name="한쪽 모서리가 잘린 사각형 108"/>
            <p:cNvSpPr/>
            <p:nvPr/>
          </p:nvSpPr>
          <p:spPr bwMode="auto">
            <a:xfrm>
              <a:off x="1110147" y="1885612"/>
              <a:ext cx="792000" cy="249938"/>
            </a:xfrm>
            <a:prstGeom prst="snip1Rect">
              <a:avLst/>
            </a:prstGeom>
            <a:solidFill>
              <a:schemeClr val="bg1">
                <a:lumMod val="75000"/>
              </a:schemeClr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대표사양관리</a:t>
              </a:r>
            </a:p>
          </p:txBody>
        </p:sp>
        <p:sp>
          <p:nvSpPr>
            <p:cNvPr id="110" name="한쪽 모서리가 잘린 사각형 109"/>
            <p:cNvSpPr/>
            <p:nvPr/>
          </p:nvSpPr>
          <p:spPr bwMode="auto">
            <a:xfrm>
              <a:off x="189457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담당자 정보</a:t>
              </a:r>
            </a:p>
          </p:txBody>
        </p:sp>
        <p:sp>
          <p:nvSpPr>
            <p:cNvPr id="112" name="한쪽 모서리가 잘린 사각형 111"/>
            <p:cNvSpPr/>
            <p:nvPr/>
          </p:nvSpPr>
          <p:spPr bwMode="auto">
            <a:xfrm>
              <a:off x="2680934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판가 정보</a:t>
              </a:r>
            </a:p>
          </p:txBody>
        </p:sp>
        <p:sp>
          <p:nvSpPr>
            <p:cNvPr id="113" name="한쪽 모서리가 잘린 사각형 112"/>
            <p:cNvSpPr/>
            <p:nvPr/>
          </p:nvSpPr>
          <p:spPr bwMode="auto">
            <a:xfrm>
              <a:off x="3473044" y="1885614"/>
              <a:ext cx="792000" cy="249936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수량</a:t>
              </a:r>
              <a:r>
                <a:rPr lang="en-US" altLang="ko-KR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/</a:t>
              </a:r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할인율</a:t>
              </a:r>
            </a:p>
          </p:txBody>
        </p:sp>
        <p:sp>
          <p:nvSpPr>
            <p:cNvPr id="114" name="한쪽 모서리가 잘린 사각형 113"/>
            <p:cNvSpPr/>
            <p:nvPr/>
          </p:nvSpPr>
          <p:spPr bwMode="auto">
            <a:xfrm>
              <a:off x="4260030" y="1887268"/>
              <a:ext cx="792000" cy="248282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개발 및 평가 일정</a:t>
              </a:r>
            </a:p>
          </p:txBody>
        </p:sp>
        <p:sp>
          <p:nvSpPr>
            <p:cNvPr id="115" name="한쪽 모서리가 잘린 사각형 114"/>
            <p:cNvSpPr/>
            <p:nvPr/>
          </p:nvSpPr>
          <p:spPr bwMode="auto">
            <a:xfrm>
              <a:off x="5049858" y="1882882"/>
              <a:ext cx="792000" cy="252668"/>
            </a:xfrm>
            <a:prstGeom prst="snip1Rect">
              <a:avLst/>
            </a:prstGeom>
            <a:solidFill>
              <a:schemeClr val="bg1"/>
            </a:solidFill>
            <a:ln w="9525" algn="ctr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 wrap="none" rtlCol="0" anchor="ctr"/>
            <a:lstStyle/>
            <a:p>
              <a:pPr algn="ctr" eaLnBrk="0" latinLnBrk="0" hangingPunct="0"/>
              <a:r>
                <a:rPr lang="ko-KR" altLang="en-US" sz="900" dirty="0" smtClean="0">
                  <a:solidFill>
                    <a:srgbClr val="000000"/>
                  </a:solidFill>
                  <a:latin typeface="Arial"/>
                  <a:ea typeface="가는각진제목체" pitchFamily="18" charset="-127"/>
                  <a:cs typeface="Arial" pitchFamily="34" charset="0"/>
                </a:rPr>
                <a:t>목표 수립일정</a:t>
              </a:r>
            </a:p>
          </p:txBody>
        </p:sp>
      </p:grpSp>
      <p:sp>
        <p:nvSpPr>
          <p:cNvPr id="91" name="타원 90"/>
          <p:cNvSpPr/>
          <p:nvPr/>
        </p:nvSpPr>
        <p:spPr>
          <a:xfrm>
            <a:off x="1050567" y="376454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4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95" name="타원 94"/>
          <p:cNvSpPr/>
          <p:nvPr/>
        </p:nvSpPr>
        <p:spPr>
          <a:xfrm>
            <a:off x="258457" y="1649960"/>
            <a:ext cx="229923" cy="235353"/>
          </a:xfrm>
          <a:prstGeom prst="ellipse">
            <a:avLst/>
          </a:prstGeom>
          <a:solidFill>
            <a:schemeClr val="bg2"/>
          </a:solidFill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72000" rIns="0" bIns="72000" rtlCol="0" anchor="ctr" anchorCtr="0"/>
          <a:lstStyle/>
          <a:p>
            <a:pPr algn="ctr"/>
            <a:r>
              <a:rPr lang="en-US" altLang="ko-KR" sz="1100" b="1" dirty="0" smtClean="0">
                <a:solidFill>
                  <a:srgbClr val="FFFFFF"/>
                </a:solidFill>
                <a:latin typeface="Arial"/>
                <a:ea typeface="가는각진제목체" pitchFamily="18" charset="-127"/>
              </a:rPr>
              <a:t>3</a:t>
            </a:r>
            <a:endParaRPr lang="ko-KR" altLang="en-US" sz="1100" b="1" dirty="0" smtClean="0">
              <a:solidFill>
                <a:srgbClr val="FFFFFF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4" name="직사각형 73"/>
          <p:cNvSpPr/>
          <p:nvPr/>
        </p:nvSpPr>
        <p:spPr bwMode="auto">
          <a:xfrm>
            <a:off x="7287765" y="546320"/>
            <a:ext cx="2124000" cy="216000"/>
          </a:xfrm>
          <a:prstGeom prst="rect">
            <a:avLst/>
          </a:prstGeom>
          <a:noFill/>
          <a:ln w="9525" algn="ctr">
            <a:noFill/>
            <a:prstDash val="dash"/>
            <a:round/>
            <a:headEnd/>
            <a:tailEnd/>
          </a:ln>
        </p:spPr>
        <p:txBody>
          <a:bodyPr wrap="none" rtlCol="0" anchor="ctr"/>
          <a:lstStyle/>
          <a:p>
            <a:pPr eaLnBrk="0" latinLnBrk="0" hangingPunct="0"/>
            <a:r>
              <a:rPr lang="en-US" altLang="ko-KR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2013.04.30 / </a:t>
            </a:r>
            <a:r>
              <a:rPr lang="ko-KR" altLang="en-US" sz="1000" dirty="0" smtClean="0">
                <a:solidFill>
                  <a:srgbClr val="000000"/>
                </a:solidFill>
                <a:latin typeface="Arial"/>
                <a:ea typeface="가는각진제목체" pitchFamily="18" charset="-127"/>
                <a:cs typeface="Arial" pitchFamily="34" charset="0"/>
              </a:rPr>
              <a:t>신정수</a:t>
            </a:r>
          </a:p>
        </p:txBody>
      </p:sp>
      <p:sp>
        <p:nvSpPr>
          <p:cNvPr id="76" name="AutoShape 279"/>
          <p:cNvSpPr>
            <a:spLocks noChangeArrowheads="1"/>
          </p:cNvSpPr>
          <p:nvPr/>
        </p:nvSpPr>
        <p:spPr bwMode="auto">
          <a:xfrm>
            <a:off x="4736970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추가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graphicFrame>
        <p:nvGraphicFramePr>
          <p:cNvPr id="70" name="표 69"/>
          <p:cNvGraphicFramePr>
            <a:graphicFrameLocks noGrp="1"/>
          </p:cNvGraphicFramePr>
          <p:nvPr/>
        </p:nvGraphicFramePr>
        <p:xfrm>
          <a:off x="448690" y="2402330"/>
          <a:ext cx="4524996" cy="829800"/>
        </p:xfrm>
        <a:graphic>
          <a:graphicData uri="http://schemas.openxmlformats.org/drawingml/2006/table">
            <a:tbl>
              <a:tblPr/>
              <a:tblGrid>
                <a:gridCol w="360000"/>
                <a:gridCol w="792000"/>
                <a:gridCol w="972000"/>
                <a:gridCol w="498498"/>
                <a:gridCol w="498498"/>
                <a:gridCol w="576000"/>
                <a:gridCol w="828000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선택</a:t>
                      </a:r>
                      <a:endParaRPr lang="ko-KR" altLang="en-US" sz="900" b="1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목표원가 </a:t>
                      </a:r>
                      <a:endParaRPr lang="en-US" altLang="ko-KR" sz="900" b="1" i="0" u="none" strike="noStrike" dirty="0" smtClean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  <a:p>
                      <a:pPr algn="ctr" rtl="0" fontAlgn="ctr"/>
                      <a:r>
                        <a:rPr lang="ko-KR" altLang="en-US" sz="900" b="1" i="0" u="none" strike="noStrike" dirty="0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OEM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T130007-TM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  <a:endParaRPr lang="ko-KR" alt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130013-TM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▣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T130008-RA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KMC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소렌토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R/AXLE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130018-R/A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0" i="0" u="none" strike="noStrike" dirty="0" smtClean="0">
                          <a:solidFill>
                            <a:srgbClr val="000000"/>
                          </a:solidFill>
                          <a:latin typeface="+mj-lt"/>
                          <a:ea typeface="가는각진제목체" pitchFamily="18" charset="-127"/>
                        </a:rPr>
                        <a:t>□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T130010-ST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시트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그렌져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Seat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130024-ST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71" name="표 70"/>
          <p:cNvGraphicFramePr>
            <a:graphicFrameLocks noGrp="1"/>
          </p:cNvGraphicFramePr>
          <p:nvPr/>
        </p:nvGraphicFramePr>
        <p:xfrm>
          <a:off x="448690" y="3297615"/>
          <a:ext cx="4686300" cy="346320"/>
        </p:xfrm>
        <a:graphic>
          <a:graphicData uri="http://schemas.openxmlformats.org/drawingml/2006/table">
            <a:tbl>
              <a:tblPr/>
              <a:tblGrid>
                <a:gridCol w="713891"/>
                <a:gridCol w="571113"/>
                <a:gridCol w="571113"/>
                <a:gridCol w="571113"/>
                <a:gridCol w="571113"/>
                <a:gridCol w="939164"/>
                <a:gridCol w="748793"/>
              </a:tblGrid>
              <a:tr h="161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 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사업부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고객사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차종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제품군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프로젝트명</a:t>
                      </a:r>
                      <a:r>
                        <a:rPr lang="ko-KR" altLang="en-US" sz="900" b="1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900" b="1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견적원가코드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7145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　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pattFill prst="pct50">
                      <a:fgClr>
                        <a:srgbClr val="000000"/>
                      </a:fgClr>
                      <a:bgClr>
                        <a:srgbClr val="BFBFB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PT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HMC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altLang="ko-KR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2014 </a:t>
                      </a:r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마이티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T/M </a:t>
                      </a: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900" b="0" i="0" u="none" strike="noStrike" smtClean="0">
                          <a:solidFill>
                            <a:srgbClr val="000000"/>
                          </a:solidFill>
                          <a:latin typeface="Arial" pitchFamily="34" charset="0"/>
                          <a:ea typeface="가는각진제목체" pitchFamily="18" charset="-127"/>
                          <a:cs typeface="Arial" pitchFamily="34" charset="0"/>
                        </a:rPr>
                        <a:t>130013-TM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latin typeface="Arial" pitchFamily="34" charset="0"/>
                        <a:ea typeface="가는각진제목체" pitchFamily="18" charset="-127"/>
                        <a:cs typeface="Arial" pitchFamily="34" charset="0"/>
                      </a:endParaRPr>
                    </a:p>
                  </a:txBody>
                  <a:tcPr marL="36000" marR="18000" marT="18000" marB="1800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5" name="AutoShape 279"/>
          <p:cNvSpPr>
            <a:spLocks noChangeArrowheads="1"/>
          </p:cNvSpPr>
          <p:nvPr/>
        </p:nvSpPr>
        <p:spPr bwMode="auto">
          <a:xfrm>
            <a:off x="5153729" y="2143425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  <p:sp>
        <p:nvSpPr>
          <p:cNvPr id="78" name="AutoShape 279"/>
          <p:cNvSpPr>
            <a:spLocks noChangeArrowheads="1"/>
          </p:cNvSpPr>
          <p:nvPr/>
        </p:nvSpPr>
        <p:spPr bwMode="auto">
          <a:xfrm>
            <a:off x="4727619" y="4286748"/>
            <a:ext cx="358775" cy="215900"/>
          </a:xfrm>
          <a:prstGeom prst="roundRect">
            <a:avLst>
              <a:gd name="adj" fmla="val 16667"/>
            </a:avLst>
          </a:prstGeom>
          <a:gradFill rotWithShape="1">
            <a:gsLst>
              <a:gs pos="0">
                <a:schemeClr val="bg1"/>
              </a:gs>
              <a:gs pos="100000">
                <a:schemeClr val="bg1">
                  <a:gamma/>
                  <a:shade val="79216"/>
                  <a:invGamma/>
                </a:schemeClr>
              </a:gs>
            </a:gsLst>
            <a:lin ang="5400000" scaled="1"/>
          </a:gradFill>
          <a:ln w="19050" algn="ctr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900" dirty="0" smtClean="0">
                <a:solidFill>
                  <a:prstClr val="black"/>
                </a:solidFill>
                <a:latin typeface="Arial"/>
                <a:ea typeface="가는각진제목체" pitchFamily="18" charset="-127"/>
              </a:rPr>
              <a:t>수정</a:t>
            </a:r>
            <a:endParaRPr kumimoji="0" lang="ko-KR" altLang="en-US" sz="900" dirty="0">
              <a:solidFill>
                <a:prstClr val="black"/>
              </a:solidFill>
              <a:latin typeface="Arial"/>
              <a:ea typeface="가는각진제목체" pitchFamily="18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7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8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chemeClr val="tx1"/>
          </a:solidFill>
          <a:prstDash val="dash"/>
          <a:round/>
          <a:headEnd/>
          <a:tailEnd/>
        </a:ln>
      </a:spPr>
      <a:bodyPr wrap="none" anchor="ctr"/>
      <a:lstStyle>
        <a:defPPr eaLnBrk="0" latinLnBrk="0" hangingPunct="0">
          <a:defRPr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tb4_onscreen_v2.1">
  <a:themeElements>
    <a:clrScheme name="4_tb4_onscreen_v2.1 5">
      <a:dk1>
        <a:srgbClr val="3A4972"/>
      </a:dk1>
      <a:lt1>
        <a:srgbClr val="FFFFFF"/>
      </a:lt1>
      <a:dk2>
        <a:srgbClr val="3DA8D5"/>
      </a:dk2>
      <a:lt2>
        <a:srgbClr val="2666A6"/>
      </a:lt2>
      <a:accent1>
        <a:srgbClr val="8BCBE6"/>
      </a:accent1>
      <a:accent2>
        <a:srgbClr val="B1DCEE"/>
      </a:accent2>
      <a:accent3>
        <a:srgbClr val="FFFFFF"/>
      </a:accent3>
      <a:accent4>
        <a:srgbClr val="303D60"/>
      </a:accent4>
      <a:accent5>
        <a:srgbClr val="C4E2F0"/>
      </a:accent5>
      <a:accent6>
        <a:srgbClr val="A0C7D8"/>
      </a:accent6>
      <a:hlink>
        <a:srgbClr val="D8EEF7"/>
      </a:hlink>
      <a:folHlink>
        <a:srgbClr val="3A4972"/>
      </a:folHlink>
    </a:clrScheme>
    <a:fontScheme name="4_tb4_onscreen_v2.1">
      <a:majorFont>
        <a:latin typeface="Arial"/>
        <a:ea typeface="돋움"/>
        <a:cs typeface=""/>
      </a:majorFont>
      <a:minorFont>
        <a:latin typeface="돋움"/>
        <a:ea typeface="돋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9525" algn="ctr">
          <a:solidFill>
            <a:srgbClr val="000000"/>
          </a:solidFill>
          <a:prstDash val="solid"/>
          <a:round/>
          <a:headEnd/>
          <a:tailEnd/>
        </a:ln>
      </a:spPr>
      <a:bodyPr wrap="none" rtlCol="0" anchor="ctr"/>
      <a:lstStyle>
        <a:defPPr algn="ctr" eaLnBrk="0" latinLnBrk="0" hangingPunct="0">
          <a:defRPr sz="1100" dirty="0" smtClean="0">
            <a:solidFill>
              <a:srgbClr val="3A4972"/>
            </a:solidFill>
            <a:latin typeface="맑은 고딕" pitchFamily="50" charset="-127"/>
            <a:ea typeface="맑은 고딕" pitchFamily="50" charset="-127"/>
            <a:cs typeface="Arial" pitchFamily="34" charset="0"/>
          </a:defRPr>
        </a:defPPr>
      </a:lstStyle>
    </a:spDef>
    <a:lnDef>
      <a:spPr bwMode="auto"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triangle" w="med" len="med"/>
        </a:ln>
        <a:effectLst/>
      </a:spPr>
      <a:bodyPr/>
      <a:lstStyle/>
    </a:lnDef>
    <a:txDef>
      <a:spPr bwMode="auto">
        <a:noFill/>
        <a:ln w="9525">
          <a:noFill/>
          <a:miter lim="800000"/>
          <a:headEnd/>
          <a:tailEnd/>
        </a:ln>
      </a:spPr>
      <a:bodyPr wrap="square" rtlCol="0">
        <a:spAutoFit/>
      </a:bodyPr>
      <a:lstStyle>
        <a:defPPr>
          <a:buFont typeface="Wingdings" pitchFamily="2" charset="2"/>
          <a:buChar char="l"/>
          <a:defRPr sz="1800" dirty="0" smtClean="0">
            <a:latin typeface="맑은 고딕" pitchFamily="50" charset="-127"/>
            <a:ea typeface="맑은 고딕" pitchFamily="50" charset="-127"/>
          </a:defRPr>
        </a:defPPr>
      </a:lstStyle>
    </a:txDef>
  </a:objectDefaults>
  <a:extraClrSchemeLst>
    <a:extraClrScheme>
      <a:clrScheme name="4_tb4_onscreen_v2.1 1">
        <a:dk1>
          <a:srgbClr val="7B0A14"/>
        </a:dk1>
        <a:lt1>
          <a:srgbClr val="FFFFFF"/>
        </a:lt1>
        <a:dk2>
          <a:srgbClr val="FB3D32"/>
        </a:dk2>
        <a:lt2>
          <a:srgbClr val="BF0509"/>
        </a:lt2>
        <a:accent1>
          <a:srgbClr val="FD8B84"/>
        </a:accent1>
        <a:accent2>
          <a:srgbClr val="FDB1AD"/>
        </a:accent2>
        <a:accent3>
          <a:srgbClr val="FFFFFF"/>
        </a:accent3>
        <a:accent4>
          <a:srgbClr val="68070F"/>
        </a:accent4>
        <a:accent5>
          <a:srgbClr val="FEC4C2"/>
        </a:accent5>
        <a:accent6>
          <a:srgbClr val="E5A09C"/>
        </a:accent6>
        <a:hlink>
          <a:srgbClr val="FED8D6"/>
        </a:hlink>
        <a:folHlink>
          <a:srgbClr val="7B0A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2">
        <a:dk1>
          <a:srgbClr val="FED8D6"/>
        </a:dk1>
        <a:lt1>
          <a:srgbClr val="FFFFFF"/>
        </a:lt1>
        <a:dk2>
          <a:srgbClr val="7B0A14"/>
        </a:dk2>
        <a:lt2>
          <a:srgbClr val="FDB1AD"/>
        </a:lt2>
        <a:accent1>
          <a:srgbClr val="FD8B84"/>
        </a:accent1>
        <a:accent2>
          <a:srgbClr val="FB3D32"/>
        </a:accent2>
        <a:accent3>
          <a:srgbClr val="BFAAAA"/>
        </a:accent3>
        <a:accent4>
          <a:srgbClr val="DADADA"/>
        </a:accent4>
        <a:accent5>
          <a:srgbClr val="FEC4C2"/>
        </a:accent5>
        <a:accent6>
          <a:srgbClr val="E3362C"/>
        </a:accent6>
        <a:hlink>
          <a:srgbClr val="BF0509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3">
        <a:dk1>
          <a:srgbClr val="1B1112"/>
        </a:dk1>
        <a:lt1>
          <a:srgbClr val="FFFFFF"/>
        </a:lt1>
        <a:dk2>
          <a:srgbClr val="AA9F98"/>
        </a:dk2>
        <a:lt2>
          <a:srgbClr val="564242"/>
        </a:lt2>
        <a:accent1>
          <a:srgbClr val="CCC5C1"/>
        </a:accent1>
        <a:accent2>
          <a:srgbClr val="DDD9D6"/>
        </a:accent2>
        <a:accent3>
          <a:srgbClr val="FFFFFF"/>
        </a:accent3>
        <a:accent4>
          <a:srgbClr val="150D0E"/>
        </a:accent4>
        <a:accent5>
          <a:srgbClr val="E2DFDD"/>
        </a:accent5>
        <a:accent6>
          <a:srgbClr val="C8C4C2"/>
        </a:accent6>
        <a:hlink>
          <a:srgbClr val="EEECEA"/>
        </a:hlink>
        <a:folHlink>
          <a:srgbClr val="1B111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4">
        <a:dk1>
          <a:srgbClr val="EEECEA"/>
        </a:dk1>
        <a:lt1>
          <a:srgbClr val="FFFFFF"/>
        </a:lt1>
        <a:dk2>
          <a:srgbClr val="1B1112"/>
        </a:dk2>
        <a:lt2>
          <a:srgbClr val="DDD9D6"/>
        </a:lt2>
        <a:accent1>
          <a:srgbClr val="CCC5C1"/>
        </a:accent1>
        <a:accent2>
          <a:srgbClr val="AA9F98"/>
        </a:accent2>
        <a:accent3>
          <a:srgbClr val="ABAAAA"/>
        </a:accent3>
        <a:accent4>
          <a:srgbClr val="DADADA"/>
        </a:accent4>
        <a:accent5>
          <a:srgbClr val="E2DFDD"/>
        </a:accent5>
        <a:accent6>
          <a:srgbClr val="9A9089"/>
        </a:accent6>
        <a:hlink>
          <a:srgbClr val="564242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5">
        <a:dk1>
          <a:srgbClr val="3A4972"/>
        </a:dk1>
        <a:lt1>
          <a:srgbClr val="FFFFFF"/>
        </a:lt1>
        <a:dk2>
          <a:srgbClr val="3DA8D5"/>
        </a:dk2>
        <a:lt2>
          <a:srgbClr val="2666A6"/>
        </a:lt2>
        <a:accent1>
          <a:srgbClr val="8BCBE6"/>
        </a:accent1>
        <a:accent2>
          <a:srgbClr val="B1DCEE"/>
        </a:accent2>
        <a:accent3>
          <a:srgbClr val="FFFFFF"/>
        </a:accent3>
        <a:accent4>
          <a:srgbClr val="303D60"/>
        </a:accent4>
        <a:accent5>
          <a:srgbClr val="C4E2F0"/>
        </a:accent5>
        <a:accent6>
          <a:srgbClr val="A0C7D8"/>
        </a:accent6>
        <a:hlink>
          <a:srgbClr val="D8EEF7"/>
        </a:hlink>
        <a:folHlink>
          <a:srgbClr val="3A497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6">
        <a:dk1>
          <a:srgbClr val="D8EEF7"/>
        </a:dk1>
        <a:lt1>
          <a:srgbClr val="FFFFFF"/>
        </a:lt1>
        <a:dk2>
          <a:srgbClr val="3A4972"/>
        </a:dk2>
        <a:lt2>
          <a:srgbClr val="B1DCEE"/>
        </a:lt2>
        <a:accent1>
          <a:srgbClr val="8BCBE6"/>
        </a:accent1>
        <a:accent2>
          <a:srgbClr val="3DA8D5"/>
        </a:accent2>
        <a:accent3>
          <a:srgbClr val="AEB1BC"/>
        </a:accent3>
        <a:accent4>
          <a:srgbClr val="DADADA"/>
        </a:accent4>
        <a:accent5>
          <a:srgbClr val="C4E2F0"/>
        </a:accent5>
        <a:accent6>
          <a:srgbClr val="3698C1"/>
        </a:accent6>
        <a:hlink>
          <a:srgbClr val="2666A6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7">
        <a:dk1>
          <a:srgbClr val="633A11"/>
        </a:dk1>
        <a:lt1>
          <a:srgbClr val="FFFFFF"/>
        </a:lt1>
        <a:dk2>
          <a:srgbClr val="C3A26C"/>
        </a:dk2>
        <a:lt2>
          <a:srgbClr val="8C5110"/>
        </a:lt2>
        <a:accent1>
          <a:srgbClr val="D5BD97"/>
        </a:accent1>
        <a:accent2>
          <a:srgbClr val="E7DAC4"/>
        </a:accent2>
        <a:accent3>
          <a:srgbClr val="FFFFFF"/>
        </a:accent3>
        <a:accent4>
          <a:srgbClr val="53300D"/>
        </a:accent4>
        <a:accent5>
          <a:srgbClr val="E7DBC9"/>
        </a:accent5>
        <a:accent6>
          <a:srgbClr val="D1C5B1"/>
        </a:accent6>
        <a:hlink>
          <a:srgbClr val="F3ECE2"/>
        </a:hlink>
        <a:folHlink>
          <a:srgbClr val="633A1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8">
        <a:dk1>
          <a:srgbClr val="F3ECE2"/>
        </a:dk1>
        <a:lt1>
          <a:srgbClr val="FFFFFF"/>
        </a:lt1>
        <a:dk2>
          <a:srgbClr val="633A11"/>
        </a:dk2>
        <a:lt2>
          <a:srgbClr val="E7DAC4"/>
        </a:lt2>
        <a:accent1>
          <a:srgbClr val="D5BD97"/>
        </a:accent1>
        <a:accent2>
          <a:srgbClr val="C3A26C"/>
        </a:accent2>
        <a:accent3>
          <a:srgbClr val="B7AEAA"/>
        </a:accent3>
        <a:accent4>
          <a:srgbClr val="DADADA"/>
        </a:accent4>
        <a:accent5>
          <a:srgbClr val="E7DBC9"/>
        </a:accent5>
        <a:accent6>
          <a:srgbClr val="B09261"/>
        </a:accent6>
        <a:hlink>
          <a:srgbClr val="8C511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9">
        <a:dk1>
          <a:srgbClr val="707014"/>
        </a:dk1>
        <a:lt1>
          <a:srgbClr val="FFFFFF"/>
        </a:lt1>
        <a:dk2>
          <a:srgbClr val="AFCC0D"/>
        </a:dk2>
        <a:lt2>
          <a:srgbClr val="8D9C00"/>
        </a:lt2>
        <a:accent1>
          <a:srgbClr val="CFE06E"/>
        </a:accent1>
        <a:accent2>
          <a:srgbClr val="DFEB9E"/>
        </a:accent2>
        <a:accent3>
          <a:srgbClr val="FFFFFF"/>
        </a:accent3>
        <a:accent4>
          <a:srgbClr val="5F5F0F"/>
        </a:accent4>
        <a:accent5>
          <a:srgbClr val="E4EDBA"/>
        </a:accent5>
        <a:accent6>
          <a:srgbClr val="CAD58F"/>
        </a:accent6>
        <a:hlink>
          <a:srgbClr val="EFF5CF"/>
        </a:hlink>
        <a:folHlink>
          <a:srgbClr val="70701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0">
        <a:dk1>
          <a:srgbClr val="EFF5CF"/>
        </a:dk1>
        <a:lt1>
          <a:srgbClr val="FFFFFF"/>
        </a:lt1>
        <a:dk2>
          <a:srgbClr val="707014"/>
        </a:dk2>
        <a:lt2>
          <a:srgbClr val="DFEB9E"/>
        </a:lt2>
        <a:accent1>
          <a:srgbClr val="CFE06E"/>
        </a:accent1>
        <a:accent2>
          <a:srgbClr val="AFCC0D"/>
        </a:accent2>
        <a:accent3>
          <a:srgbClr val="BBBBAA"/>
        </a:accent3>
        <a:accent4>
          <a:srgbClr val="DADADA"/>
        </a:accent4>
        <a:accent5>
          <a:srgbClr val="E4EDBA"/>
        </a:accent5>
        <a:accent6>
          <a:srgbClr val="9EB90B"/>
        </a:accent6>
        <a:hlink>
          <a:srgbClr val="8D9C00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tb4_onscreen_v2.1 11">
        <a:dk1>
          <a:srgbClr val="9E540A"/>
        </a:dk1>
        <a:lt1>
          <a:srgbClr val="FFFFFF"/>
        </a:lt1>
        <a:dk2>
          <a:srgbClr val="FE7200"/>
        </a:dk2>
        <a:lt2>
          <a:srgbClr val="D4510A"/>
        </a:lt2>
        <a:accent1>
          <a:srgbClr val="FEAA66"/>
        </a:accent1>
        <a:accent2>
          <a:srgbClr val="FFC799"/>
        </a:accent2>
        <a:accent3>
          <a:srgbClr val="FFFFFF"/>
        </a:accent3>
        <a:accent4>
          <a:srgbClr val="864607"/>
        </a:accent4>
        <a:accent5>
          <a:srgbClr val="FED2B8"/>
        </a:accent5>
        <a:accent6>
          <a:srgbClr val="E7B48A"/>
        </a:accent6>
        <a:hlink>
          <a:srgbClr val="FFE3CC"/>
        </a:hlink>
        <a:folHlink>
          <a:srgbClr val="9E540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tb4_onscreen_v2.1 12">
        <a:dk1>
          <a:srgbClr val="FFE3CC"/>
        </a:dk1>
        <a:lt1>
          <a:srgbClr val="FFFFFF"/>
        </a:lt1>
        <a:dk2>
          <a:srgbClr val="9E540A"/>
        </a:dk2>
        <a:lt2>
          <a:srgbClr val="FFC799"/>
        </a:lt2>
        <a:accent1>
          <a:srgbClr val="FEAA66"/>
        </a:accent1>
        <a:accent2>
          <a:srgbClr val="FE7200"/>
        </a:accent2>
        <a:accent3>
          <a:srgbClr val="CCB3AA"/>
        </a:accent3>
        <a:accent4>
          <a:srgbClr val="DADADA"/>
        </a:accent4>
        <a:accent5>
          <a:srgbClr val="FED2B8"/>
        </a:accent5>
        <a:accent6>
          <a:srgbClr val="E66700"/>
        </a:accent6>
        <a:hlink>
          <a:srgbClr val="D4510A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65861</TotalTime>
  <Words>695</Words>
  <Application>Microsoft Office PowerPoint</Application>
  <PresentationFormat>A4 용지(210x297mm)</PresentationFormat>
  <Paragraphs>305</Paragraphs>
  <Slides>4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3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7_tb4_onscreen_v2.1</vt:lpstr>
      <vt:lpstr>8_tb4_onscreen_v2.1</vt:lpstr>
      <vt:lpstr>6_tb4_onscreen_v2.1</vt:lpstr>
      <vt:lpstr>슬라이드 0</vt:lpstr>
      <vt:lpstr>슬라이드 1</vt:lpstr>
      <vt:lpstr>슬라이드 2</vt:lpstr>
      <vt:lpstr>슬라이드 3</vt:lpstr>
    </vt:vector>
  </TitlesOfParts>
  <Company>Samil PwC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김성은</dc:creator>
  <cp:lastModifiedBy>Windows User</cp:lastModifiedBy>
  <cp:revision>8151</cp:revision>
  <cp:lastPrinted>2012-11-21T23:07:40Z</cp:lastPrinted>
  <dcterms:created xsi:type="dcterms:W3CDTF">2011-12-22T02:00:23Z</dcterms:created>
  <dcterms:modified xsi:type="dcterms:W3CDTF">2013-05-16T01:29:00Z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B template version">
    <vt:lpwstr>6</vt:lpwstr>
  </property>
  <property fmtid="{D5CDD505-2E9C-101B-9397-08002B2CF9AE}" pid="3" name="TB template type">
    <vt:lpwstr>Onscreen</vt:lpwstr>
  </property>
  <property fmtid="{D5CDD505-2E9C-101B-9397-08002B2CF9AE}" pid="4" name="Template created by">
    <vt:lpwstr>PwC</vt:lpwstr>
  </property>
  <property fmtid="{D5CDD505-2E9C-101B-9397-08002B2CF9AE}" pid="5" name="Template version">
    <vt:lpwstr>6</vt:lpwstr>
  </property>
</Properties>
</file>