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Masters/slideMaster6.xml" ContentType="application/vnd.openxmlformats-officedocument.presentationml.slideMaster+xml"/>
  <Override PartName="/ppt/theme/theme8.xml" ContentType="application/vnd.openxmlformats-officedocument.theme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4675" r:id="rId1"/>
    <p:sldMasterId id="2147484678" r:id="rId2"/>
    <p:sldMasterId id="2147484681" r:id="rId3"/>
    <p:sldMasterId id="2147484684" r:id="rId4"/>
    <p:sldMasterId id="2147484687" r:id="rId5"/>
    <p:sldMasterId id="2147484690" r:id="rId6"/>
  </p:sldMasterIdLst>
  <p:notesMasterIdLst>
    <p:notesMasterId r:id="rId12"/>
  </p:notesMasterIdLst>
  <p:handoutMasterIdLst>
    <p:handoutMasterId r:id="rId13"/>
  </p:handoutMasterIdLst>
  <p:sldIdLst>
    <p:sldId id="2254" r:id="rId7"/>
    <p:sldId id="2250" r:id="rId8"/>
    <p:sldId id="2251" r:id="rId9"/>
    <p:sldId id="2255" r:id="rId10"/>
    <p:sldId id="2256" r:id="rId11"/>
  </p:sldIdLst>
  <p:sldSz cx="9906000" cy="6858000" type="A4"/>
  <p:notesSz cx="6797675" cy="9926638"/>
  <p:defaultTextStyle>
    <a:defPPr>
      <a:defRPr lang="en-US"/>
    </a:defPPr>
    <a:lvl1pPr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74382" indent="-46009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53522" indent="-95196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432663" indent="-144378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911802" indent="-193560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4644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1570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198501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5428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0000"/>
    <a:srgbClr val="0000CC"/>
    <a:srgbClr val="CC0000"/>
    <a:srgbClr val="DC6900"/>
    <a:srgbClr val="FFFF66"/>
    <a:srgbClr val="333333"/>
    <a:srgbClr val="FF9999"/>
    <a:srgbClr val="FFCCCC"/>
    <a:srgbClr val="FFF7E1"/>
    <a:srgbClr val="FFFD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69D073F8-1565-44D7-B386-08B59EADF2EE}">
  <a:tblStyle styleId="{69D073F8-1565-44D7-B386-08B59EADF2EE}" styleName="PwC Table">
    <a:wholeTbl>
      <a:tcTxStyle>
        <a:fontRef idx="maj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38100" cmpd="sng">
              <a:noFill/>
            </a:ln>
          </a:bottom>
        </a:tcBdr>
      </a:tcStyle>
    </a:band1H>
    <a:band2H>
      <a:tcStyle>
        <a:tcBdr>
          <a:bottom>
            <a:ln w="38100" cmpd="sng">
              <a:noFill/>
            </a:ln>
          </a:bottom>
        </a:tcBdr>
      </a:tcStyle>
    </a:band2H>
    <a:firstCol>
      <a:tcTxStyle i="on">
        <a:fontRef idx="major">
          <a:prstClr val="black"/>
        </a:fontRef>
        <a:schemeClr val="dk1"/>
      </a:tcTxStyle>
      <a:tcStyle>
        <a:tcBdr/>
        <a:fill>
          <a:noFill/>
        </a:fill>
      </a:tcStyle>
    </a:firstCol>
    <a:firstRow>
      <a:tcTxStyle b="on">
        <a:fontRef idx="major">
          <a:prstClr val="black"/>
        </a:fontRef>
        <a:schemeClr val="dk2"/>
      </a:tcTxStyle>
      <a:tcStyle>
        <a:tcBdr>
          <a:bottom>
            <a:ln w="38100" cmpd="sng">
              <a:noFill/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06" autoAdjust="0"/>
    <p:restoredTop sz="82572" autoAdjust="0"/>
  </p:normalViewPr>
  <p:slideViewPr>
    <p:cSldViewPr snapToObjects="1">
      <p:cViewPr>
        <p:scale>
          <a:sx n="75" d="100"/>
          <a:sy n="75" d="100"/>
        </p:scale>
        <p:origin x="-1314" y="-78"/>
      </p:cViewPr>
      <p:guideLst>
        <p:guide orient="horz" pos="300"/>
        <p:guide orient="horz" pos="2704"/>
        <p:guide orient="horz" pos="1389"/>
        <p:guide pos="6023"/>
      </p:guideLst>
    </p:cSldViewPr>
  </p:slideViewPr>
  <p:outlineViewPr>
    <p:cViewPr>
      <p:scale>
        <a:sx n="33" d="100"/>
        <a:sy n="33" d="100"/>
      </p:scale>
      <p:origin x="0" y="10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Objects="1">
      <p:cViewPr varScale="1">
        <p:scale>
          <a:sx n="49" d="100"/>
          <a:sy n="49" d="100"/>
        </p:scale>
        <p:origin x="-2712" y="-108"/>
      </p:cViewPr>
      <p:guideLst>
        <p:guide orient="horz" pos="3127"/>
        <p:guide pos="2141"/>
      </p:guideLst>
    </p:cSldViewPr>
  </p:notesViewPr>
  <p:gridSpacing cx="73737788" cy="7373778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598B7DD0-F933-4256-AFA8-DB79D4CAE8E1}" type="datetimeFigureOut">
              <a:rPr lang="en-US" altLang="ko-KR"/>
              <a:pPr>
                <a:defRPr/>
              </a:pPr>
              <a:t>5/16/2013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0790A42-1C5E-4D8C-9AE2-6811605AC8D4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33075673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B733C386-9AAD-4375-8F24-A34430528E7D}" type="datetimeFigureOut">
              <a:rPr lang="en-US" altLang="ko-KR"/>
              <a:pPr>
                <a:defRPr/>
              </a:pPr>
              <a:t>5/16/2013</a:t>
            </a:fld>
            <a:endParaRPr lang="ko-KR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4538"/>
            <a:ext cx="537210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58" tIns="45830" rIns="91658" bIns="4583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715193"/>
            <a:ext cx="5437506" cy="4466274"/>
          </a:xfrm>
          <a:prstGeom prst="rect">
            <a:avLst/>
          </a:prstGeom>
        </p:spPr>
        <p:txBody>
          <a:bodyPr vert="horz" lIns="91658" tIns="45830" rIns="91658" bIns="45830" rtlCol="0">
            <a:normAutofit/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  <a:endParaRPr lang="ko-KR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BE75456-4044-433B-A0B1-1CCD6A62A8D3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986330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7438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5352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432663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91180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393022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871627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50230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28833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4538"/>
            <a:ext cx="5372100" cy="3721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449BE4-5C86-4C49-AD04-A69537C68BBF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0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6681193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6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9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6" r:id="rId1"/>
    <p:sldLayoutId id="2147484680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2" r:id="rId1"/>
    <p:sldLayoutId id="2147484683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5" r:id="rId1"/>
    <p:sldLayoutId id="2147484686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8" r:id="rId1"/>
    <p:sldLayoutId id="2147484689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91" r:id="rId1"/>
    <p:sldLayoutId id="2147484692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 bwMode="auto">
          <a:xfrm>
            <a:off x="0" y="531815"/>
            <a:ext cx="9906000" cy="482447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grpSp>
        <p:nvGrpSpPr>
          <p:cNvPr id="2" name="그룹 1"/>
          <p:cNvGrpSpPr>
            <a:grpSpLocks/>
          </p:cNvGrpSpPr>
          <p:nvPr/>
        </p:nvGrpSpPr>
        <p:grpSpPr bwMode="auto">
          <a:xfrm>
            <a:off x="415926" y="406402"/>
            <a:ext cx="1944688" cy="358775"/>
            <a:chOff x="2208212" y="2187772"/>
            <a:chExt cx="5959947" cy="1469677"/>
          </a:xfrm>
        </p:grpSpPr>
        <p:pic>
          <p:nvPicPr>
            <p:cNvPr id="5127" name="Picture 2" descr="C:\Documents and Settings\admin\바탕 화면\제목 ss없음-1.jpg"/>
            <p:cNvPicPr>
              <a:picLocks noChangeAspect="1" noChangeArrowheads="1"/>
            </p:cNvPicPr>
            <p:nvPr/>
          </p:nvPicPr>
          <p:blipFill>
            <a:blip r:embed="rId3" cstate="print"/>
            <a:srcRect t="31873" r="30904" b="38634"/>
            <a:stretch>
              <a:fillRect/>
            </a:stretch>
          </p:blipFill>
          <p:spPr bwMode="auto">
            <a:xfrm>
              <a:off x="2208212" y="2187772"/>
              <a:ext cx="4429333" cy="14060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28" name="Picture 2" descr="C:\Documents and Settings\admin\바탕 화면\제목 ss없음-1.jpg"/>
            <p:cNvPicPr>
              <a:picLocks noChangeAspect="1" noChangeArrowheads="1"/>
            </p:cNvPicPr>
            <p:nvPr/>
          </p:nvPicPr>
          <p:blipFill>
            <a:blip r:embed="rId4" cstate="print"/>
            <a:srcRect l="68555" t="31873" b="28601"/>
            <a:stretch>
              <a:fillRect/>
            </a:stretch>
          </p:blipFill>
          <p:spPr bwMode="auto">
            <a:xfrm>
              <a:off x="6602819" y="2194115"/>
              <a:ext cx="1565340" cy="14633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872860" y="5284320"/>
            <a:ext cx="3312408" cy="41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3333" tIns="51667" rIns="103333" bIns="51667" anchor="ctr">
            <a:spAutoFit/>
          </a:bodyPr>
          <a:lstStyle/>
          <a:p>
            <a:pPr defTabSz="914400"/>
            <a:r>
              <a:rPr lang="ko-KR" altLang="en-US" sz="2000" b="1" dirty="0" smtClean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가는각진제목체"/>
              </a:rPr>
              <a:t>목표원가관리시스템 구축 </a:t>
            </a:r>
            <a:r>
              <a:rPr lang="en-US" altLang="ko-KR" sz="2000" b="1" dirty="0" smtClean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가는각진제목체"/>
              </a:rPr>
              <a:t>TFT</a:t>
            </a:r>
            <a:endParaRPr lang="ko-KR" altLang="en-US" sz="2000" b="1" dirty="0">
              <a:solidFill>
                <a:srgbClr val="000000">
                  <a:lumMod val="95000"/>
                  <a:lumOff val="5000"/>
                </a:srgbClr>
              </a:solidFill>
              <a:latin typeface="Arial"/>
              <a:ea typeface="가는각진제목체"/>
            </a:endParaRPr>
          </a:p>
        </p:txBody>
      </p:sp>
      <p:pic>
        <p:nvPicPr>
          <p:cNvPr id="11" name="Picture 394" descr="현대다이모스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6381" t="20050" r="27190" b="56340"/>
          <a:stretch>
            <a:fillRect/>
          </a:stretch>
        </p:blipFill>
        <p:spPr bwMode="auto">
          <a:xfrm>
            <a:off x="2648716" y="5229250"/>
            <a:ext cx="1296144" cy="441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29"/>
          <p:cNvSpPr>
            <a:spLocks noChangeArrowheads="1"/>
          </p:cNvSpPr>
          <p:nvPr/>
        </p:nvSpPr>
        <p:spPr bwMode="auto">
          <a:xfrm>
            <a:off x="948126" y="1782052"/>
            <a:ext cx="7965315" cy="218942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1339" tIns="180000" rIns="91339" bIns="45669" anchor="t"/>
          <a:lstStyle/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ko-KR" altLang="en-US" sz="20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목표원가관리 시스템 </a:t>
            </a:r>
            <a:endParaRPr lang="en-US" altLang="ko-KR" sz="2000" b="1" dirty="0" smtClean="0">
              <a:solidFill>
                <a:srgbClr val="000000"/>
              </a:solidFill>
              <a:latin typeface="Arial"/>
              <a:ea typeface="가는각진제목체"/>
            </a:endParaRPr>
          </a:p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ko-KR" altLang="en-US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화면</a:t>
            </a:r>
            <a:r>
              <a:rPr lang="en-US" altLang="ko-KR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/</a:t>
            </a:r>
            <a:r>
              <a:rPr lang="ko-KR" altLang="en-US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프로그램 개발요청서</a:t>
            </a:r>
          </a:p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endParaRPr lang="en-US" altLang="ko-KR" sz="1200" b="1" dirty="0" smtClean="0">
              <a:solidFill>
                <a:srgbClr val="000000"/>
              </a:solidFill>
              <a:latin typeface="Arial"/>
              <a:ea typeface="가는각진제목체"/>
              <a:cs typeface="Arial" charset="0"/>
            </a:endParaRPr>
          </a:p>
        </p:txBody>
      </p:sp>
      <p:sp>
        <p:nvSpPr>
          <p:cNvPr id="17" name="TextBox 6"/>
          <p:cNvSpPr txBox="1">
            <a:spLocks noChangeArrowheads="1"/>
          </p:cNvSpPr>
          <p:nvPr/>
        </p:nvSpPr>
        <p:spPr bwMode="auto">
          <a:xfrm>
            <a:off x="733712" y="1196690"/>
            <a:ext cx="64359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400" eaLnBrk="1" hangingPunct="1"/>
            <a:r>
              <a:rPr lang="en-US" altLang="ko-KR" sz="1800" dirty="0">
                <a:latin typeface="Arial"/>
                <a:ea typeface="가는각진제목체"/>
                <a:cs typeface="Arial" charset="0"/>
              </a:rPr>
              <a:t>『 </a:t>
            </a:r>
            <a:r>
              <a:rPr lang="ko-KR" altLang="en-US" sz="1800" b="1" dirty="0">
                <a:solidFill>
                  <a:srgbClr val="606060"/>
                </a:solidFill>
                <a:latin typeface="Arial"/>
                <a:ea typeface="가는각진제목체"/>
              </a:rPr>
              <a:t>전진적 </a:t>
            </a:r>
            <a:r>
              <a:rPr lang="ko-KR" altLang="en-US" sz="1800" b="1" dirty="0" smtClean="0">
                <a:solidFill>
                  <a:srgbClr val="606060"/>
                </a:solidFill>
                <a:latin typeface="Arial"/>
                <a:ea typeface="가는각진제목체"/>
              </a:rPr>
              <a:t>원가관리 업무체계 확립</a:t>
            </a:r>
            <a:r>
              <a:rPr lang="en-US" altLang="ko-KR" sz="1800" dirty="0" smtClean="0">
                <a:latin typeface="Arial"/>
                <a:ea typeface="가는각진제목체"/>
                <a:cs typeface="Arial" charset="0"/>
              </a:rPr>
              <a:t>』</a:t>
            </a:r>
            <a:endParaRPr lang="ko-KR" altLang="en-US" sz="1800" dirty="0">
              <a:latin typeface="Arial"/>
              <a:ea typeface="가는각진제목체"/>
              <a:cs typeface="Arial" charset="0"/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200340" y="6237390"/>
            <a:ext cx="9705660" cy="62061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0" y="193675"/>
            <a:ext cx="200340" cy="57150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821345" y="3375663"/>
            <a:ext cx="221887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10000"/>
              </a:spcBef>
              <a:defRPr/>
            </a:pP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 - 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060.</a:t>
            </a:r>
            <a:r>
              <a:rPr lang="ko-KR" altLang="en-US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개발 및 중간평가 일정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- </a:t>
            </a:r>
            <a:endParaRPr lang="en-US" altLang="ko-KR" sz="1400" b="1" dirty="0">
              <a:solidFill>
                <a:srgbClr val="000000"/>
              </a:solidFill>
              <a:latin typeface="Arial"/>
              <a:ea typeface="가는각진제목체"/>
              <a:cs typeface="Arial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3973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Group 944"/>
          <p:cNvGraphicFramePr>
            <a:graphicFrameLocks noGrp="1"/>
          </p:cNvGraphicFramePr>
          <p:nvPr/>
        </p:nvGraphicFramePr>
        <p:xfrm>
          <a:off x="376061" y="307172"/>
          <a:ext cx="9238086" cy="3602592"/>
        </p:xfrm>
        <a:graphic>
          <a:graphicData uri="http://schemas.openxmlformats.org/drawingml/2006/table">
            <a:tbl>
              <a:tblPr/>
              <a:tblGrid>
                <a:gridCol w="2139422"/>
                <a:gridCol w="1161167"/>
                <a:gridCol w="1162050"/>
                <a:gridCol w="738011"/>
                <a:gridCol w="417336"/>
                <a:gridCol w="904663"/>
                <a:gridCol w="264090"/>
                <a:gridCol w="313760"/>
                <a:gridCol w="671866"/>
                <a:gridCol w="157480"/>
                <a:gridCol w="1308241"/>
              </a:tblGrid>
              <a:tr h="336744">
                <a:tc gridSpan="1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일반 개요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6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Program ID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-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060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Process ID</a:t>
                      </a:r>
                      <a:endParaRPr kumimoji="1" lang="en-GB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목표원가 대상 선정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6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 코드 생성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: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 및 중간 평가 일정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040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설명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개발기간 중 각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Event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의 시작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종료시점과 각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도면출도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일정을 등록하고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사전에 정의된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Rule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에 따라 현상원가 산출 및 중간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최종 달성도 평가 시기를 사전에 정의함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9858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구분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Master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Interface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Data Input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Creation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(Costing)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Schedule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(Monitor)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Report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2495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돋움" pitchFamily="50" charset="-127"/>
                        </a:rPr>
                        <a:t>●</a:t>
                      </a: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개발완료 요청일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2013.05.16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모듈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작성자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신 정 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2013.05.16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컨설턴트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신 정 수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2013.05.16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팀장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배 병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희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고 현 철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9" name="Group 820"/>
          <p:cNvGraphicFramePr>
            <a:graphicFrameLocks noGrp="1"/>
          </p:cNvGraphicFramePr>
          <p:nvPr/>
        </p:nvGraphicFramePr>
        <p:xfrm>
          <a:off x="376061" y="4005080"/>
          <a:ext cx="9238086" cy="2332741"/>
        </p:xfrm>
        <a:graphic>
          <a:graphicData uri="http://schemas.openxmlformats.org/drawingml/2006/table">
            <a:tbl>
              <a:tblPr/>
              <a:tblGrid>
                <a:gridCol w="1575937"/>
                <a:gridCol w="1154760"/>
                <a:gridCol w="5248492"/>
                <a:gridCol w="1258897"/>
              </a:tblGrid>
              <a:tr h="30643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Document History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06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Date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변경 내용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사유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요청부서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Version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2013.05.16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신정수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초기작성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V1.0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512"/>
          <p:cNvGraphicFramePr>
            <a:graphicFrameLocks noGrp="1"/>
          </p:cNvGraphicFramePr>
          <p:nvPr/>
        </p:nvGraphicFramePr>
        <p:xfrm>
          <a:off x="376061" y="343221"/>
          <a:ext cx="9153878" cy="4098885"/>
        </p:xfrm>
        <a:graphic>
          <a:graphicData uri="http://schemas.openxmlformats.org/drawingml/2006/table">
            <a:tbl>
              <a:tblPr/>
              <a:tblGrid>
                <a:gridCol w="2263247"/>
                <a:gridCol w="2260953"/>
                <a:gridCol w="2263245"/>
                <a:gridCol w="2366433"/>
              </a:tblGrid>
              <a:tr h="27738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Business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요구사항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58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요구사항정의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중간달성도 평가와 최종 달성도 평가 시기를 사전에 정의하여야 함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평가시기는 개발 프로젝트의 단계별 일정관리와 함께 관리되어야 하며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, PMS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에 등록되어야 하는 일정정보와 연계하는 것이 바람직함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1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업무담당자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원가관리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6772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개발에 따른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기대 효용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 달성 중간평가 및 최종 평가 일정 사전 정의 가능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PMS Data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를 활용하고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누락시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수기 보완 방식을 통하여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PMS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의 적극적인 활용을 유도하고 동일한 사건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개발일정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에 대하여 동일한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Data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가 사용되도록 함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세부화면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GB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On-Line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Data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건수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1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개발 소요 기간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권한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입력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–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원가관리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/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조회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-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프로젝트 구성원으로 등록된 인원 전체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기타요구사항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Group 399"/>
          <p:cNvGraphicFramePr>
            <a:graphicFrameLocks noGrp="1"/>
          </p:cNvGraphicFramePr>
          <p:nvPr/>
        </p:nvGraphicFramePr>
        <p:xfrm>
          <a:off x="376061" y="5391993"/>
          <a:ext cx="9153886" cy="649094"/>
        </p:xfrm>
        <a:graphic>
          <a:graphicData uri="http://schemas.openxmlformats.org/drawingml/2006/table">
            <a:tbl>
              <a:tblPr/>
              <a:tblGrid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</a:tblGrid>
              <a:tr h="32454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권한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전사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사업부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담당팀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중요도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상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중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난이도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3245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Text Box 346"/>
          <p:cNvSpPr txBox="1">
            <a:spLocks noChangeArrowheads="1"/>
          </p:cNvSpPr>
          <p:nvPr/>
        </p:nvSpPr>
        <p:spPr bwMode="auto">
          <a:xfrm>
            <a:off x="376066" y="6135189"/>
            <a:ext cx="178125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latinLnBrk="0"/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*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난이도 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( 1-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단순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, 5 –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복잡 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</a:p>
        </p:txBody>
      </p:sp>
      <p:sp>
        <p:nvSpPr>
          <p:cNvPr id="8" name="Text Box 347"/>
          <p:cNvSpPr txBox="1">
            <a:spLocks noChangeArrowheads="1"/>
          </p:cNvSpPr>
          <p:nvPr/>
        </p:nvSpPr>
        <p:spPr bwMode="auto">
          <a:xfrm>
            <a:off x="344360" y="5085230"/>
            <a:ext cx="54694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latinLnBrk="0"/>
            <a:r>
              <a:rPr lang="en-US" altLang="ko-KR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</a:t>
            </a:r>
            <a:r>
              <a:rPr lang="ko-KR" altLang="en-US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분류</a:t>
            </a:r>
            <a:r>
              <a:rPr lang="en-US" altLang="ko-KR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82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Arial"/>
                <a:ea typeface="가는각진제목체" pitchFamily="18" charset="-127"/>
              </a:rPr>
              <a:t>원가관리</a:t>
            </a:r>
            <a:r>
              <a:rPr lang="en-US" altLang="ko-KR" sz="1050" kern="0" dirty="0" smtClean="0">
                <a:solidFill>
                  <a:sysClr val="windowText" lastClr="000000"/>
                </a:solidFill>
                <a:latin typeface="Arial"/>
                <a:ea typeface="가는각진제목체" pitchFamily="18" charset="-127"/>
              </a:rPr>
              <a:t>, </a:t>
            </a:r>
            <a:r>
              <a:rPr lang="ko-KR" altLang="en-US" sz="1050" kern="0" dirty="0" smtClean="0">
                <a:solidFill>
                  <a:sysClr val="windowText" lastClr="000000"/>
                </a:solidFill>
                <a:latin typeface="Arial"/>
                <a:ea typeface="가는각진제목체" pitchFamily="18" charset="-127"/>
              </a:rPr>
              <a:t>설계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69402"/>
            <a:ext cx="3636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299776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299776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299776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sp>
        <p:nvSpPr>
          <p:cNvPr id="63" name="직사각형 41"/>
          <p:cNvSpPr>
            <a:spLocks noChangeArrowheads="1"/>
          </p:cNvSpPr>
          <p:nvPr/>
        </p:nvSpPr>
        <p:spPr bwMode="auto">
          <a:xfrm>
            <a:off x="5135250" y="804890"/>
            <a:ext cx="936000" cy="324000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anchor="ctr"/>
          <a:lstStyle/>
          <a:p>
            <a:pPr marL="88900" indent="-88900" latinLnBrk="0">
              <a:spcBef>
                <a:spcPct val="20000"/>
              </a:spcBef>
              <a:buFont typeface="Wingdings" pitchFamily="2" charset="2"/>
              <a:buNone/>
            </a:pPr>
            <a:endParaRPr lang="ko-KR" altLang="en-US" sz="900" dirty="0" smtClean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grpSp>
        <p:nvGrpSpPr>
          <p:cNvPr id="2" name="그룹 69"/>
          <p:cNvGrpSpPr/>
          <p:nvPr/>
        </p:nvGrpSpPr>
        <p:grpSpPr>
          <a:xfrm>
            <a:off x="837169" y="1299776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299776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299776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299776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 pitchFamily="18" charset="-127"/>
                <a:sym typeface="Arial" charset="0"/>
              </a:rPr>
              <a:t>견적 제출연도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576350" y="1299776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9138"/>
            <a:ext cx="5691889" cy="4256633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1020891"/>
          <a:ext cx="3528000" cy="48868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견적산출시 등록한 코드와 연계하여 목표원가관리용 코드를 생성하고 필요한 기초 정보를 등록함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1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개발 및 평가 일정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프로젝트 일정 관리와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목표원가 중간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최종 평가시기 관리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각 단추는 도면출도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개발단계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달성도 평가 각각에 대하여  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별도로 기능을 둔다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불러오기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PMS code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가 입력된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코드를 기준으로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관련 내역을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PMS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에서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I/F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할 수 있도록 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</a:t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SOP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는 판가정보에서 입력된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Data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활용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1-1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도면출도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개발 단계의 각 도면 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시작도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,Proto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도면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양산도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고정값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변경 없음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예정 완료일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불러오기로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PMS I/F.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불가능한 경우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(&amp;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수정이 필요한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클릭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sym typeface="Wingdings" pitchFamily="2" charset="2"/>
                        </a:rPr>
                        <a:t>→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sym typeface="Wingdings" pitchFamily="2" charset="2"/>
                        </a:rPr>
                        <a:t>달력에서 선택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1-2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도면출도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개발 단계의 각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Event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단계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Proto, Pilot1/2, PP 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고정값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변경 없음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예정 개시일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완료일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불러오기로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PMS I/F. </a:t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불가능한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(&amp;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수정이 필요한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        클릭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sym typeface="Wingdings" pitchFamily="2" charset="2"/>
                        </a:rPr>
                        <a:t>→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sym typeface="Wingdings" pitchFamily="2" charset="2"/>
                        </a:rPr>
                        <a:t>달력에서 선택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1-3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SOP: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양산개시 월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판가정보에서 입력된 정보를 바탕으로 자동생성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수정이 필요한 경우 판가정보에서 수정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9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1-4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달성도 평가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개발 기간 중 중간평가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&amp;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최종 평가시기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불러오기를 클릭하면 도변출도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~SOP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에 입력된 정보를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바탕으로 자동생성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~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평가완료는 수정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일정한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Rule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에 따라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1~3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 중간평가와 최종평가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현상원가 산출개시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평가완료 일정은 자동생성됨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- 3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 이상의 중간평가가 필요한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추가 가능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시기등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모든 항목은 수정입력 가능함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단 현상원가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산출개시와 평가완료는 달력기능으로 검색하여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선택입력함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01</a:t>
            </a:r>
            <a:endParaRPr lang="ko-KR" altLang="en-US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목표원가 코드 생성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(4/5)</a:t>
            </a:r>
            <a:endParaRPr lang="ko-KR" altLang="en-US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45" name="직사각형 44"/>
          <p:cNvSpPr/>
          <p:nvPr/>
        </p:nvSpPr>
        <p:spPr bwMode="auto">
          <a:xfrm>
            <a:off x="504124" y="2407608"/>
            <a:ext cx="920386" cy="21603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lIns="18000" rtlCol="0" anchor="ctr"/>
          <a:lstStyle/>
          <a:p>
            <a:pPr eaLnBrk="0" latinLnBrk="0" hangingPunct="0"/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[</a:t>
            </a:r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도면 출도 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]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6" name="직사각형 45"/>
          <p:cNvSpPr/>
          <p:nvPr/>
        </p:nvSpPr>
        <p:spPr bwMode="auto">
          <a:xfrm>
            <a:off x="504124" y="3324736"/>
            <a:ext cx="920386" cy="21603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lIns="18000" rtlCol="0" anchor="ctr"/>
          <a:lstStyle/>
          <a:p>
            <a:pPr eaLnBrk="0" latinLnBrk="0" hangingPunct="0"/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[</a:t>
            </a:r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개발단계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]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grpSp>
        <p:nvGrpSpPr>
          <p:cNvPr id="6" name="그룹 108"/>
          <p:cNvGrpSpPr/>
          <p:nvPr/>
        </p:nvGrpSpPr>
        <p:grpSpPr>
          <a:xfrm>
            <a:off x="344360" y="1730382"/>
            <a:ext cx="5515141" cy="252668"/>
            <a:chOff x="326717" y="1882882"/>
            <a:chExt cx="5515141" cy="252668"/>
          </a:xfrm>
        </p:grpSpPr>
        <p:sp>
          <p:nvSpPr>
            <p:cNvPr id="110" name="한쪽 모서리가 잘린 사각형 109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112" name="한쪽 모서리가 잘린 사각형 111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113" name="한쪽 모서리가 잘린 사각형 112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114" name="한쪽 모서리가 잘린 사각형 113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115" name="한쪽 모서리가 잘린 사각형 114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116" name="한쪽 모서리가 잘린 사각형 115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117" name="한쪽 모서리가 잘린 사각형 116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  <p:sp>
        <p:nvSpPr>
          <p:cNvPr id="55" name="타원 54"/>
          <p:cNvSpPr/>
          <p:nvPr/>
        </p:nvSpPr>
        <p:spPr>
          <a:xfrm>
            <a:off x="4083917" y="162875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504124" y="4967714"/>
            <a:ext cx="920386" cy="21603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lIns="18000" rtlCol="0" anchor="ctr"/>
          <a:lstStyle/>
          <a:p>
            <a:pPr eaLnBrk="0" latinLnBrk="0" hangingPunct="0"/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[</a:t>
            </a:r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달성도 평가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]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7" name="직사각형 56"/>
          <p:cNvSpPr/>
          <p:nvPr/>
        </p:nvSpPr>
        <p:spPr bwMode="auto">
          <a:xfrm>
            <a:off x="504124" y="4445739"/>
            <a:ext cx="920386" cy="21603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lIns="18000" rtlCol="0" anchor="ctr"/>
          <a:lstStyle/>
          <a:p>
            <a:pPr eaLnBrk="0" latinLnBrk="0" hangingPunct="0"/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[SOP]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8" name="AutoShape 279"/>
          <p:cNvSpPr>
            <a:spLocks noChangeArrowheads="1"/>
          </p:cNvSpPr>
          <p:nvPr/>
        </p:nvSpPr>
        <p:spPr bwMode="auto">
          <a:xfrm>
            <a:off x="5426468" y="242086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50" name="AutoShape 279"/>
          <p:cNvSpPr>
            <a:spLocks noChangeArrowheads="1"/>
          </p:cNvSpPr>
          <p:nvPr/>
        </p:nvSpPr>
        <p:spPr bwMode="auto">
          <a:xfrm>
            <a:off x="4583599" y="242086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52" name="AutoShape 279"/>
          <p:cNvSpPr>
            <a:spLocks noChangeArrowheads="1"/>
          </p:cNvSpPr>
          <p:nvPr/>
        </p:nvSpPr>
        <p:spPr bwMode="auto">
          <a:xfrm>
            <a:off x="5005033" y="242086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58" name="AutoShape 279"/>
          <p:cNvSpPr>
            <a:spLocks noChangeArrowheads="1"/>
          </p:cNvSpPr>
          <p:nvPr/>
        </p:nvSpPr>
        <p:spPr bwMode="auto">
          <a:xfrm>
            <a:off x="4052940" y="2420860"/>
            <a:ext cx="46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불러오기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graphicFrame>
        <p:nvGraphicFramePr>
          <p:cNvPr id="78" name="표 77"/>
          <p:cNvGraphicFramePr>
            <a:graphicFrameLocks noGrp="1"/>
          </p:cNvGraphicFramePr>
          <p:nvPr/>
        </p:nvGraphicFramePr>
        <p:xfrm>
          <a:off x="504124" y="4661769"/>
          <a:ext cx="1270000" cy="172725"/>
        </p:xfrm>
        <a:graphic>
          <a:graphicData uri="http://schemas.openxmlformats.org/drawingml/2006/table">
            <a:tbl>
              <a:tblPr/>
              <a:tblGrid>
                <a:gridCol w="559179"/>
                <a:gridCol w="710821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SOP</a:t>
                      </a:r>
                    </a:p>
                  </a:txBody>
                  <a:tcPr marL="9525" marR="9525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2013-07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9" name="표 78"/>
          <p:cNvGraphicFramePr>
            <a:graphicFrameLocks noGrp="1"/>
          </p:cNvGraphicFramePr>
          <p:nvPr/>
        </p:nvGraphicFramePr>
        <p:xfrm>
          <a:off x="504124" y="3528891"/>
          <a:ext cx="2265500" cy="863625"/>
        </p:xfrm>
        <a:graphic>
          <a:graphicData uri="http://schemas.openxmlformats.org/drawingml/2006/table">
            <a:tbl>
              <a:tblPr/>
              <a:tblGrid>
                <a:gridCol w="368300"/>
                <a:gridCol w="457200"/>
                <a:gridCol w="720000"/>
                <a:gridCol w="720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 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구분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예정 개시일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예정 완료일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Proto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2013-06-02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2013-03-30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Pilot1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2013-04-01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2013-02-28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Pilot2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2013-05-01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2013-06-15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PP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2013-06-16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2013-06-30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0" name="표 79"/>
          <p:cNvGraphicFramePr>
            <a:graphicFrameLocks noGrp="1"/>
          </p:cNvGraphicFramePr>
          <p:nvPr/>
        </p:nvGraphicFramePr>
        <p:xfrm>
          <a:off x="504124" y="5183744"/>
          <a:ext cx="3440414" cy="1016025"/>
        </p:xfrm>
        <a:graphic>
          <a:graphicData uri="http://schemas.openxmlformats.org/drawingml/2006/table">
            <a:tbl>
              <a:tblPr/>
              <a:tblGrid>
                <a:gridCol w="367606"/>
                <a:gridCol w="864000"/>
                <a:gridCol w="713030"/>
                <a:gridCol w="747889"/>
                <a:gridCol w="747889"/>
              </a:tblGrid>
              <a:tr h="3238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 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차수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시기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현상원가 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산출 개시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평가 완료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 중간 평가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시작도 출도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2013-02-28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2013-03-15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 중간 평가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Proto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완료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2013-03-30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2013-04-14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 중간 평가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Pilot2 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완료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2013-06-15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2013-06-30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최종 달성도 평가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SOP + 6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N/A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2014-02-20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7" name="그룹 94"/>
          <p:cNvGrpSpPr/>
          <p:nvPr/>
        </p:nvGrpSpPr>
        <p:grpSpPr>
          <a:xfrm>
            <a:off x="3656820" y="4831956"/>
            <a:ext cx="2128423" cy="215900"/>
            <a:chOff x="3801481" y="2565010"/>
            <a:chExt cx="2128423" cy="215900"/>
          </a:xfrm>
        </p:grpSpPr>
        <p:sp>
          <p:nvSpPr>
            <p:cNvPr id="96" name="AutoShape 279"/>
            <p:cNvSpPr>
              <a:spLocks noChangeArrowheads="1"/>
            </p:cNvSpPr>
            <p:nvPr/>
          </p:nvSpPr>
          <p:spPr bwMode="auto">
            <a:xfrm>
              <a:off x="5571129" y="2565010"/>
              <a:ext cx="358775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Arial"/>
                  <a:ea typeface="가는각진제목체" pitchFamily="18" charset="-127"/>
                </a:rPr>
                <a:t>저장</a:t>
              </a:r>
              <a:endParaRPr kumimoji="0" lang="ko-KR" altLang="en-US" sz="900" dirty="0">
                <a:solidFill>
                  <a:prstClr val="black"/>
                </a:solidFill>
                <a:latin typeface="Arial"/>
                <a:ea typeface="가는각진제목체" pitchFamily="18" charset="-127"/>
              </a:endParaRPr>
            </a:p>
          </p:txBody>
        </p:sp>
        <p:sp>
          <p:nvSpPr>
            <p:cNvPr id="102" name="AutoShape 279"/>
            <p:cNvSpPr>
              <a:spLocks noChangeArrowheads="1"/>
            </p:cNvSpPr>
            <p:nvPr/>
          </p:nvSpPr>
          <p:spPr bwMode="auto">
            <a:xfrm>
              <a:off x="4740918" y="2565010"/>
              <a:ext cx="358775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Arial"/>
                  <a:ea typeface="가는각진제목체" pitchFamily="18" charset="-127"/>
                </a:rPr>
                <a:t>수정</a:t>
              </a:r>
              <a:endParaRPr kumimoji="0" lang="ko-KR" altLang="en-US" sz="900" dirty="0">
                <a:solidFill>
                  <a:prstClr val="black"/>
                </a:solidFill>
                <a:latin typeface="Arial"/>
                <a:ea typeface="가는각진제목체" pitchFamily="18" charset="-127"/>
              </a:endParaRPr>
            </a:p>
          </p:txBody>
        </p:sp>
        <p:sp>
          <p:nvSpPr>
            <p:cNvPr id="103" name="AutoShape 279"/>
            <p:cNvSpPr>
              <a:spLocks noChangeArrowheads="1"/>
            </p:cNvSpPr>
            <p:nvPr/>
          </p:nvSpPr>
          <p:spPr bwMode="auto">
            <a:xfrm>
              <a:off x="4325812" y="2565010"/>
              <a:ext cx="358775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Arial"/>
                  <a:ea typeface="가는각진제목체" pitchFamily="18" charset="-127"/>
                </a:rPr>
                <a:t>추가</a:t>
              </a:r>
              <a:endParaRPr kumimoji="0" lang="ko-KR" altLang="en-US" sz="900" dirty="0">
                <a:solidFill>
                  <a:prstClr val="black"/>
                </a:solidFill>
                <a:latin typeface="Arial"/>
                <a:ea typeface="가는각진제목체" pitchFamily="18" charset="-127"/>
              </a:endParaRPr>
            </a:p>
          </p:txBody>
        </p:sp>
        <p:sp>
          <p:nvSpPr>
            <p:cNvPr id="104" name="AutoShape 279"/>
            <p:cNvSpPr>
              <a:spLocks noChangeArrowheads="1"/>
            </p:cNvSpPr>
            <p:nvPr/>
          </p:nvSpPr>
          <p:spPr bwMode="auto">
            <a:xfrm>
              <a:off x="5156024" y="2565010"/>
              <a:ext cx="358775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Arial"/>
                  <a:ea typeface="가는각진제목체" pitchFamily="18" charset="-127"/>
                </a:rPr>
                <a:t>삭제</a:t>
              </a:r>
              <a:endParaRPr kumimoji="0" lang="ko-KR" altLang="en-US" sz="900" dirty="0">
                <a:solidFill>
                  <a:prstClr val="black"/>
                </a:solidFill>
                <a:latin typeface="Arial"/>
                <a:ea typeface="가는각진제목체" pitchFamily="18" charset="-127"/>
              </a:endParaRPr>
            </a:p>
          </p:txBody>
        </p:sp>
        <p:sp>
          <p:nvSpPr>
            <p:cNvPr id="105" name="AutoShape 279"/>
            <p:cNvSpPr>
              <a:spLocks noChangeArrowheads="1"/>
            </p:cNvSpPr>
            <p:nvPr/>
          </p:nvSpPr>
          <p:spPr bwMode="auto">
            <a:xfrm>
              <a:off x="3801481" y="2565010"/>
              <a:ext cx="468000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Arial"/>
                  <a:ea typeface="가는각진제목체" pitchFamily="18" charset="-127"/>
                </a:rPr>
                <a:t>불러오기</a:t>
              </a:r>
              <a:endParaRPr kumimoji="0" lang="ko-KR" altLang="en-US" sz="900" dirty="0">
                <a:solidFill>
                  <a:prstClr val="black"/>
                </a:solidFill>
                <a:latin typeface="Arial"/>
                <a:ea typeface="가는각진제목체" pitchFamily="18" charset="-127"/>
              </a:endParaRPr>
            </a:p>
          </p:txBody>
        </p:sp>
      </p:grpSp>
      <p:sp>
        <p:nvSpPr>
          <p:cNvPr id="106" name="직사각형 105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graphicFrame>
        <p:nvGraphicFramePr>
          <p:cNvPr id="107" name="표 106"/>
          <p:cNvGraphicFramePr>
            <a:graphicFrameLocks noGrp="1"/>
          </p:cNvGraphicFramePr>
          <p:nvPr/>
        </p:nvGraphicFramePr>
        <p:xfrm>
          <a:off x="505804" y="2609523"/>
          <a:ext cx="1782826" cy="690900"/>
        </p:xfrm>
        <a:graphic>
          <a:graphicData uri="http://schemas.openxmlformats.org/drawingml/2006/table">
            <a:tbl>
              <a:tblPr/>
              <a:tblGrid>
                <a:gridCol w="367629"/>
                <a:gridCol w="659197"/>
                <a:gridCol w="756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 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구분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예정 완료일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시작도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2013-02-28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Proto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도면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2013-03-31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양산도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2013-05-31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0" name="표 69"/>
          <p:cNvGraphicFramePr>
            <a:graphicFrameLocks noGrp="1"/>
          </p:cNvGraphicFramePr>
          <p:nvPr/>
        </p:nvGraphicFramePr>
        <p:xfrm>
          <a:off x="423872" y="2047558"/>
          <a:ext cx="1526732" cy="323850"/>
        </p:xfrm>
        <a:graphic>
          <a:graphicData uri="http://schemas.openxmlformats.org/drawingml/2006/table">
            <a:tbl>
              <a:tblPr/>
              <a:tblGrid>
                <a:gridCol w="763366"/>
                <a:gridCol w="763366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코드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5" name="모서리가 둥근 직사각형 74"/>
          <p:cNvSpPr/>
          <p:nvPr/>
        </p:nvSpPr>
        <p:spPr bwMode="auto">
          <a:xfrm rot="20650964">
            <a:off x="3849773" y="3247055"/>
            <a:ext cx="1368000" cy="54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1500" b="1" dirty="0" smtClean="0">
                <a:solidFill>
                  <a:srgbClr val="C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상세 </a:t>
            </a:r>
            <a:r>
              <a:rPr lang="en-US" altLang="ko-KR" sz="1500" b="1" dirty="0" smtClean="0">
                <a:solidFill>
                  <a:srgbClr val="C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Spec </a:t>
            </a:r>
            <a:r>
              <a:rPr lang="ko-KR" altLang="en-US" sz="1500" b="1" dirty="0" smtClean="0">
                <a:solidFill>
                  <a:srgbClr val="C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참고</a:t>
            </a:r>
          </a:p>
        </p:txBody>
      </p:sp>
      <p:cxnSp>
        <p:nvCxnSpPr>
          <p:cNvPr id="91" name="꺾인 연결선 90"/>
          <p:cNvCxnSpPr>
            <a:stCxn id="100" idx="1"/>
            <a:endCxn id="109" idx="1"/>
          </p:cNvCxnSpPr>
          <p:nvPr/>
        </p:nvCxnSpPr>
        <p:spPr bwMode="auto">
          <a:xfrm rot="10800000" flipH="1" flipV="1">
            <a:off x="1544860" y="2852919"/>
            <a:ext cx="911620" cy="2733865"/>
          </a:xfrm>
          <a:prstGeom prst="bentConnector3">
            <a:avLst>
              <a:gd name="adj1" fmla="val -25076"/>
            </a:avLst>
          </a:prstGeom>
          <a:solidFill>
            <a:schemeClr val="accent1"/>
          </a:solidFill>
          <a:ln w="19050" cap="flat" cmpd="sng" algn="ctr">
            <a:solidFill>
              <a:srgbClr val="080808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100" name="직사각형 99"/>
          <p:cNvSpPr/>
          <p:nvPr/>
        </p:nvSpPr>
        <p:spPr bwMode="auto">
          <a:xfrm>
            <a:off x="1544860" y="2766520"/>
            <a:ext cx="576000" cy="1728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09" name="직사각형 108"/>
          <p:cNvSpPr/>
          <p:nvPr/>
        </p:nvSpPr>
        <p:spPr bwMode="auto">
          <a:xfrm>
            <a:off x="2456480" y="5500385"/>
            <a:ext cx="576000" cy="1728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1" name="직사각형 110"/>
          <p:cNvSpPr/>
          <p:nvPr/>
        </p:nvSpPr>
        <p:spPr bwMode="auto">
          <a:xfrm>
            <a:off x="2456480" y="5652785"/>
            <a:ext cx="576000" cy="1728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8" name="직사각형 117"/>
          <p:cNvSpPr/>
          <p:nvPr/>
        </p:nvSpPr>
        <p:spPr bwMode="auto">
          <a:xfrm>
            <a:off x="2444605" y="5852685"/>
            <a:ext cx="756000" cy="1728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21" name="직사각형 120"/>
          <p:cNvSpPr/>
          <p:nvPr/>
        </p:nvSpPr>
        <p:spPr bwMode="auto">
          <a:xfrm>
            <a:off x="2060725" y="3705165"/>
            <a:ext cx="576000" cy="1728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22" name="직사각형 121"/>
          <p:cNvSpPr/>
          <p:nvPr/>
        </p:nvSpPr>
        <p:spPr bwMode="auto">
          <a:xfrm>
            <a:off x="2060725" y="4048310"/>
            <a:ext cx="720000" cy="1728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cxnSp>
        <p:nvCxnSpPr>
          <p:cNvPr id="123" name="꺾인 연결선 122"/>
          <p:cNvCxnSpPr>
            <a:stCxn id="121" idx="1"/>
            <a:endCxn id="111" idx="1"/>
          </p:cNvCxnSpPr>
          <p:nvPr/>
        </p:nvCxnSpPr>
        <p:spPr bwMode="auto">
          <a:xfrm>
            <a:off x="2060725" y="3791565"/>
            <a:ext cx="395755" cy="194762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127" name="꺾인 연결선 126"/>
          <p:cNvCxnSpPr>
            <a:stCxn id="122" idx="3"/>
            <a:endCxn id="118" idx="3"/>
          </p:cNvCxnSpPr>
          <p:nvPr/>
        </p:nvCxnSpPr>
        <p:spPr bwMode="auto">
          <a:xfrm>
            <a:off x="2780725" y="4134710"/>
            <a:ext cx="419880" cy="1804375"/>
          </a:xfrm>
          <a:prstGeom prst="bentConnector3">
            <a:avLst>
              <a:gd name="adj1" fmla="val 154444"/>
            </a:avLst>
          </a:prstGeom>
          <a:solidFill>
            <a:schemeClr val="accent1"/>
          </a:solidFill>
          <a:ln w="19050" cap="flat" cmpd="sng" algn="ctr">
            <a:solidFill>
              <a:srgbClr val="080808"/>
            </a:solidFill>
            <a:prstDash val="sysDash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 - </a:t>
            </a:r>
            <a:r>
              <a:rPr lang="ko-KR" altLang="en-US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목표 </a:t>
            </a:r>
            <a:r>
              <a:rPr lang="en-US" altLang="ko-KR" dirty="0" smtClean="0">
                <a:solidFill>
                  <a:srgbClr val="000000"/>
                </a:solidFill>
                <a:latin typeface="Arial"/>
                <a:ea typeface="가는각진제목체"/>
              </a:rPr>
              <a:t>Guide </a:t>
            </a:r>
            <a:r>
              <a:rPr lang="ko-KR" altLang="en-US" dirty="0" smtClean="0">
                <a:solidFill>
                  <a:srgbClr val="000000"/>
                </a:solidFill>
                <a:latin typeface="Arial"/>
                <a:ea typeface="가는각진제목체"/>
              </a:rPr>
              <a:t>산출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446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1. </a:t>
            </a:r>
            <a:r>
              <a:rPr kumimoji="0" lang="ko-KR" altLang="en-US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개요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050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개발 프로젝트의 주요 단계 일정정보입력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프로젝트의 전체적인 일정관리와 현황파악을 위함이며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중간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달성도 평가 일정을 사전에 수립 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관련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Rule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① 개발기간 중 최소 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3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회 중간 평가 수행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시작도 </a:t>
            </a:r>
            <a:r>
              <a:rPr kumimoji="0" lang="ko-KR" altLang="en-US" sz="1050" b="1" dirty="0" err="1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출도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Proto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완료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/ Pilot2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완료 </a:t>
            </a:r>
            <a:endParaRPr kumimoji="0" lang="en-US" altLang="ko-KR" sz="1050" b="1" dirty="0" smtClean="0">
              <a:solidFill>
                <a:srgbClr val="0000CC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② 중간 평가 시기간 간격이 길다면  추가중간검토 시점 정의 가능</a:t>
            </a:r>
            <a:endParaRPr kumimoji="0" lang="en-US" altLang="ko-KR" sz="1050" b="1" dirty="0" smtClean="0">
              <a:solidFill>
                <a:srgbClr val="0000CC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③ 양산완료 이후 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SOP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＋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6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月 시점에 최종 달성도 평가 수행</a:t>
            </a:r>
            <a:endParaRPr kumimoji="0" lang="ko-KR" altLang="en-US" sz="1050" b="1" dirty="0">
              <a:solidFill>
                <a:srgbClr val="0000CC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endParaRPr kumimoji="0" lang="en-US" altLang="ko-KR" sz="1050" dirty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</a:t>
            </a: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(1)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도면출도와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개발단계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도면출도의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3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 행 제목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~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양산도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과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개발단계의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4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 행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en-US" altLang="ko-KR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Proto~PP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제목은 고정항목임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불러오기 기능을 통하여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PMS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에서 예정일 정보를 가져온다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3) PMS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Data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가 누락되어 값을 가져오지 못하는 경우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추가 입력할 수 있도록 수정 버튼을 통해 입력항목을 활성화한다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날짜는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Pop-Up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달력 중 선택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입력방식 사용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(2) SOP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불러오기 기능을 통하여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‘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판가정보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’ Tab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 등록된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SOP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 예정 정보를 가져온다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연도와 월만 표시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(3)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달성도 평가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기본생성 항목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1,2,3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 중간평가와 최종 평가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▪ 1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 중간평가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시작도 완료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/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-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도면출도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일정의 시작도 예정 완료일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/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종료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시작일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일정관리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Master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상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∑(E10~E30</a:t>
            </a:r>
            <a:r>
              <a:rPr kumimoji="0" lang="en-US" altLang="ko-KR" sz="105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en-US" altLang="ko-KR" sz="105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E80~E99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).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Working day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기준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▪ 2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 중간평가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Proto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완료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/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개발단계 일정의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Proto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예정 완료일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/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종료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시작일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일정관리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Master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상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∑(E10~E30</a:t>
            </a:r>
            <a:r>
              <a:rPr kumimoji="0" lang="en-US" altLang="ko-KR" sz="105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en-US" altLang="ko-KR" sz="105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E80~E99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).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Working day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기준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▪ 3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 중간평가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Pilot2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완료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/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개발단계 일정의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Pilot2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예정 완료일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/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종료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시작일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일정관리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Master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상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∑(E10~E30</a:t>
            </a:r>
            <a:r>
              <a:rPr kumimoji="0" lang="en-US" altLang="ko-KR" sz="105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en-US" altLang="ko-KR" sz="105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E80~E99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).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Working day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기준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▪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최종평가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SOP+6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月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/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– N/A /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종료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SOP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월의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+6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월의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20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일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(Ex: SOP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2013.12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라면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2014/06/20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 완료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endParaRPr kumimoji="0" lang="en-US" altLang="ko-KR" sz="1050" i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추가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수정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추가로 중간평가 지정이 필요한 경우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행을 추가하여 차수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~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평가완료 정보를 입력하거나 수정가능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7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8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6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9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0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1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66110</TotalTime>
  <Words>923</Words>
  <Application>Microsoft Office PowerPoint</Application>
  <PresentationFormat>A4 용지(210x297mm)</PresentationFormat>
  <Paragraphs>263</Paragraphs>
  <Slides>5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6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7_tb4_onscreen_v2.1</vt:lpstr>
      <vt:lpstr>8_tb4_onscreen_v2.1</vt:lpstr>
      <vt:lpstr>6_tb4_onscreen_v2.1</vt:lpstr>
      <vt:lpstr>9_tb4_onscreen_v2.1</vt:lpstr>
      <vt:lpstr>10_tb4_onscreen_v2.1</vt:lpstr>
      <vt:lpstr>11_tb4_onscreen_v2.1</vt:lpstr>
      <vt:lpstr>슬라이드 0</vt:lpstr>
      <vt:lpstr>슬라이드 1</vt:lpstr>
      <vt:lpstr>슬라이드 2</vt:lpstr>
      <vt:lpstr>슬라이드 3</vt:lpstr>
      <vt:lpstr>상세 Spec - 부문별 목표 Guide 산출</vt:lpstr>
    </vt:vector>
  </TitlesOfParts>
  <Company>Samil PwC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김성은</dc:creator>
  <cp:lastModifiedBy>Windows User</cp:lastModifiedBy>
  <cp:revision>8172</cp:revision>
  <cp:lastPrinted>2012-11-21T23:07:40Z</cp:lastPrinted>
  <dcterms:created xsi:type="dcterms:W3CDTF">2011-12-22T02:00:23Z</dcterms:created>
  <dcterms:modified xsi:type="dcterms:W3CDTF">2013-05-16T05:42:19Z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B template version">
    <vt:lpwstr>6</vt:lpwstr>
  </property>
  <property fmtid="{D5CDD505-2E9C-101B-9397-08002B2CF9AE}" pid="3" name="TB template type">
    <vt:lpwstr>Onscreen</vt:lpwstr>
  </property>
  <property fmtid="{D5CDD505-2E9C-101B-9397-08002B2CF9AE}" pid="4" name="Template created by">
    <vt:lpwstr>PwC</vt:lpwstr>
  </property>
  <property fmtid="{D5CDD505-2E9C-101B-9397-08002B2CF9AE}" pid="5" name="Template version">
    <vt:lpwstr>6</vt:lpwstr>
  </property>
</Properties>
</file>