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8.xml" ContentType="application/vnd.openxmlformats-officedocument.theme+xml"/>
  <Override PartName="/ppt/theme/theme9.xml" ContentType="application/vnd.openxmlformats-officedocument.theme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675" r:id="rId1"/>
    <p:sldMasterId id="2147484678" r:id="rId2"/>
    <p:sldMasterId id="2147484681" r:id="rId3"/>
    <p:sldMasterId id="2147484684" r:id="rId4"/>
    <p:sldMasterId id="2147484687" r:id="rId5"/>
    <p:sldMasterId id="2147484690" r:id="rId6"/>
    <p:sldMasterId id="2147484693" r:id="rId7"/>
  </p:sldMasterIdLst>
  <p:notesMasterIdLst>
    <p:notesMasterId r:id="rId12"/>
  </p:notesMasterIdLst>
  <p:handoutMasterIdLst>
    <p:handoutMasterId r:id="rId13"/>
  </p:handoutMasterIdLst>
  <p:sldIdLst>
    <p:sldId id="2254" r:id="rId8"/>
    <p:sldId id="2250" r:id="rId9"/>
    <p:sldId id="2251" r:id="rId10"/>
    <p:sldId id="2255" r:id="rId11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0000CC"/>
    <a:srgbClr val="CC0000"/>
    <a:srgbClr val="DC6900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06" autoAdjust="0"/>
    <p:restoredTop sz="82572" autoAdjust="0"/>
  </p:normalViewPr>
  <p:slideViewPr>
    <p:cSldViewPr snapToObjects="1">
      <p:cViewPr>
        <p:scale>
          <a:sx n="75" d="100"/>
          <a:sy n="75" d="100"/>
        </p:scale>
        <p:origin x="-1314" y="72"/>
      </p:cViewPr>
      <p:guideLst>
        <p:guide orient="horz" pos="300"/>
        <p:guide orient="horz" pos="2704"/>
        <p:guide orient="horz" pos="1389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5/20/2013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5/20/2013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4538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49BE4-5C86-4C49-AD04-A69537C68BB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E75456-4044-433B-A0B1-1CCD6A62A8D3}" type="slidenum">
              <a:rPr lang="en-US" altLang="ko-KR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681193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9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2" r:id="rId1"/>
    <p:sldLayoutId id="2147484683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8" r:id="rId1"/>
    <p:sldLayoutId id="2147484689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1" r:id="rId1"/>
    <p:sldLayoutId id="2147484692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94" r:id="rId1"/>
    <p:sldLayoutId id="2147484695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0" y="531815"/>
            <a:ext cx="9906000" cy="482447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2" name="그룹 1"/>
          <p:cNvGrpSpPr>
            <a:grpSpLocks/>
          </p:cNvGrpSpPr>
          <p:nvPr/>
        </p:nvGrpSpPr>
        <p:grpSpPr bwMode="auto">
          <a:xfrm>
            <a:off x="415926" y="406402"/>
            <a:ext cx="1944688" cy="358775"/>
            <a:chOff x="2208212" y="2187772"/>
            <a:chExt cx="5959947" cy="1469677"/>
          </a:xfrm>
        </p:grpSpPr>
        <p:pic>
          <p:nvPicPr>
            <p:cNvPr id="5127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3" cstate="print"/>
            <a:srcRect t="31873" r="30904" b="38634"/>
            <a:stretch>
              <a:fillRect/>
            </a:stretch>
          </p:blipFill>
          <p:spPr bwMode="auto">
            <a:xfrm>
              <a:off x="2208212" y="2187772"/>
              <a:ext cx="4429333" cy="1406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8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4" cstate="print"/>
            <a:srcRect l="68555" t="31873" b="28601"/>
            <a:stretch>
              <a:fillRect/>
            </a:stretch>
          </p:blipFill>
          <p:spPr bwMode="auto">
            <a:xfrm>
              <a:off x="6602819" y="2194115"/>
              <a:ext cx="1565340" cy="1463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872860" y="5284320"/>
            <a:ext cx="3312408" cy="4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333" tIns="51667" rIns="103333" bIns="51667" anchor="ctr">
            <a:spAutoFit/>
          </a:bodyPr>
          <a:lstStyle/>
          <a:p>
            <a:pPr defTabSz="914400"/>
            <a:r>
              <a:rPr lang="ko-KR" altLang="en-US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목표원가관리시스템 구축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TFT</a:t>
            </a:r>
            <a:endParaRPr lang="ko-KR" altLang="en-US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</a:endParaRPr>
          </a:p>
        </p:txBody>
      </p:sp>
      <p:pic>
        <p:nvPicPr>
          <p:cNvPr id="11" name="Picture 394" descr="현대다이모스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6381" t="20050" r="27190" b="56340"/>
          <a:stretch>
            <a:fillRect/>
          </a:stretch>
        </p:blipFill>
        <p:spPr bwMode="auto">
          <a:xfrm>
            <a:off x="2648716" y="5229250"/>
            <a:ext cx="1296144" cy="44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948126" y="1782052"/>
            <a:ext cx="7965315" cy="218942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339" tIns="180000" rIns="91339" bIns="45669" anchor="t"/>
          <a:lstStyle/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20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시스템 </a:t>
            </a:r>
            <a:endParaRPr lang="en-US" altLang="ko-KR" sz="2000" b="1" dirty="0" smtClean="0">
              <a:solidFill>
                <a:srgbClr val="000000"/>
              </a:solidFill>
              <a:latin typeface="Arial"/>
              <a:ea typeface="가는각진제목체"/>
            </a:endParaRP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화면</a:t>
            </a:r>
            <a:r>
              <a:rPr lang="en-US" altLang="ko-KR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/</a:t>
            </a: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프로그램 개발요청서</a:t>
            </a: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endParaRPr lang="en-US" altLang="ko-KR" sz="1200" b="1" dirty="0" smtClean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733712" y="1196690"/>
            <a:ext cx="6435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eaLnBrk="1" hangingPunct="1"/>
            <a:r>
              <a:rPr lang="en-US" altLang="ko-KR" sz="1800" dirty="0">
                <a:latin typeface="Arial"/>
                <a:ea typeface="가는각진제목체"/>
                <a:cs typeface="Arial" charset="0"/>
              </a:rPr>
              <a:t>『 </a:t>
            </a:r>
            <a:r>
              <a:rPr lang="ko-KR" altLang="en-US" sz="1800" b="1" dirty="0">
                <a:solidFill>
                  <a:srgbClr val="606060"/>
                </a:solidFill>
                <a:latin typeface="Arial"/>
                <a:ea typeface="가는각진제목체"/>
              </a:rPr>
              <a:t>전진적 </a:t>
            </a:r>
            <a:r>
              <a:rPr lang="ko-KR" altLang="en-US" sz="1800" b="1" dirty="0" smtClean="0">
                <a:solidFill>
                  <a:srgbClr val="606060"/>
                </a:solidFill>
                <a:latin typeface="Arial"/>
                <a:ea typeface="가는각진제목체"/>
              </a:rPr>
              <a:t>원가관리 업무체계 확립</a:t>
            </a:r>
            <a:r>
              <a:rPr lang="en-US" altLang="ko-KR" sz="1800" dirty="0" smtClean="0">
                <a:latin typeface="Arial"/>
                <a:ea typeface="가는각진제목체"/>
                <a:cs typeface="Arial" charset="0"/>
              </a:rPr>
              <a:t>』</a:t>
            </a:r>
            <a:endParaRPr lang="ko-KR" altLang="en-US" sz="1800" dirty="0"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200340" y="6237390"/>
            <a:ext cx="9705660" cy="62061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0" y="193675"/>
            <a:ext cx="200340" cy="57150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987255" y="3375663"/>
            <a:ext cx="18870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1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- 037.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목표 수익률 설정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- </a:t>
            </a:r>
            <a:endParaRPr lang="en-US" altLang="ko-KR" sz="1400" b="1" dirty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roup 944"/>
          <p:cNvGraphicFramePr>
            <a:graphicFrameLocks noGrp="1"/>
          </p:cNvGraphicFramePr>
          <p:nvPr/>
        </p:nvGraphicFramePr>
        <p:xfrm>
          <a:off x="376061" y="307172"/>
          <a:ext cx="9238086" cy="3602592"/>
        </p:xfrm>
        <a:graphic>
          <a:graphicData uri="http://schemas.openxmlformats.org/drawingml/2006/table">
            <a:tbl>
              <a:tblPr/>
              <a:tblGrid>
                <a:gridCol w="2139422"/>
                <a:gridCol w="1161167"/>
                <a:gridCol w="1162050"/>
                <a:gridCol w="738011"/>
                <a:gridCol w="417336"/>
                <a:gridCol w="904663"/>
                <a:gridCol w="264090"/>
                <a:gridCol w="313760"/>
                <a:gridCol w="671866"/>
                <a:gridCol w="157480"/>
                <a:gridCol w="1308241"/>
              </a:tblGrid>
              <a:tr h="336744"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일반 개요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Program ID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-037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Process ID</a:t>
                      </a: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목표원가 수익률 설정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 수익률 확정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4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설명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Rule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에 의해 정의된 목표 수익률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Guide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를 참고하고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부문별 협의 결과를 통하여 확정된 최종 목표 수익률을  등록하는 화면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85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구분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Master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Interface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Data Input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Creation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(Costing)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Schedule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(Monitor)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Report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9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개발완료 요청일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모듈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작성자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컨설턴트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팀장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배 병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고 현 철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Group 820"/>
          <p:cNvGraphicFramePr>
            <a:graphicFrameLocks noGrp="1"/>
          </p:cNvGraphicFramePr>
          <p:nvPr/>
        </p:nvGraphicFramePr>
        <p:xfrm>
          <a:off x="376061" y="4005080"/>
          <a:ext cx="9238086" cy="2332741"/>
        </p:xfrm>
        <a:graphic>
          <a:graphicData uri="http://schemas.openxmlformats.org/drawingml/2006/table">
            <a:tbl>
              <a:tblPr/>
              <a:tblGrid>
                <a:gridCol w="1575937"/>
                <a:gridCol w="1154760"/>
                <a:gridCol w="5248492"/>
                <a:gridCol w="1258897"/>
              </a:tblGrid>
              <a:tr h="3064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Document History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Date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 내용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요청부서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2013.05.16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신정수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초기작성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512"/>
          <p:cNvGraphicFramePr>
            <a:graphicFrameLocks noGrp="1"/>
          </p:cNvGraphicFramePr>
          <p:nvPr/>
        </p:nvGraphicFramePr>
        <p:xfrm>
          <a:off x="376061" y="343221"/>
          <a:ext cx="9153878" cy="4125428"/>
        </p:xfrm>
        <a:graphic>
          <a:graphicData uri="http://schemas.openxmlformats.org/drawingml/2006/table">
            <a:tbl>
              <a:tblPr/>
              <a:tblGrid>
                <a:gridCol w="2263247"/>
                <a:gridCol w="2260953"/>
                <a:gridCol w="2263245"/>
                <a:gridCol w="2366433"/>
              </a:tblGrid>
              <a:tr h="2773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Business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요구사항정의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Rule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에 의해 정의된 목표 수익률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Guide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값을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산출하고 이를 기준으로 프로젝트의 목표 수익률을 정의하여야 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 수익률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기준값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(Guide)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은 은 개별 프로젝트의 특성을 고려하여 산출되어야 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목표수익률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기준값과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최좋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목표 수익률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기준값과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차이 및 차이원인이 관리되어야 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77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개발에 따른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기대 효용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프로젝트별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목표수익률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기준값과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최종 목표수익률 관리 가능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세부화면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GB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On-Line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건수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개발 소요 기간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입력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–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조회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구성원으로 등록된 인원 전체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기타요구사항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399"/>
          <p:cNvGraphicFramePr>
            <a:graphicFrameLocks noGrp="1"/>
          </p:cNvGraphicFramePr>
          <p:nvPr/>
        </p:nvGraphicFramePr>
        <p:xfrm>
          <a:off x="376061" y="5391993"/>
          <a:ext cx="9153886" cy="649094"/>
        </p:xfrm>
        <a:graphic>
          <a:graphicData uri="http://schemas.openxmlformats.org/drawingml/2006/table">
            <a:tbl>
              <a:tblPr/>
              <a:tblGrid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</a:tblGrid>
              <a:tr h="3245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전사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사업부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중요도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상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난이도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3245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346"/>
          <p:cNvSpPr txBox="1">
            <a:spLocks noChangeArrowheads="1"/>
          </p:cNvSpPr>
          <p:nvPr/>
        </p:nvSpPr>
        <p:spPr bwMode="auto">
          <a:xfrm>
            <a:off x="376066" y="6135189"/>
            <a:ext cx="178125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*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난이도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( 1-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단순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5 –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복잡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  <p:sp>
        <p:nvSpPr>
          <p:cNvPr id="8" name="Text Box 347"/>
          <p:cNvSpPr txBox="1">
            <a:spLocks noChangeArrowheads="1"/>
          </p:cNvSpPr>
          <p:nvPr/>
        </p:nvSpPr>
        <p:spPr bwMode="auto">
          <a:xfrm>
            <a:off x="344360" y="5085230"/>
            <a:ext cx="5469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분류</a:t>
            </a:r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직사각형 96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98" name="직사각형 97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fontAlgn="ctr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목표수익률 설정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99" name="직사각형 9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35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01" name="직사각형 100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목표수익률 확정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54" name="직사각형 124"/>
          <p:cNvSpPr>
            <a:spLocks noChangeArrowheads="1"/>
          </p:cNvSpPr>
          <p:nvPr/>
        </p:nvSpPr>
        <p:spPr bwMode="auto">
          <a:xfrm>
            <a:off x="344360" y="2205038"/>
            <a:ext cx="5705134" cy="3036912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/>
              <a:sym typeface="Arial" charset="0"/>
            </a:endParaRPr>
          </a:p>
        </p:txBody>
      </p:sp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429070" y="2852920"/>
          <a:ext cx="5559779" cy="764682"/>
        </p:xfrm>
        <a:graphic>
          <a:graphicData uri="http://schemas.openxmlformats.org/drawingml/2006/table">
            <a:tbl>
              <a:tblPr/>
              <a:tblGrid>
                <a:gridCol w="256259"/>
                <a:gridCol w="292867"/>
                <a:gridCol w="292867"/>
                <a:gridCol w="915210"/>
                <a:gridCol w="841993"/>
                <a:gridCol w="329476"/>
                <a:gridCol w="402692"/>
                <a:gridCol w="292867"/>
                <a:gridCol w="467273"/>
                <a:gridCol w="467273"/>
                <a:gridCol w="377972"/>
                <a:gridCol w="623030"/>
              </a:tblGrid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 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b"/>
                      <a:r>
                        <a:rPr lang="en-US" altLang="ko-KR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T13007-TMA-T01 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5.2%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0.3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Group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T13009-TRA-T01 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가는각진제목체" pitchFamily="18" charset="-127"/>
                        <a:cs typeface="+mn-cs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KMC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6.0%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0.5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Group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  <a:tr h="16161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□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가는각진제목체" pitchFamily="18" charset="-127"/>
                          <a:cs typeface="+mn-cs"/>
                        </a:rPr>
                        <a:t>T13010-TRA-T01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스타렉스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 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스타렉스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기본형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5.5%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0.0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18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N/A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Group 82"/>
          <p:cNvGraphicFramePr>
            <a:graphicFrameLocks noGrp="1"/>
          </p:cNvGraphicFramePr>
          <p:nvPr/>
        </p:nvGraphicFramePr>
        <p:xfrm>
          <a:off x="6149460" y="1022950"/>
          <a:ext cx="3528000" cy="391512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입력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/OEM/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사양으로 검색가능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이하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포함</a:t>
                      </a:r>
                      <a:r>
                        <a:rPr lang="en-US" altLang="ko-KR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r>
                        <a:rPr lang="ko-KR" altLang="en-US" sz="1000" kern="12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는 필수 조회조건 아님</a:t>
                      </a:r>
                      <a:endParaRPr lang="en-US" altLang="ko-KR" sz="1000" kern="12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조회조건에 따라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목록 표시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에서 특정 프로젝트를 선택하여야 다음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개의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으로 이동 가능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(3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탭은 자체 조회 기능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X)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- 3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개의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Tab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간에는 선후관계 성립하지 않음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를 표시하고 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최종값과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차이원인 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각 기능 버튼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-Guide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:Rule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의한 목표수익률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산출한 정보는 저장함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 산출 </a:t>
                      </a:r>
                      <a:r>
                        <a:rPr lang="en-US" altLang="ko-KR" sz="1000" b="1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Rule:</a:t>
                      </a:r>
                      <a:r>
                        <a:rPr lang="en-US" altLang="ko-KR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수익성 분석의  경상이익률</a:t>
                      </a:r>
                      <a:endParaRPr lang="en-US" altLang="ko-KR" sz="1000" b="1" baseline="0" dirty="0" smtClean="0">
                        <a:solidFill>
                          <a:srgbClr val="0000CC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                      (</a:t>
                      </a:r>
                      <a:r>
                        <a:rPr lang="ko-KR" altLang="en-US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합계연도 기준</a:t>
                      </a:r>
                      <a:r>
                        <a:rPr lang="en-US" altLang="ko-KR" sz="1000" b="1" baseline="0" dirty="0" smtClean="0">
                          <a:solidFill>
                            <a:srgbClr val="0000CC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en-US" altLang="ko-KR" sz="1100" b="1" dirty="0" smtClean="0">
                        <a:solidFill>
                          <a:srgbClr val="0000CC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Data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 시 선택을 클릭하고 활성화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Data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조회조건에 일치하는 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 정보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생성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:Rule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의한 산출값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 수익률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원가관리에서 수기 입력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차이원인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20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 이내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Text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–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 수익률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Guide’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수익률은 소수점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첫째자리까지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입력하고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%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표시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="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목표수익률</a:t>
                      </a:r>
                      <a:r>
                        <a:rPr lang="en-US" altLang="ko-KR" sz="1000" b="0" i="0" u="none" strike="noStrike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Guide, 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목표수익률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차이 공통으로 적용</a:t>
                      </a:r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  <a:endParaRPr lang="ko-KR" altLang="en-US" sz="1000" b="0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/>
              </a:rPr>
              <a:t>원가관리</a:t>
            </a:r>
          </a:p>
        </p:txBody>
      </p:sp>
      <p:sp>
        <p:nvSpPr>
          <p:cNvPr id="84" name="AutoShape 279"/>
          <p:cNvSpPr>
            <a:spLocks noChangeArrowheads="1"/>
          </p:cNvSpPr>
          <p:nvPr/>
        </p:nvSpPr>
        <p:spPr bwMode="auto">
          <a:xfrm>
            <a:off x="5595888" y="24507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85" name="AutoShape 279"/>
          <p:cNvSpPr>
            <a:spLocks noChangeArrowheads="1"/>
          </p:cNvSpPr>
          <p:nvPr/>
        </p:nvSpPr>
        <p:spPr bwMode="auto">
          <a:xfrm>
            <a:off x="5168071" y="245071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86" name="AutoShape 279"/>
          <p:cNvSpPr>
            <a:spLocks noChangeArrowheads="1"/>
          </p:cNvSpPr>
          <p:nvPr/>
        </p:nvSpPr>
        <p:spPr bwMode="auto">
          <a:xfrm>
            <a:off x="4487030" y="2459090"/>
            <a:ext cx="612000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Guide </a:t>
            </a: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생성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53" name="직사각형 52"/>
          <p:cNvSpPr/>
          <p:nvPr/>
        </p:nvSpPr>
        <p:spPr bwMode="auto">
          <a:xfrm>
            <a:off x="687518" y="2857110"/>
            <a:ext cx="3348000" cy="284553"/>
          </a:xfrm>
          <a:prstGeom prst="rect">
            <a:avLst/>
          </a:prstGeom>
          <a:noFill/>
          <a:ln w="25400" algn="ctr">
            <a:solidFill>
              <a:srgbClr val="C00000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5" name="설명선 2(강조선) 54"/>
          <p:cNvSpPr/>
          <p:nvPr/>
        </p:nvSpPr>
        <p:spPr bwMode="auto">
          <a:xfrm>
            <a:off x="543637" y="2287734"/>
            <a:ext cx="1240923" cy="455076"/>
          </a:xfrm>
          <a:prstGeom prst="accentCallout2">
            <a:avLst>
              <a:gd name="adj1" fmla="val 41076"/>
              <a:gd name="adj2" fmla="val 99644"/>
              <a:gd name="adj3" fmla="val 41076"/>
              <a:gd name="adj4" fmla="val 112349"/>
              <a:gd name="adj5" fmla="val 115290"/>
              <a:gd name="adj6" fmla="val 138791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조회조건에 일치하는</a:t>
            </a:r>
            <a:endParaRPr lang="en-US" altLang="ko-KR" sz="1100" b="1" dirty="0" smtClean="0">
              <a:solidFill>
                <a:srgbClr val="000000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정보 표시</a:t>
            </a:r>
          </a:p>
        </p:txBody>
      </p:sp>
      <p:sp>
        <p:nvSpPr>
          <p:cNvPr id="56" name="오른쪽 중괄호 55"/>
          <p:cNvSpPr/>
          <p:nvPr/>
        </p:nvSpPr>
        <p:spPr bwMode="auto">
          <a:xfrm rot="5400000">
            <a:off x="4718429" y="3456051"/>
            <a:ext cx="115442" cy="468000"/>
          </a:xfrm>
          <a:prstGeom prst="rightBrace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solidFill>
                <a:srgbClr val="3A4972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60" name="오른쪽 중괄호 59"/>
          <p:cNvSpPr/>
          <p:nvPr/>
        </p:nvSpPr>
        <p:spPr bwMode="auto">
          <a:xfrm rot="5400000">
            <a:off x="5631329" y="3384051"/>
            <a:ext cx="115442" cy="612000"/>
          </a:xfrm>
          <a:prstGeom prst="rightBrace">
            <a:avLst/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ko-KR" altLang="en-US">
              <a:solidFill>
                <a:srgbClr val="3A4972"/>
              </a:solidFill>
              <a:latin typeface="Arial" pitchFamily="34" charset="0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62" name="직사각형 61"/>
          <p:cNvSpPr/>
          <p:nvPr/>
        </p:nvSpPr>
        <p:spPr bwMode="auto">
          <a:xfrm>
            <a:off x="4930729" y="4005080"/>
            <a:ext cx="886391" cy="288040"/>
          </a:xfrm>
          <a:prstGeom prst="rect">
            <a:avLst/>
          </a:prstGeom>
          <a:noFill/>
          <a:ln w="9525" algn="ctr">
            <a:noFill/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직접입력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(Key-In)</a:t>
            </a:r>
          </a:p>
        </p:txBody>
      </p:sp>
      <p:cxnSp>
        <p:nvCxnSpPr>
          <p:cNvPr id="70" name="직선 연결선 69"/>
          <p:cNvCxnSpPr>
            <a:stCxn id="62" idx="0"/>
            <a:endCxn id="56" idx="1"/>
          </p:cNvCxnSpPr>
          <p:nvPr/>
        </p:nvCxnSpPr>
        <p:spPr bwMode="auto">
          <a:xfrm flipH="1" flipV="1">
            <a:off x="4776150" y="3747772"/>
            <a:ext cx="597775" cy="25730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29292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71" name="직선 연결선 70"/>
          <p:cNvCxnSpPr>
            <a:stCxn id="62" idx="0"/>
            <a:endCxn id="60" idx="1"/>
          </p:cNvCxnSpPr>
          <p:nvPr/>
        </p:nvCxnSpPr>
        <p:spPr bwMode="auto">
          <a:xfrm flipV="1">
            <a:off x="5373925" y="3747772"/>
            <a:ext cx="315125" cy="25730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rgbClr val="292929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00" name="직사각형 99"/>
          <p:cNvSpPr/>
          <p:nvPr/>
        </p:nvSpPr>
        <p:spPr bwMode="auto">
          <a:xfrm>
            <a:off x="4052800" y="2857111"/>
            <a:ext cx="468400" cy="760492"/>
          </a:xfrm>
          <a:prstGeom prst="rect">
            <a:avLst/>
          </a:prstGeom>
          <a:noFill/>
          <a:ln w="25400" algn="ctr">
            <a:solidFill>
              <a:srgbClr val="0000CC"/>
            </a:solidFill>
            <a:prstDash val="sys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103" name="설명선 2(강조선) 102"/>
          <p:cNvSpPr/>
          <p:nvPr/>
        </p:nvSpPr>
        <p:spPr bwMode="auto">
          <a:xfrm>
            <a:off x="2470750" y="3920370"/>
            <a:ext cx="1008140" cy="455076"/>
          </a:xfrm>
          <a:prstGeom prst="accentCallout2">
            <a:avLst>
              <a:gd name="adj1" fmla="val 41076"/>
              <a:gd name="adj2" fmla="val 99644"/>
              <a:gd name="adj3" fmla="val 41076"/>
              <a:gd name="adj4" fmla="val 118648"/>
              <a:gd name="adj5" fmla="val -60527"/>
              <a:gd name="adj6" fmla="val 173905"/>
            </a:avLst>
          </a:prstGeom>
          <a:noFill/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‘Guide </a:t>
            </a:r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생성</a:t>
            </a:r>
            <a:r>
              <a:rPr lang="en-US" altLang="ko-KR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’</a:t>
            </a:r>
          </a:p>
          <a:p>
            <a:pPr eaLnBrk="0" latinLnBrk="0" hangingPunct="0"/>
            <a:r>
              <a:rPr lang="ko-KR" altLang="en-US" sz="1100" b="1" dirty="0" smtClean="0">
                <a:solidFill>
                  <a:srgbClr val="000000"/>
                </a:solidFill>
                <a:latin typeface="Arial" pitchFamily="34" charset="0"/>
                <a:ea typeface="가는각진제목체" pitchFamily="18" charset="-127"/>
                <a:cs typeface="Arial" pitchFamily="34" charset="0"/>
              </a:rPr>
              <a:t>버튼으로 값 산출</a:t>
            </a:r>
          </a:p>
        </p:txBody>
      </p:sp>
      <p:sp>
        <p:nvSpPr>
          <p:cNvPr id="117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18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19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20" name="타원 119"/>
          <p:cNvSpPr/>
          <p:nvPr/>
        </p:nvSpPr>
        <p:spPr>
          <a:xfrm>
            <a:off x="4994888" y="64348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61" name="직사각형 60"/>
          <p:cNvSpPr/>
          <p:nvPr/>
        </p:nvSpPr>
        <p:spPr bwMode="auto">
          <a:xfrm>
            <a:off x="414880" y="4521850"/>
            <a:ext cx="4392000" cy="46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lIns="36000" rIns="36000" rtlCol="0" anchor="ctr" anchorCtr="0"/>
          <a:lstStyle/>
          <a:p>
            <a:pPr eaLnBrk="0" latinLnBrk="0" hangingPunct="0">
              <a:lnSpc>
                <a:spcPct val="90000"/>
              </a:lnSpc>
            </a:pPr>
            <a:r>
              <a:rPr lang="en-US" altLang="ko-KR" sz="1000" b="1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※</a:t>
            </a:r>
            <a:r>
              <a:rPr lang="ko-KR" altLang="en-US" sz="1000" b="1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각 </a:t>
            </a:r>
            <a:r>
              <a:rPr lang="en-US" altLang="ko-KR" sz="1000" b="1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Tab</a:t>
            </a:r>
            <a:r>
              <a:rPr lang="ko-KR" altLang="en-US" sz="1000" b="1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간 관계</a:t>
            </a:r>
            <a:endParaRPr lang="en-US" altLang="ko-KR" sz="1000" b="1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  - 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수익률 관리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 에서 특정 목표원가 코드를 선택하여야 다음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4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개의 탭으로 이동 가능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  -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대표사양 관리 이하에서는 좌상단에 선택된  프로젝트의 프로젝트 명과 목표원가 코드 표시</a:t>
            </a:r>
          </a:p>
        </p:txBody>
      </p:sp>
      <p:grpSp>
        <p:nvGrpSpPr>
          <p:cNvPr id="2" name="그룹 68"/>
          <p:cNvGrpSpPr/>
          <p:nvPr/>
        </p:nvGrpSpPr>
        <p:grpSpPr>
          <a:xfrm>
            <a:off x="344360" y="1963400"/>
            <a:ext cx="5496340" cy="252000"/>
            <a:chOff x="344360" y="1963400"/>
            <a:chExt cx="5496340" cy="252000"/>
          </a:xfrm>
        </p:grpSpPr>
        <p:sp>
          <p:nvSpPr>
            <p:cNvPr id="51" name="한쪽 모서리가 잘린 사각형 50"/>
            <p:cNvSpPr/>
            <p:nvPr/>
          </p:nvSpPr>
          <p:spPr bwMode="auto">
            <a:xfrm>
              <a:off x="344360" y="1963400"/>
              <a:ext cx="863728" cy="252000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목표 수익률 관리</a:t>
              </a:r>
            </a:p>
          </p:txBody>
        </p:sp>
        <p:sp>
          <p:nvSpPr>
            <p:cNvPr id="63" name="한쪽 모서리가 잘린 사각형 62"/>
            <p:cNvSpPr/>
            <p:nvPr/>
          </p:nvSpPr>
          <p:spPr bwMode="auto">
            <a:xfrm>
              <a:off x="1195780" y="1963400"/>
              <a:ext cx="104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견적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현상 원가 불러오기</a:t>
              </a:r>
            </a:p>
          </p:txBody>
        </p:sp>
        <p:sp>
          <p:nvSpPr>
            <p:cNvPr id="46" name="한쪽 모서리가 잘린 사각형 45"/>
            <p:cNvSpPr/>
            <p:nvPr/>
          </p:nvSpPr>
          <p:spPr bwMode="auto">
            <a:xfrm>
              <a:off x="2237830" y="1963400"/>
              <a:ext cx="1152524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부문별 목표 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Guide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산출</a:t>
              </a:r>
            </a:p>
          </p:txBody>
        </p:sp>
        <p:sp>
          <p:nvSpPr>
            <p:cNvPr id="49" name="한쪽 모서리가 잘린 사각형 48"/>
            <p:cNvSpPr/>
            <p:nvPr/>
          </p:nvSpPr>
          <p:spPr bwMode="auto">
            <a:xfrm>
              <a:off x="3386191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절감목표와  달성계획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 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등록</a:t>
              </a:r>
            </a:p>
          </p:txBody>
        </p:sp>
        <p:sp>
          <p:nvSpPr>
            <p:cNvPr id="50" name="한쪽 모서리가 잘린 사각형 49"/>
            <p:cNvSpPr/>
            <p:nvPr/>
          </p:nvSpPr>
          <p:spPr bwMode="auto">
            <a:xfrm>
              <a:off x="4616700" y="1963400"/>
              <a:ext cx="1224000" cy="252000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lIns="72000" rIns="72000" rtlCol="0" anchor="ctr"/>
            <a:lstStyle/>
            <a:p>
              <a:pPr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ea typeface="가는각진제목체" pitchFamily="18" charset="-127"/>
                  <a:cs typeface="Arial" pitchFamily="34" charset="0"/>
                </a:rPr>
                <a:t>부문별 목표원가 상세 내역</a:t>
              </a:r>
            </a:p>
          </p:txBody>
        </p:sp>
      </p:grpSp>
      <p:sp>
        <p:nvSpPr>
          <p:cNvPr id="68" name="타원 67"/>
          <p:cNvSpPr/>
          <p:nvPr/>
        </p:nvSpPr>
        <p:spPr>
          <a:xfrm>
            <a:off x="258588" y="181938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3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72" name="모서리가 둥근 직사각형 71"/>
          <p:cNvSpPr/>
          <p:nvPr/>
        </p:nvSpPr>
        <p:spPr bwMode="auto">
          <a:xfrm>
            <a:off x="428871" y="1207453"/>
            <a:ext cx="4968000" cy="3240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192462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OEM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sp>
        <p:nvSpPr>
          <p:cNvPr id="74" name="TextBox 35"/>
          <p:cNvSpPr txBox="1">
            <a:spLocks noChangeArrowheads="1"/>
          </p:cNvSpPr>
          <p:nvPr/>
        </p:nvSpPr>
        <p:spPr bwMode="auto">
          <a:xfrm>
            <a:off x="1270170" y="1256158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제품</a:t>
            </a:r>
          </a:p>
        </p:txBody>
      </p:sp>
      <p:sp>
        <p:nvSpPr>
          <p:cNvPr id="75" name="TextBox 36"/>
          <p:cNvSpPr txBox="1">
            <a:spLocks noChangeArrowheads="1"/>
          </p:cNvSpPr>
          <p:nvPr/>
        </p:nvSpPr>
        <p:spPr bwMode="auto">
          <a:xfrm>
            <a:off x="466638" y="1256158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사업부</a:t>
            </a:r>
          </a:p>
        </p:txBody>
      </p:sp>
      <p:grpSp>
        <p:nvGrpSpPr>
          <p:cNvPr id="3" name="그룹 69"/>
          <p:cNvGrpSpPr/>
          <p:nvPr/>
        </p:nvGrpSpPr>
        <p:grpSpPr>
          <a:xfrm>
            <a:off x="798871" y="1256158"/>
            <a:ext cx="360000" cy="226591"/>
            <a:chOff x="837169" y="1307470"/>
            <a:chExt cx="360000" cy="226591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0" name="실행 단추: 앞으로 또는 다음 89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4" name="그룹 65"/>
          <p:cNvGrpSpPr/>
          <p:nvPr/>
        </p:nvGrpSpPr>
        <p:grpSpPr>
          <a:xfrm>
            <a:off x="1484876" y="1256158"/>
            <a:ext cx="360000" cy="226591"/>
            <a:chOff x="1701166" y="1307502"/>
            <a:chExt cx="360000" cy="226591"/>
          </a:xfrm>
        </p:grpSpPr>
        <p:sp>
          <p:nvSpPr>
            <p:cNvPr id="93" name="TextBox 92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94" name="실행 단추: 앞으로 또는 다음 9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253136" y="1256158"/>
            <a:ext cx="360000" cy="226591"/>
            <a:chOff x="2709337" y="1307502"/>
            <a:chExt cx="360000" cy="226591"/>
          </a:xfrm>
        </p:grpSpPr>
        <p:sp>
          <p:nvSpPr>
            <p:cNvPr id="111" name="TextBox 11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2" name="실행 단추: 앞으로 또는 다음 11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13" name="TextBox 33"/>
          <p:cNvSpPr txBox="1">
            <a:spLocks noChangeArrowheads="1"/>
          </p:cNvSpPr>
          <p:nvPr/>
        </p:nvSpPr>
        <p:spPr bwMode="auto">
          <a:xfrm>
            <a:off x="2786370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차종</a:t>
            </a:r>
          </a:p>
        </p:txBody>
      </p:sp>
      <p:grpSp>
        <p:nvGrpSpPr>
          <p:cNvPr id="6" name="그룹 74"/>
          <p:cNvGrpSpPr/>
          <p:nvPr/>
        </p:nvGrpSpPr>
        <p:grpSpPr>
          <a:xfrm>
            <a:off x="3009109" y="1256158"/>
            <a:ext cx="360000" cy="226591"/>
            <a:chOff x="2709337" y="1307502"/>
            <a:chExt cx="360000" cy="226591"/>
          </a:xfrm>
        </p:grpSpPr>
        <p:sp>
          <p:nvSpPr>
            <p:cNvPr id="115" name="TextBox 114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16" name="실행 단추: 앞으로 또는 다음 115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21" name="TextBox 33"/>
          <p:cNvSpPr txBox="1">
            <a:spLocks noChangeArrowheads="1"/>
          </p:cNvSpPr>
          <p:nvPr/>
        </p:nvSpPr>
        <p:spPr bwMode="auto">
          <a:xfrm>
            <a:off x="3566725" y="1256158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프로젝트</a:t>
            </a:r>
          </a:p>
        </p:txBody>
      </p:sp>
      <p:grpSp>
        <p:nvGrpSpPr>
          <p:cNvPr id="7" name="그룹 74"/>
          <p:cNvGrpSpPr/>
          <p:nvPr/>
        </p:nvGrpSpPr>
        <p:grpSpPr>
          <a:xfrm>
            <a:off x="4074182" y="1256158"/>
            <a:ext cx="360000" cy="226591"/>
            <a:chOff x="2709337" y="1307502"/>
            <a:chExt cx="360000" cy="226591"/>
          </a:xfrm>
        </p:grpSpPr>
        <p:sp>
          <p:nvSpPr>
            <p:cNvPr id="123" name="TextBox 122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24" name="실행 단추: 앞으로 또는 다음 123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25" name="TextBox 33"/>
          <p:cNvSpPr txBox="1">
            <a:spLocks noChangeArrowheads="1"/>
          </p:cNvSpPr>
          <p:nvPr/>
        </p:nvSpPr>
        <p:spPr bwMode="auto">
          <a:xfrm>
            <a:off x="4634175" y="126705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smtClean="0">
                <a:solidFill>
                  <a:prstClr val="black"/>
                </a:solidFill>
                <a:latin typeface="Arial"/>
                <a:ea typeface="가는각진제목체"/>
                <a:sym typeface="Arial" charset="0"/>
              </a:rPr>
              <a:t>사양</a:t>
            </a:r>
            <a:endParaRPr lang="ko-KR" altLang="en-US" sz="1000" dirty="0" smtClean="0">
              <a:solidFill>
                <a:prstClr val="black"/>
              </a:solidFill>
              <a:latin typeface="Arial"/>
              <a:ea typeface="가는각진제목체"/>
              <a:sym typeface="Arial" charset="0"/>
            </a:endParaRPr>
          </a:p>
        </p:txBody>
      </p:sp>
      <p:grpSp>
        <p:nvGrpSpPr>
          <p:cNvPr id="8" name="그룹 74"/>
          <p:cNvGrpSpPr/>
          <p:nvPr/>
        </p:nvGrpSpPr>
        <p:grpSpPr>
          <a:xfrm>
            <a:off x="4880990" y="1267050"/>
            <a:ext cx="360000" cy="226591"/>
            <a:chOff x="2709337" y="1307502"/>
            <a:chExt cx="360000" cy="226591"/>
          </a:xfrm>
        </p:grpSpPr>
        <p:sp>
          <p:nvSpPr>
            <p:cNvPr id="127" name="TextBox 12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128" name="실행 단추: 앞으로 또는 다음 12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106" name="타원 105"/>
          <p:cNvSpPr/>
          <p:nvPr/>
        </p:nvSpPr>
        <p:spPr>
          <a:xfrm>
            <a:off x="272350" y="11478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/>
              </a:rPr>
              <a:t>1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9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0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1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2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66270</TotalTime>
  <Words>609</Words>
  <Application>Microsoft Office PowerPoint</Application>
  <PresentationFormat>A4 용지(210x297mm)</PresentationFormat>
  <Paragraphs>223</Paragraphs>
  <Slides>4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7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7_tb4_onscreen_v2.1</vt:lpstr>
      <vt:lpstr>8_tb4_onscreen_v2.1</vt:lpstr>
      <vt:lpstr>6_tb4_onscreen_v2.1</vt:lpstr>
      <vt:lpstr>9_tb4_onscreen_v2.1</vt:lpstr>
      <vt:lpstr>10_tb4_onscreen_v2.1</vt:lpstr>
      <vt:lpstr>11_tb4_onscreen_v2.1</vt:lpstr>
      <vt:lpstr>12_tb4_onscreen_v2.1</vt:lpstr>
      <vt:lpstr>슬라이드 0</vt:lpstr>
      <vt:lpstr>슬라이드 1</vt:lpstr>
      <vt:lpstr>슬라이드 2</vt:lpstr>
      <vt:lpstr>슬라이드 3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8177</cp:revision>
  <cp:lastPrinted>2012-11-21T23:07:40Z</cp:lastPrinted>
  <dcterms:created xsi:type="dcterms:W3CDTF">2011-12-22T02:00:23Z</dcterms:created>
  <dcterms:modified xsi:type="dcterms:W3CDTF">2013-05-20T00:13:27Z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