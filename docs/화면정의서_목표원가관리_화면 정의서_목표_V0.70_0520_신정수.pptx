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haansoftxls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562" r:id="rId1"/>
    <p:sldMasterId id="2147484636" r:id="rId2"/>
  </p:sldMasterIdLst>
  <p:notesMasterIdLst>
    <p:notesMasterId r:id="rId39"/>
  </p:notesMasterIdLst>
  <p:handoutMasterIdLst>
    <p:handoutMasterId r:id="rId40"/>
  </p:handoutMasterIdLst>
  <p:sldIdLst>
    <p:sldId id="2297" r:id="rId3"/>
    <p:sldId id="2298" r:id="rId4"/>
    <p:sldId id="2296" r:id="rId5"/>
    <p:sldId id="2304" r:id="rId6"/>
    <p:sldId id="2300" r:id="rId7"/>
    <p:sldId id="2267" r:id="rId8"/>
    <p:sldId id="2268" r:id="rId9"/>
    <p:sldId id="2271" r:id="rId10"/>
    <p:sldId id="2315" r:id="rId11"/>
    <p:sldId id="2270" r:id="rId12"/>
    <p:sldId id="2301" r:id="rId13"/>
    <p:sldId id="2302" r:id="rId14"/>
    <p:sldId id="2303" r:id="rId15"/>
    <p:sldId id="2306" r:id="rId16"/>
    <p:sldId id="2305" r:id="rId17"/>
    <p:sldId id="2308" r:id="rId18"/>
    <p:sldId id="2272" r:id="rId19"/>
    <p:sldId id="2311" r:id="rId20"/>
    <p:sldId id="2312" r:id="rId21"/>
    <p:sldId id="2313" r:id="rId22"/>
    <p:sldId id="2314" r:id="rId23"/>
    <p:sldId id="2291" r:id="rId24"/>
    <p:sldId id="2317" r:id="rId25"/>
    <p:sldId id="2318" r:id="rId26"/>
    <p:sldId id="2319" r:id="rId27"/>
    <p:sldId id="2275" r:id="rId28"/>
    <p:sldId id="2276" r:id="rId29"/>
    <p:sldId id="2277" r:id="rId30"/>
    <p:sldId id="2278" r:id="rId31"/>
    <p:sldId id="2279" r:id="rId32"/>
    <p:sldId id="2280" r:id="rId33"/>
    <p:sldId id="2281" r:id="rId34"/>
    <p:sldId id="2294" r:id="rId35"/>
    <p:sldId id="2295" r:id="rId36"/>
    <p:sldId id="2287" r:id="rId37"/>
    <p:sldId id="2288" r:id="rId38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1C1C1C"/>
    <a:srgbClr val="EAEAEA"/>
    <a:srgbClr val="080808"/>
    <a:srgbClr val="FF99FF"/>
    <a:srgbClr val="0000CC"/>
    <a:srgbClr val="990000"/>
    <a:srgbClr val="99FF99"/>
    <a:srgbClr val="111111"/>
    <a:srgbClr val="FF9999"/>
    <a:srgbClr val="29292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76" autoAdjust="0"/>
    <p:restoredTop sz="36295" autoAdjust="0"/>
  </p:normalViewPr>
  <p:slideViewPr>
    <p:cSldViewPr snapToObjects="1">
      <p:cViewPr>
        <p:scale>
          <a:sx n="80" d="100"/>
          <a:sy n="80" d="100"/>
        </p:scale>
        <p:origin x="-1194" y="228"/>
      </p:cViewPr>
      <p:guideLst>
        <p:guide orient="horz" pos="1752"/>
        <p:guide orient="horz" pos="3657"/>
        <p:guide orient="horz" pos="3974"/>
        <p:guide pos="308"/>
        <p:guide pos="807"/>
        <p:guide pos="444"/>
        <p:guide pos="1487"/>
        <p:guide pos="3120"/>
        <p:guide pos="1215"/>
        <p:guide pos="4299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6" d="100"/>
          <a:sy n="46" d="100"/>
        </p:scale>
        <p:origin x="-3036" y="-90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5/21/2013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5/21/2013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13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21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22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/>
              <a:pPr>
                <a:defRPr/>
              </a:pPr>
              <a:t>31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19750" name="Line 6"/>
          <p:cNvSpPr>
            <a:spLocks noChangeShapeType="1"/>
          </p:cNvSpPr>
          <p:nvPr/>
        </p:nvSpPr>
        <p:spPr bwMode="auto">
          <a:xfrm>
            <a:off x="182563" y="777875"/>
            <a:ext cx="951388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ctr" defTabSz="914400" eaLnBrk="0" latinLnBrk="0" hangingPunct="0">
              <a:defRPr/>
            </a:pPr>
            <a:endParaRPr kumimoji="0" lang="ko-KR" altLang="en-US" sz="1400" b="1" dirty="0">
              <a:solidFill>
                <a:srgbClr val="3A4972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9389306" y="473800"/>
            <a:ext cx="307975" cy="285750"/>
          </a:xfrm>
          <a:prstGeom prst="rect">
            <a:avLst/>
          </a:prstGeom>
          <a:solidFill>
            <a:srgbClr val="666699"/>
          </a:solidFill>
          <a:ln w="9525">
            <a:solidFill>
              <a:srgbClr val="666699"/>
            </a:solidFill>
            <a:miter lim="800000"/>
            <a:headEnd/>
            <a:tailEnd/>
          </a:ln>
        </p:spPr>
        <p:txBody>
          <a:bodyPr wrap="none" lIns="54000" tIns="54000" rIns="54000" bIns="54000" anchor="ctr"/>
          <a:lstStyle/>
          <a:p>
            <a:pPr algn="ctr" defTabSz="914400">
              <a:defRPr/>
            </a:pPr>
            <a:fld id="{65AB3F9B-28E7-499A-A094-26270E7EAA92}" type="slidenum">
              <a:rPr kumimoji="0" lang="en-GB" altLang="ko-KR" sz="1100" b="1" smtClean="0">
                <a:solidFill>
                  <a:schemeClr val="bg1"/>
                </a:solidFill>
              </a:rPr>
              <a:pPr algn="ctr" defTabSz="914400">
                <a:defRPr/>
              </a:pPr>
              <a:t>‹#›</a:t>
            </a:fld>
            <a:endParaRPr kumimoji="0" lang="en-GB" altLang="ko-KR" sz="11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7" r:id="rId1"/>
    <p:sldLayoutId id="214748463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11111111111.xls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화면 목록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266211" y="990386"/>
          <a:ext cx="8928000" cy="5364240"/>
        </p:xfrm>
        <a:graphic>
          <a:graphicData uri="http://schemas.openxmlformats.org/drawingml/2006/table">
            <a:tbl>
              <a:tblPr/>
              <a:tblGrid>
                <a:gridCol w="432000"/>
                <a:gridCol w="1764000"/>
                <a:gridCol w="2196000"/>
                <a:gridCol w="4536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주요정보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 생성 및 기초정보 관리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대표코드 생성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/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지정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담당자 정보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담당자 입력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정보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 판가와 양산기간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할인율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연도별 물량과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조건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도면출도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Event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SOP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일정계획과 중간평가 시기 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(5/5)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목표수립일정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수립시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단계별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일정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산출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정의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최종 목표수익률 및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Gap Description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산출과 부문별 배부기준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산출시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활용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목표배부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배부의 기준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확정과 절감계획등록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확정 부문별 목표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절감액과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달성 계획 등록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원가항목별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목표원가와 절감목표 금액 요약표시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 생성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산출을 위한 기초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생성 기능 활용 예정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I/F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산출을 위한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E-BOM I/F.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  <a:r>
                        <a:rPr lang="ko-KR" altLang="en-US" sz="1300" b="1" i="0" u="none" strike="noStrike" kern="1200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산출에는 없는 프로세스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Mapping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 차이분석을 위한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Mapping.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  <a:r>
                        <a:rPr lang="ko-KR" altLang="en-US" sz="1300" b="1" i="0" u="none" strike="noStrike" kern="1200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산출에는 없는 프로세스</a:t>
                      </a:r>
                      <a:endParaRPr lang="en-US" altLang="ko-KR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설계원가와 개발단가 입력 등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이하 견적원가 산출과 동일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화면과 기능은 동일하게 수행</a:t>
                      </a:r>
                      <a:endParaRPr lang="en-US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화면 목록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66211" y="990386"/>
          <a:ext cx="8928000" cy="3744240"/>
        </p:xfrm>
        <a:graphic>
          <a:graphicData uri="http://schemas.openxmlformats.org/drawingml/2006/table">
            <a:tbl>
              <a:tblPr/>
              <a:tblGrid>
                <a:gridCol w="432000"/>
                <a:gridCol w="1764000"/>
                <a:gridCol w="2196000"/>
                <a:gridCol w="4536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화면명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주요정보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차이분석</a:t>
                      </a:r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달성도 평가</a:t>
                      </a:r>
                      <a:endParaRPr lang="ko-KR" altLang="en-US" sz="13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(1/2)</a:t>
                      </a:r>
                      <a:endParaRPr lang="ko-KR" altLang="en-US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단계별 화면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(2/2)</a:t>
                      </a:r>
                      <a:endParaRPr lang="ko-KR" altLang="en-US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차이분석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누적 화면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 상세 등록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 상세 등록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중간 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차이원인과 연계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화면은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확정과 절감계획등록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공유하나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Logic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은 상이함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제품제조원가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IF(1/2)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M-BOM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및 실적 재료비 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제품제조원가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IF(2/2)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가공비와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 관련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최종달성도 평가</a:t>
                      </a: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Report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프로젝트별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달성도 현황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전체 프로젝트의 달성도 현황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(Dashboard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성격</a:t>
                      </a:r>
                      <a:r>
                        <a:rPr lang="en-US" altLang="ko-KR" sz="1300" b="0" i="0" u="none" strike="noStrike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TBD  </a:t>
                      </a: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</a:t>
            </a:r>
            <a:r>
              <a:rPr lang="en-US" altLang="ko-KR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UI </a:t>
            </a:r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설계 변경 이력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332471" y="990386"/>
          <a:ext cx="8748000" cy="5184480"/>
        </p:xfrm>
        <a:graphic>
          <a:graphicData uri="http://schemas.openxmlformats.org/drawingml/2006/table">
            <a:tbl>
              <a:tblPr/>
              <a:tblGrid>
                <a:gridCol w="1080000"/>
                <a:gridCol w="900000"/>
                <a:gridCol w="1080000"/>
                <a:gridCol w="2124000"/>
                <a:gridCol w="3564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일자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버전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변경자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변경항목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변경내역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2013/04/22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V0.49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최초작성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N/A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rowSpan="9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2013/04/23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V0.50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목표코드 생성화면의 삭제 기능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Header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명 변경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 ‘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프로젝트 코드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  <a:sym typeface="Wingdings" pitchFamily="2" charset="2"/>
                        </a:rPr>
                        <a:t>’</a:t>
                      </a:r>
                      <a:endParaRPr lang="ko-KR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사양관리 탭의 입력 상세 기능 설명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판가정보 탭의 이력관리 기능 포함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할인율 탭의 실행 단추 기능 조정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 탭의 달성도 평가시기 입력방법 재정의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중간 달성도 평가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총괄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Report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위해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 기능 부여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사양관리 탭의 입력 상세 기능 설명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(2/5)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판가정보 탭의 이력관리 기능 포함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2013/04/25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목표코드 생성시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견적목록에서 출발하지 않음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별도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프로젝트관리 생성 방법 전면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재작성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확정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설명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(UI,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내역 완료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). </a:t>
                      </a:r>
                      <a:r>
                        <a:rPr lang="en-US" altLang="ko-KR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 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미확정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 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 변경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5</a:t>
                      </a: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개로 구성</a:t>
                      </a: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V0.61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추가사항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결과값 불러오기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75" name="직선 연결선 74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제목 6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목표원가관리 </a:t>
            </a:r>
            <a:r>
              <a:rPr lang="en-US" altLang="ko-KR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UI </a:t>
            </a:r>
            <a:r>
              <a:rPr lang="ko-KR" altLang="en-US" sz="24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설계 변경 이력</a:t>
            </a:r>
            <a:endParaRPr lang="ko-KR" altLang="en-US" sz="2400" dirty="0">
              <a:solidFill>
                <a:srgbClr val="000000"/>
              </a:solidFill>
              <a:ea typeface="가는각진제목체" pitchFamily="18" charset="-127"/>
              <a:cs typeface="Arial" pitchFamily="34" charset="0"/>
            </a:endParaRPr>
          </a:p>
        </p:txBody>
      </p:sp>
      <p:cxnSp>
        <p:nvCxnSpPr>
          <p:cNvPr id="75" name="직선 연결선 74"/>
          <p:cNvCxnSpPr/>
          <p:nvPr/>
        </p:nvCxnSpPr>
        <p:spPr bwMode="auto">
          <a:xfrm>
            <a:off x="227014" y="790575"/>
            <a:ext cx="889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32471" y="990386"/>
          <a:ext cx="8748000" cy="5113680"/>
        </p:xfrm>
        <a:graphic>
          <a:graphicData uri="http://schemas.openxmlformats.org/drawingml/2006/table">
            <a:tbl>
              <a:tblPr/>
              <a:tblGrid>
                <a:gridCol w="1080000"/>
                <a:gridCol w="900000"/>
                <a:gridCol w="1080000"/>
                <a:gridCol w="2124000"/>
                <a:gridCol w="3564000"/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일자 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버전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변경자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변경항목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6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변경내역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324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2013/04/29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V0.61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목표가이드 산출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예시 파일 참조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algn="l" rtl="0" fontAlgn="ctr"/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구성하는 원가 항목은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미확정이나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수익성 분석과 동일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확정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수익성 분석의 경상이익률 기준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연합계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000"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2013/05/06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V0.65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</a:t>
                      </a:r>
                      <a:r>
                        <a:rPr lang="ko-KR" altLang="en-US" sz="1300" kern="12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및 절감 계획</a:t>
                      </a:r>
                      <a:r>
                        <a:rPr lang="ko-KR" altLang="en-US" sz="13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활동 </a:t>
                      </a:r>
                      <a:endParaRPr lang="en-US" altLang="ko-KR" sz="13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합계연도 기준으로 목표를 등록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기준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algn="l" rtl="0" fontAlgn="ctr"/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 절감 목표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등록시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자재별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구분하지 않음</a:t>
                      </a:r>
                      <a:endParaRPr lang="en-US" altLang="ko-KR" sz="1300" b="1" i="0" u="none" strike="noStrike" kern="1200" dirty="0" smtClean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rtl="0" fontAlgn="ctr"/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각 항목의 입력방안과 산출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Logic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대한 상세 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 </a:t>
                      </a:r>
                      <a:r>
                        <a:rPr lang="ko-KR" altLang="en-US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목표재배부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기능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  <a:r>
                        <a:rPr lang="en-US" altLang="ko-KR" sz="13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추후 상세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 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정의 예정</a:t>
                      </a:r>
                      <a:endParaRPr lang="en-US" altLang="ko-KR" sz="1300" b="1" i="0" u="none" strike="noStrike" kern="1200" dirty="0" smtClean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rtl="0" fontAlgn="ctr"/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 방식은 동일하나 산출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로직은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상이하므로 동일화면 사용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별도 </a:t>
                      </a:r>
                      <a:r>
                        <a:rPr lang="en-US" altLang="ko-KR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Table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활용 제안</a:t>
                      </a:r>
                      <a:endParaRPr lang="en-US" altLang="en-US" sz="1300" b="1" i="0" u="none" strike="noStrike" kern="1200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(1/5)</a:t>
                      </a:r>
                      <a:endParaRPr lang="ko-KR" altLang="en-US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대표사양관리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현재 코드를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2Level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 관리하나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3Level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 변경예정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 생성</a:t>
                      </a: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및 상세 </a:t>
                      </a:r>
                      <a:r>
                        <a:rPr lang="ko-KR" altLang="en-US" sz="1300" b="1" i="0" u="none" strike="noStrike" baseline="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1" i="0" u="none" strike="noStrike" baseline="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300" b="1" i="0" u="none" strike="noStrike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추가예정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2013/05/20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V0.70</a:t>
                      </a:r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신정수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부문별 목표원가 상세 내역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예시 참조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 목표는 </a:t>
                      </a:r>
                      <a:r>
                        <a:rPr lang="ko-KR" altLang="en-US" sz="1300" b="1" i="0" u="none" strike="noStrike" kern="1200" dirty="0" err="1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자재별</a:t>
                      </a:r>
                      <a:r>
                        <a:rPr lang="ko-KR" altLang="en-US" sz="1300" b="1" i="0" u="none" strike="noStrike" kern="1200" dirty="0" smtClean="0">
                          <a:solidFill>
                            <a:srgbClr val="FF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구분하지 않음</a:t>
                      </a:r>
                      <a:endParaRPr lang="en-US" altLang="ko-KR" sz="1300" b="1" i="0" u="none" strike="noStrike" kern="1200" dirty="0" smtClean="0">
                        <a:solidFill>
                          <a:srgbClr val="FF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 생성</a:t>
                      </a: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(4/5)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개발 및 평가일정 입력</a:t>
                      </a:r>
                      <a:r>
                        <a:rPr lang="en-US" altLang="ko-KR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인식 상세 설명 추가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en-US" sz="1300" b="0" i="0" u="none" strike="noStrike" kern="1200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0" latinLnBrk="0" hangingPunct="0"/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I/F(E-BOM)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endParaRPr lang="en-US" altLang="ko-KR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400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3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 Mapping</a:t>
                      </a:r>
                      <a:endParaRPr lang="ko-KR" altLang="en-US" sz="1300" b="0" i="0" u="none" strike="noStrike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상세 </a:t>
                      </a:r>
                      <a:r>
                        <a:rPr lang="ko-KR" altLang="en-US" sz="13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로직</a:t>
                      </a:r>
                      <a:r>
                        <a:rPr lang="ko-KR" altLang="en-US" sz="13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추가</a:t>
                      </a:r>
                      <a:endParaRPr lang="en-US" altLang="ko-KR" sz="13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72000" marR="36000" marT="36000" marB="3600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6706" y="1026940"/>
          <a:ext cx="3528000" cy="52216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이미 등록된 프로젝트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조회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코드에 등록된 견적제출일 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목록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신규로 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삭제된 내역을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(7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 모두에 적용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팝업으로 신규 개발 프로젝트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정보입력창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Key-In.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마스터에 등록된 정보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검색→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등록된 견적코드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목표와 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1:N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성립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정보를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수정해야하는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경우 특정 항목 활성화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나타나는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정보 등록 후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프로젝트 코드를 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 생성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T 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Seq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하이픈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’-’ +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프로젝트의 사양 중 대표항목 지정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하위의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사양별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견적코드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버전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지정된 항목을 선택하여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대표선정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해제 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선택해제 모두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-PMS Code: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추후 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PMS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코드가 생성되면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→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양산품목의 품번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견적에서 입력된 정보 가져오기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사양정보는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가능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지정한 사유입력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메모 기능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신규지정 경우 고려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 입력하도록함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견적코드는 필수항목 아님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직사각형 11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258457" y="11788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0" name="직사각형 124"/>
          <p:cNvSpPr>
            <a:spLocks noChangeArrowheads="1"/>
          </p:cNvSpPr>
          <p:nvPr/>
        </p:nvSpPr>
        <p:spPr bwMode="auto">
          <a:xfrm>
            <a:off x="326718" y="2082017"/>
            <a:ext cx="5705782" cy="1656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55" name="AutoShape 279"/>
          <p:cNvSpPr>
            <a:spLocks noChangeArrowheads="1"/>
          </p:cNvSpPr>
          <p:nvPr/>
        </p:nvSpPr>
        <p:spPr bwMode="auto">
          <a:xfrm>
            <a:off x="5570488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8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26719" y="4189257"/>
            <a:ext cx="5705782" cy="15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122" name="표 121"/>
          <p:cNvGraphicFramePr>
            <a:graphicFrameLocks noGrp="1"/>
          </p:cNvGraphicFramePr>
          <p:nvPr/>
        </p:nvGraphicFramePr>
        <p:xfrm>
          <a:off x="390970" y="4706008"/>
          <a:ext cx="5576297" cy="843330"/>
        </p:xfrm>
        <a:graphic>
          <a:graphicData uri="http://schemas.openxmlformats.org/drawingml/2006/table">
            <a:tbl>
              <a:tblPr/>
              <a:tblGrid>
                <a:gridCol w="169420"/>
                <a:gridCol w="612000"/>
                <a:gridCol w="900000"/>
                <a:gridCol w="936000"/>
                <a:gridCol w="576000"/>
                <a:gridCol w="468000"/>
                <a:gridCol w="291777"/>
                <a:gridCol w="393265"/>
                <a:gridCol w="329835"/>
                <a:gridCol w="396000"/>
                <a:gridCol w="504000"/>
              </a:tblGrid>
              <a:tr h="16192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 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Code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사유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130007-TM-T00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130007-TMA-Q01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T130007-TMA-T01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일반형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130007-TMB-Q01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130007-TMC-Q01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8" name="AutoShape 279"/>
          <p:cNvSpPr>
            <a:spLocks noChangeArrowheads="1"/>
          </p:cNvSpPr>
          <p:nvPr/>
        </p:nvSpPr>
        <p:spPr bwMode="auto">
          <a:xfrm>
            <a:off x="4306185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29" name="AutoShape 279"/>
          <p:cNvSpPr>
            <a:spLocks noChangeArrowheads="1"/>
          </p:cNvSpPr>
          <p:nvPr/>
        </p:nvSpPr>
        <p:spPr bwMode="auto">
          <a:xfrm>
            <a:off x="5149053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0" name="직사각형 139"/>
          <p:cNvSpPr/>
          <p:nvPr/>
        </p:nvSpPr>
        <p:spPr bwMode="auto">
          <a:xfrm>
            <a:off x="360615" y="5853275"/>
            <a:ext cx="4536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관리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에서 특정 프로젝트를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대표사양 관리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이하에서는 좌상단에 선택된  프로젝트의 프로젝트 명과 목표원가 코드 표시</a:t>
            </a: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384116" y="4288842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" name="그룹 105"/>
          <p:cNvGrpSpPr/>
          <p:nvPr/>
        </p:nvGrpSpPr>
        <p:grpSpPr>
          <a:xfrm>
            <a:off x="326717" y="1832082"/>
            <a:ext cx="5515141" cy="252668"/>
            <a:chOff x="326717" y="1882882"/>
            <a:chExt cx="5515141" cy="252668"/>
          </a:xfrm>
        </p:grpSpPr>
        <p:sp>
          <p:nvSpPr>
            <p:cNvPr id="90" name="한쪽 모서리가 잘린 사각형 8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89" name="한쪽 모서리가 잘린 사각형 8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3" name="한쪽 모서리가 잘린 사각형 12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33" name="한쪽 모서리가 잘린 사각형 132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87" name="한쪽 모서리가 잘린 사각형 86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04" name="한쪽 모서리가 잘린 사각형 10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4" name="한쪽 모서리가 잘린 사각형 133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grpSp>
        <p:nvGrpSpPr>
          <p:cNvPr id="10" name="그룹 106"/>
          <p:cNvGrpSpPr/>
          <p:nvPr/>
        </p:nvGrpSpPr>
        <p:grpSpPr>
          <a:xfrm>
            <a:off x="331108" y="3938341"/>
            <a:ext cx="5515141" cy="252668"/>
            <a:chOff x="326717" y="1882882"/>
            <a:chExt cx="5515141" cy="252668"/>
          </a:xfrm>
        </p:grpSpPr>
        <p:sp>
          <p:nvSpPr>
            <p:cNvPr id="108" name="한쪽 모서리가 잘린 사각형 107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09" name="한쪽 모서리가 잘린 사각형 10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0" name="한쪽 모서리가 잘린 사각형 109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91" name="타원 90"/>
          <p:cNvSpPr/>
          <p:nvPr/>
        </p:nvSpPr>
        <p:spPr>
          <a:xfrm>
            <a:off x="1050567" y="37645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258457" y="16499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4" name="직사각형 7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4736970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48690" y="2402330"/>
          <a:ext cx="4524996" cy="829800"/>
        </p:xfrm>
        <a:graphic>
          <a:graphicData uri="http://schemas.openxmlformats.org/drawingml/2006/table">
            <a:tbl>
              <a:tblPr/>
              <a:tblGrid>
                <a:gridCol w="360000"/>
                <a:gridCol w="792000"/>
                <a:gridCol w="972000"/>
                <a:gridCol w="498498"/>
                <a:gridCol w="498498"/>
                <a:gridCol w="576000"/>
                <a:gridCol w="828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T130007-TM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130013-TM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T130008-RA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R/AXLE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130018-R/A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T130010-ST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시트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130024-ST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448690" y="3297615"/>
          <a:ext cx="4686300" cy="346320"/>
        </p:xfrm>
        <a:graphic>
          <a:graphicData uri="http://schemas.openxmlformats.org/drawingml/2006/table">
            <a:tbl>
              <a:tblPr/>
              <a:tblGrid>
                <a:gridCol w="713891"/>
                <a:gridCol w="571113"/>
                <a:gridCol w="571113"/>
                <a:gridCol w="571113"/>
                <a:gridCol w="571113"/>
                <a:gridCol w="939164"/>
                <a:gridCol w="748793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BFBFB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130013-TM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153729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4727619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9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74184"/>
            <a:ext cx="5691889" cy="1817498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488380" y="2511555"/>
          <a:ext cx="2778820" cy="1133475"/>
        </p:xfrm>
        <a:graphic>
          <a:graphicData uri="http://schemas.openxmlformats.org/drawingml/2006/table">
            <a:tbl>
              <a:tblPr/>
              <a:tblGrid>
                <a:gridCol w="367858"/>
                <a:gridCol w="520075"/>
                <a:gridCol w="443966"/>
                <a:gridCol w="294921"/>
                <a:gridCol w="792000"/>
                <a:gridCol w="36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직급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소속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Role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배병희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김지원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대리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&amp;&amp;&amp;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변속기설계팀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ㅌㅌㅌ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책임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설계원가팀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$$$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구매팀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PL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WWW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과장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PT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직사각형 124"/>
          <p:cNvSpPr>
            <a:spLocks noChangeArrowheads="1"/>
          </p:cNvSpPr>
          <p:nvPr/>
        </p:nvSpPr>
        <p:spPr bwMode="auto">
          <a:xfrm>
            <a:off x="341252" y="4362497"/>
            <a:ext cx="5691889" cy="180288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65" name="AutoShape 279"/>
          <p:cNvSpPr>
            <a:spLocks noChangeArrowheads="1"/>
          </p:cNvSpPr>
          <p:nvPr/>
        </p:nvSpPr>
        <p:spPr bwMode="auto">
          <a:xfrm>
            <a:off x="5571129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3801481" y="4434509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4325812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3" name="AutoShape 279"/>
          <p:cNvSpPr>
            <a:spLocks noChangeArrowheads="1"/>
          </p:cNvSpPr>
          <p:nvPr/>
        </p:nvSpPr>
        <p:spPr bwMode="auto">
          <a:xfrm>
            <a:off x="4740918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5156024" y="4434509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4970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56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931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담당자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견적단계에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앞자리가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방식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부문별 담당자를 입력함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부문과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Role: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화면에서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조직정보에서 검색하여 선택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직급과 소속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 선택시 자동으로 인식하여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45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판가정보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양산기간과 초도판가 정보를 입력함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영업부문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입력된 정보를 가져옴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팝업으로 나타나는 산출된 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중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="1" dirty="0" smtClean="0">
                          <a:solidFill>
                            <a:srgbClr val="FF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시장판가는 가져오지 않음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입력 정보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수정 가능하도록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 선택된 행 정보 삭제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삭제된 정보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입력할 정보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불러오기로 견적시 입력정보 가져온 후 수정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기존에 생성된 대표사양 코드를 불러옴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사양변경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추가에 따라 수정 가능하도록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거래 통화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콤보박스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 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예상 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협의된 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Key-In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-SOP/EOP: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양산개시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종료 예상일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          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후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Key-In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80" name="직사각형 79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89" name="직사각형 88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344360" y="1717130"/>
            <a:ext cx="5515141" cy="252668"/>
            <a:chOff x="326717" y="1882882"/>
            <a:chExt cx="5515141" cy="252668"/>
          </a:xfrm>
        </p:grpSpPr>
        <p:sp>
          <p:nvSpPr>
            <p:cNvPr id="125" name="한쪽 모서리가 잘린 사각형 12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26" name="한쪽 모서리가 잘린 사각형 125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7" name="한쪽 모서리가 잘린 사각형 126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28" name="한쪽 모서리가 잘린 사각형 127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29" name="한쪽 모서리가 잘린 사각형 128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0" name="한쪽 모서리가 잘린 사각형 129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1" name="한쪽 모서리가 잘린 사각형 130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grpSp>
        <p:nvGrpSpPr>
          <p:cNvPr id="132" name="그룹 131"/>
          <p:cNvGrpSpPr/>
          <p:nvPr/>
        </p:nvGrpSpPr>
        <p:grpSpPr>
          <a:xfrm>
            <a:off x="344360" y="4112462"/>
            <a:ext cx="5515141" cy="252668"/>
            <a:chOff x="326717" y="1882882"/>
            <a:chExt cx="5515141" cy="252668"/>
          </a:xfrm>
        </p:grpSpPr>
        <p:sp>
          <p:nvSpPr>
            <p:cNvPr id="133" name="한쪽 모서리가 잘린 사각형 132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34" name="한쪽 모서리가 잘린 사각형 133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35" name="한쪽 모서리가 잘린 사각형 134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36" name="한쪽 모서리가 잘린 사각형 135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37" name="한쪽 모서리가 잘린 사각형 136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38" name="한쪽 모서리가 잘린 사각형 137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9" name="한쪽 모서리가 잘린 사각형 138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71" name="타원 70"/>
          <p:cNvSpPr/>
          <p:nvPr/>
        </p:nvSpPr>
        <p:spPr>
          <a:xfrm>
            <a:off x="2562777" y="3956943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1" name="타원 90"/>
          <p:cNvSpPr/>
          <p:nvPr/>
        </p:nvSpPr>
        <p:spPr>
          <a:xfrm>
            <a:off x="1797171" y="15567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4" name="표 73"/>
          <p:cNvGraphicFramePr>
            <a:graphicFrameLocks noGrp="1"/>
          </p:cNvGraphicFramePr>
          <p:nvPr/>
        </p:nvGraphicFramePr>
        <p:xfrm>
          <a:off x="503290" y="4851295"/>
          <a:ext cx="3990469" cy="323850"/>
        </p:xfrm>
        <a:graphic>
          <a:graphicData uri="http://schemas.openxmlformats.org/drawingml/2006/table">
            <a:tbl>
              <a:tblPr/>
              <a:tblGrid>
                <a:gridCol w="246469"/>
                <a:gridCol w="504000"/>
                <a:gridCol w="1044000"/>
                <a:gridCol w="396000"/>
                <a:gridCol w="576000"/>
                <a:gridCol w="612000"/>
                <a:gridCol w="612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통화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예상 판가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EOP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KRW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600,000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2021.06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6" name="직사각형 6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410620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2" name="표 81"/>
          <p:cNvGraphicFramePr>
            <a:graphicFrameLocks noGrp="1"/>
          </p:cNvGraphicFramePr>
          <p:nvPr/>
        </p:nvGraphicFramePr>
        <p:xfrm>
          <a:off x="384116" y="4427834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9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216058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2612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7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연도별 수량 및 할인율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불러오기 기능을 이용하여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관리대상 사양에 대하여 견적단계에 입력된 값을 가져옴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클릭시 팝업으로 나타나는 산출된 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 중 선택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-Key-In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수정 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특정 행을 추가로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 할수 있음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추가시 원가코드는 해당프로젝트 하위에 생성된 목표원가 코드 중 선택 가능하도록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돋보기 팝업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연도는 판가정보의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SOP/ EOP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를 이용하여 일치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전년도 대비 판가 할인율을 의미함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입력제한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수량은 자연수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할인율은 소수점 둘째자리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(3/5)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418873" y="251187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매출 수량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469378" y="3375992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수주가 할인율 관리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5571129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3801481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4325812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474091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56024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3360637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7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533662" y="2745100"/>
          <a:ext cx="5109631" cy="323850"/>
        </p:xfrm>
        <a:graphic>
          <a:graphicData uri="http://schemas.openxmlformats.org/drawingml/2006/table">
            <a:tbl>
              <a:tblPr/>
              <a:tblGrid>
                <a:gridCol w="357631"/>
                <a:gridCol w="504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  <a:gridCol w="54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11,300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547138" y="3609220"/>
          <a:ext cx="4526048" cy="323850"/>
        </p:xfrm>
        <a:graphic>
          <a:graphicData uri="http://schemas.openxmlformats.org/drawingml/2006/table">
            <a:tbl>
              <a:tblPr/>
              <a:tblGrid>
                <a:gridCol w="350048"/>
                <a:gridCol w="468000"/>
                <a:gridCol w="1116000"/>
                <a:gridCol w="432000"/>
                <a:gridCol w="432000"/>
                <a:gridCol w="432000"/>
                <a:gridCol w="432000"/>
                <a:gridCol w="432000"/>
                <a:gridCol w="432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선택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원가코드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2014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2015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2016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2017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…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/>
                        </a:rPr>
                        <a:t>□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13007-TMA-T01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8" name="직사각형 57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23872" y="2087314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82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  <a:r>
              <a:rPr lang="en-US" altLang="ko-KR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, </a:t>
            </a: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설계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299776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299776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299776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299776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299776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299776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299776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299776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9138"/>
            <a:ext cx="5691889" cy="425663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20891"/>
          <a:ext cx="3528000" cy="48868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및 평가 일정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일정 관리와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중간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 관리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단추는 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 각각에 대하여  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별도로 기능을 둔다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PMS code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가 입력된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코드를 기준으로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관련 내역을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는 판가정보에서 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활용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도면 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,Proto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단계의 각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Event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Proto, Pilot1/2, PP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고정값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 없음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I/F.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불가능한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    클릭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→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sym typeface="Wingdings" pitchFamily="2" charset="2"/>
                        </a:rPr>
                        <a:t>달력에서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양산개시 월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판가정보에서 입력된 정보를 바탕으로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수정이 필요한 경우 판가정보에서 수정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8-4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개발 기간 중 중간평가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&amp;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평가시기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불러오기를 클릭하면 도변출도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~SOP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입력된 정보를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바탕으로 자동생성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평가완료는 수정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일정한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에 따라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1~3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중간평가와 최종평가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산출개시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평가완료 일정은 자동생성됨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이상의 중간평가가 필요한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시기등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모든 항목은 수정입력 가능함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 현상원가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산출개시와 평가완료는 달력기능으로 검색하여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선택입력함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(4/5)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504124" y="2407608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도면 출도 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직사각형 45"/>
          <p:cNvSpPr/>
          <p:nvPr/>
        </p:nvSpPr>
        <p:spPr bwMode="auto">
          <a:xfrm>
            <a:off x="504124" y="332473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개발단계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6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110" name="한쪽 모서리가 잘린 사각형 10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6" name="한쪽 모서리가 잘린 사각형 115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7" name="한쪽 모서리가 잘린 사각형 116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55" name="타원 54"/>
          <p:cNvSpPr/>
          <p:nvPr/>
        </p:nvSpPr>
        <p:spPr>
          <a:xfrm>
            <a:off x="4083917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504124" y="4967714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</a:t>
            </a:r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달성도 평가</a:t>
            </a:r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504124" y="4445739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lIns="18000" rtlCol="0" anchor="ctr"/>
          <a:lstStyle/>
          <a:p>
            <a:pPr eaLnBrk="0" latinLnBrk="0" hangingPunct="0"/>
            <a:r>
              <a:rPr lang="en-US" altLang="ko-KR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[SOP]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5426468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4583599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005033" y="242086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8" name="AutoShape 279"/>
          <p:cNvSpPr>
            <a:spLocks noChangeArrowheads="1"/>
          </p:cNvSpPr>
          <p:nvPr/>
        </p:nvSpPr>
        <p:spPr bwMode="auto">
          <a:xfrm>
            <a:off x="4052940" y="242086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78" name="표 77"/>
          <p:cNvGraphicFramePr>
            <a:graphicFrameLocks noGrp="1"/>
          </p:cNvGraphicFramePr>
          <p:nvPr/>
        </p:nvGraphicFramePr>
        <p:xfrm>
          <a:off x="504124" y="4661769"/>
          <a:ext cx="1270000" cy="172725"/>
        </p:xfrm>
        <a:graphic>
          <a:graphicData uri="http://schemas.openxmlformats.org/drawingml/2006/table">
            <a:tbl>
              <a:tblPr/>
              <a:tblGrid>
                <a:gridCol w="559179"/>
                <a:gridCol w="710821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SOP</a:t>
                      </a:r>
                    </a:p>
                  </a:txBody>
                  <a:tcPr marL="9525" marR="9525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2013-07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9" name="표 78"/>
          <p:cNvGraphicFramePr>
            <a:graphicFrameLocks noGrp="1"/>
          </p:cNvGraphicFramePr>
          <p:nvPr/>
        </p:nvGraphicFramePr>
        <p:xfrm>
          <a:off x="504124" y="3528891"/>
          <a:ext cx="2265500" cy="863625"/>
        </p:xfrm>
        <a:graphic>
          <a:graphicData uri="http://schemas.openxmlformats.org/drawingml/2006/table">
            <a:tbl>
              <a:tblPr/>
              <a:tblGrid>
                <a:gridCol w="368300"/>
                <a:gridCol w="457200"/>
                <a:gridCol w="720000"/>
                <a:gridCol w="720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개시일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2013-06-02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2013-05-01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PP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504124" y="5183744"/>
          <a:ext cx="3440414" cy="1016025"/>
        </p:xfrm>
        <a:graphic>
          <a:graphicData uri="http://schemas.openxmlformats.org/drawingml/2006/table">
            <a:tbl>
              <a:tblPr/>
              <a:tblGrid>
                <a:gridCol w="367606"/>
                <a:gridCol w="864000"/>
                <a:gridCol w="713030"/>
                <a:gridCol w="747889"/>
                <a:gridCol w="747889"/>
              </a:tblGrid>
              <a:tr h="3238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시기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 개시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평가 완료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 중간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Pilot2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완료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2013-06-30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최종 달성도 평가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SOP + 6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N/A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2014-02-20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5" name="그룹 94"/>
          <p:cNvGrpSpPr/>
          <p:nvPr/>
        </p:nvGrpSpPr>
        <p:grpSpPr>
          <a:xfrm>
            <a:off x="3656820" y="4831956"/>
            <a:ext cx="2128423" cy="215900"/>
            <a:chOff x="3801481" y="2565010"/>
            <a:chExt cx="2128423" cy="215900"/>
          </a:xfrm>
        </p:grpSpPr>
        <p:sp>
          <p:nvSpPr>
            <p:cNvPr id="96" name="AutoShape 279"/>
            <p:cNvSpPr>
              <a:spLocks noChangeArrowheads="1"/>
            </p:cNvSpPr>
            <p:nvPr/>
          </p:nvSpPr>
          <p:spPr bwMode="auto">
            <a:xfrm>
              <a:off x="5571129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2" name="AutoShape 279"/>
            <p:cNvSpPr>
              <a:spLocks noChangeArrowheads="1"/>
            </p:cNvSpPr>
            <p:nvPr/>
          </p:nvSpPr>
          <p:spPr bwMode="auto">
            <a:xfrm>
              <a:off x="4740918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수정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3" name="AutoShape 279"/>
            <p:cNvSpPr>
              <a:spLocks noChangeArrowheads="1"/>
            </p:cNvSpPr>
            <p:nvPr/>
          </p:nvSpPr>
          <p:spPr bwMode="auto">
            <a:xfrm>
              <a:off x="4325812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추가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4" name="AutoShape 279"/>
            <p:cNvSpPr>
              <a:spLocks noChangeArrowheads="1"/>
            </p:cNvSpPr>
            <p:nvPr/>
          </p:nvSpPr>
          <p:spPr bwMode="auto">
            <a:xfrm>
              <a:off x="5156024" y="256501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삭제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05" name="AutoShape 279"/>
            <p:cNvSpPr>
              <a:spLocks noChangeArrowheads="1"/>
            </p:cNvSpPr>
            <p:nvPr/>
          </p:nvSpPr>
          <p:spPr bwMode="auto">
            <a:xfrm>
              <a:off x="3801481" y="256501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sp>
        <p:nvSpPr>
          <p:cNvPr id="106" name="직사각형 10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aphicFrame>
        <p:nvGraphicFramePr>
          <p:cNvPr id="107" name="표 106"/>
          <p:cNvGraphicFramePr>
            <a:graphicFrameLocks noGrp="1"/>
          </p:cNvGraphicFramePr>
          <p:nvPr/>
        </p:nvGraphicFramePr>
        <p:xfrm>
          <a:off x="505804" y="2609523"/>
          <a:ext cx="1782826" cy="690900"/>
        </p:xfrm>
        <a:graphic>
          <a:graphicData uri="http://schemas.openxmlformats.org/drawingml/2006/table">
            <a:tbl>
              <a:tblPr/>
              <a:tblGrid>
                <a:gridCol w="367629"/>
                <a:gridCol w="659197"/>
                <a:gridCol w="756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예정 완료일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2013-02-28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Proto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도면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2013-03-31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양산도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2013-05-31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23872" y="2047558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직사각형 70"/>
          <p:cNvSpPr/>
          <p:nvPr/>
        </p:nvSpPr>
        <p:spPr bwMode="auto">
          <a:xfrm rot="21170195">
            <a:off x="4061313" y="5272602"/>
            <a:ext cx="2088000" cy="756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lIns="72000" tIns="36000" rIns="72000" bIns="36000" rtlCol="0" anchor="ctr"/>
          <a:lstStyle/>
          <a:p>
            <a:pPr algn="ctr" eaLnBrk="0" latinLnBrk="0" hangingPunct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자동생성 </a:t>
            </a:r>
            <a:r>
              <a:rPr lang="en-US" altLang="ko-KR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+ </a:t>
            </a:r>
            <a:r>
              <a:rPr lang="ko-KR" altLang="en-US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추가</a:t>
            </a:r>
            <a:endParaRPr lang="en-US" altLang="ko-KR" sz="14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>
              <a:lnSpc>
                <a:spcPct val="110000"/>
              </a:lnSpc>
            </a:pPr>
            <a:r>
              <a:rPr lang="en-US" altLang="ko-KR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VS</a:t>
            </a:r>
          </a:p>
          <a:p>
            <a:pPr algn="ctr" eaLnBrk="0" latinLnBrk="0" hangingPunct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모든 항목 직접입력 협의</a:t>
            </a:r>
          </a:p>
        </p:txBody>
      </p:sp>
      <p:sp>
        <p:nvSpPr>
          <p:cNvPr id="75" name="모서리가 둥근 직사각형 74"/>
          <p:cNvSpPr/>
          <p:nvPr/>
        </p:nvSpPr>
        <p:spPr bwMode="auto">
          <a:xfrm rot="20650964">
            <a:off x="3849773" y="3247055"/>
            <a:ext cx="1368000" cy="54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</a:t>
            </a:r>
            <a:r>
              <a:rPr lang="en-US" altLang="ko-KR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Spec </a:t>
            </a:r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참고</a:t>
            </a:r>
          </a:p>
        </p:txBody>
      </p:sp>
      <p:cxnSp>
        <p:nvCxnSpPr>
          <p:cNvPr id="91" name="꺾인 연결선 90"/>
          <p:cNvCxnSpPr>
            <a:stCxn id="100" idx="1"/>
            <a:endCxn id="109" idx="1"/>
          </p:cNvCxnSpPr>
          <p:nvPr/>
        </p:nvCxnSpPr>
        <p:spPr bwMode="auto">
          <a:xfrm rot="10800000" flipH="1" flipV="1">
            <a:off x="1544860" y="2852919"/>
            <a:ext cx="911620" cy="2733865"/>
          </a:xfrm>
          <a:prstGeom prst="bentConnector3">
            <a:avLst>
              <a:gd name="adj1" fmla="val -25076"/>
            </a:avLst>
          </a:prstGeom>
          <a:solidFill>
            <a:schemeClr val="accent1"/>
          </a:solidFill>
          <a:ln w="19050" cap="flat" cmpd="sng" algn="ctr">
            <a:solidFill>
              <a:srgbClr val="080808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00" name="직사각형 99"/>
          <p:cNvSpPr/>
          <p:nvPr/>
        </p:nvSpPr>
        <p:spPr bwMode="auto">
          <a:xfrm>
            <a:off x="1544860" y="2766520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9" name="직사각형 108"/>
          <p:cNvSpPr/>
          <p:nvPr/>
        </p:nvSpPr>
        <p:spPr bwMode="auto">
          <a:xfrm>
            <a:off x="2456480" y="550038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1" name="직사각형 110"/>
          <p:cNvSpPr/>
          <p:nvPr/>
        </p:nvSpPr>
        <p:spPr bwMode="auto">
          <a:xfrm>
            <a:off x="2456480" y="565278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2444605" y="5852685"/>
            <a:ext cx="75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1" name="직사각형 120"/>
          <p:cNvSpPr/>
          <p:nvPr/>
        </p:nvSpPr>
        <p:spPr bwMode="auto">
          <a:xfrm>
            <a:off x="2060725" y="3705165"/>
            <a:ext cx="576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2" name="직사각형 121"/>
          <p:cNvSpPr/>
          <p:nvPr/>
        </p:nvSpPr>
        <p:spPr bwMode="auto">
          <a:xfrm>
            <a:off x="2060725" y="4048310"/>
            <a:ext cx="720000" cy="17280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23" name="꺾인 연결선 122"/>
          <p:cNvCxnSpPr>
            <a:stCxn id="121" idx="1"/>
            <a:endCxn id="111" idx="1"/>
          </p:cNvCxnSpPr>
          <p:nvPr/>
        </p:nvCxnSpPr>
        <p:spPr bwMode="auto">
          <a:xfrm>
            <a:off x="2060725" y="3791565"/>
            <a:ext cx="395755" cy="19476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127" name="꺾인 연결선 126"/>
          <p:cNvCxnSpPr>
            <a:stCxn id="122" idx="3"/>
            <a:endCxn id="118" idx="3"/>
          </p:cNvCxnSpPr>
          <p:nvPr/>
        </p:nvCxnSpPr>
        <p:spPr bwMode="auto">
          <a:xfrm>
            <a:off x="2780725" y="4134710"/>
            <a:ext cx="419880" cy="1804375"/>
          </a:xfrm>
          <a:prstGeom prst="bentConnector3">
            <a:avLst>
              <a:gd name="adj1" fmla="val 154444"/>
            </a:avLst>
          </a:prstGeom>
          <a:solidFill>
            <a:schemeClr val="accent1"/>
          </a:solidFill>
          <a:ln w="19050" cap="flat" cmpd="sng" algn="ctr">
            <a:solidFill>
              <a:srgbClr val="080808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 프로젝트의 주요 단계 일정정보입력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프로젝트의 전체적인 일정관리와 현황파악을 위함이며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중간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달성도 평가 일정을 사전에 수립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관련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개발기간 중 최소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회 중간 평가 수행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출도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Proto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Pilot2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 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② 중간 평가 시기간 간격이 길다면  추가중간검토 시점 정의 가능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양산완료 이후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SOP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＋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6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月 시점에 최종 달성도 평가 수행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(1)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개발단계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행 제목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양산도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4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en-US" altLang="ko-KR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Proto~PP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제목은 고정항목임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불러오기 기능을 통하여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PMS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에서 예정일 정보를 가져온다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PMS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누락되어 값을 가져오지 못하는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 입력할 수 있도록 수정 버튼을 통해 입력항목을 활성화한다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날짜는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달력 중 선택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입력방식 사용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SOP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불러오기 기능을 통하여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판가정보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 Tab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등록된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SOP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예정 정보를 가져온다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연도와 월만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달성도 평가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기본생성 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1,2,3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중간평가와 최종 평가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1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시작도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도면출도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일정의 시작도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∑(E10~E30, E80~E99). 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Proto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 일정의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Proto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∑(E10~E30, E80~E99). 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3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중간평가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Pilot2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개발단계 일정의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Pilot2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예정 완료일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일정관리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∑(E10~E30, E80~E99). Working day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▪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최종평가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SOP+6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月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/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시작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N/A /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종료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SOP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월의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+6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월의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일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(Ex: SOP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2013.12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라면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2014/06/20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완료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050" i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추가로 중간평가 지정이 필요한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행을 추가하여 차수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평가완료 정보를 입력하거나 수정가능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3050"/>
            <a:ext cx="5691889" cy="42754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0084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325171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740277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0" name="AutoShape 279"/>
          <p:cNvSpPr>
            <a:spLocks noChangeArrowheads="1"/>
          </p:cNvSpPr>
          <p:nvPr/>
        </p:nvSpPr>
        <p:spPr bwMode="auto">
          <a:xfrm>
            <a:off x="5155383" y="20608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33591"/>
          <a:ext cx="3528000" cy="32872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9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개발계획과 중간 평가 일정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견적일정 프로그램 활용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정의된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에 따라 순번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종료일이 자동생성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일정관리 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Master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의 목표수립부문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활용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업무종료일과 처리여부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지연일은 견적 일정관리와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위에서 입력한 내용을 저장하면 아래에 달력의 형식으로 일자가 보여지도록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수동 메일 공지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 담당 부서에게 업무 알림 메일을 보낼 수 있도록 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버튼 누르면 메일 발송 가능한 화면이 팝업 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(Text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는 추후 확정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내용을 전달하는 확정된 메시지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수정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or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추가설정 사항 없음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자동 메일 공지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각 업무 종료일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협의 필요함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전부터 업무 종료가 되지 않은 경우에 업무 알림 메일을 자동으로 발송함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발송 대상은 업무 담당 부서의 담당자로 등록된 사람이 대상임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7" name="직사각형 66"/>
          <p:cNvSpPr/>
          <p:nvPr/>
        </p:nvSpPr>
        <p:spPr bwMode="auto">
          <a:xfrm>
            <a:off x="4827870" y="2500372"/>
            <a:ext cx="972000" cy="21600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algn="ctr">
              <a:defRPr/>
            </a:pPr>
            <a:r>
              <a:rPr lang="ko-KR" altLang="en-US" sz="8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sym typeface="Arial"/>
              </a:rPr>
              <a:t>공지 메일 발송</a:t>
            </a:r>
            <a:endParaRPr lang="ko-KR" altLang="en-US" sz="800" b="1" dirty="0">
              <a:solidFill>
                <a:srgbClr val="000000"/>
              </a:solidFill>
              <a:latin typeface="+mj-lt"/>
              <a:ea typeface="가는각진제목체" pitchFamily="18" charset="-127"/>
              <a:sym typeface="Arial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395464" y="427881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10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4651067" y="233730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95" name="표 94"/>
          <p:cNvGraphicFramePr>
            <a:graphicFrameLocks noGrp="1"/>
          </p:cNvGraphicFramePr>
          <p:nvPr/>
        </p:nvGraphicFramePr>
        <p:xfrm>
          <a:off x="581309" y="4507431"/>
          <a:ext cx="5308315" cy="1343800"/>
        </p:xfrm>
        <a:graphic>
          <a:graphicData uri="http://schemas.openxmlformats.org/drawingml/2006/table">
            <a:tbl>
              <a:tblPr/>
              <a:tblGrid>
                <a:gridCol w="1299238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  <a:gridCol w="445453"/>
              </a:tblGrid>
              <a:tr h="13963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업무명 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15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16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17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19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20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21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04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22</a:t>
                      </a:r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일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목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금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화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수 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2582A9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21849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39637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  <a:r>
                        <a:rPr lang="en-US" altLang="ko-KR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1EAF5"/>
                    </a:solidFill>
                  </a:tcPr>
                </a:tc>
              </a:tr>
              <a:tr h="14785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8214" marR="8214" marT="8214" marB="0" anchor="ctr">
                    <a:lnL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3A4972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8214" marR="8214" marT="8214" marB="0" anchor="ctr">
                    <a:lnL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97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9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90" name="직선 화살표 연결선 89"/>
          <p:cNvCxnSpPr/>
          <p:nvPr/>
        </p:nvCxnSpPr>
        <p:spPr bwMode="auto">
          <a:xfrm flipV="1">
            <a:off x="5010129" y="4395313"/>
            <a:ext cx="0" cy="144000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diamond"/>
          </a:ln>
          <a:effectLst/>
        </p:spPr>
      </p:cxnSp>
      <p:sp>
        <p:nvSpPr>
          <p:cNvPr id="93" name="직사각형 92"/>
          <p:cNvSpPr/>
          <p:nvPr/>
        </p:nvSpPr>
        <p:spPr bwMode="auto">
          <a:xfrm>
            <a:off x="4549936" y="4194606"/>
            <a:ext cx="920386" cy="21603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en-US" altLang="ko-KR" sz="7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Today</a:t>
            </a:r>
            <a:endParaRPr lang="ko-KR" altLang="en-US" sz="7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96" name="표 95"/>
          <p:cNvGraphicFramePr>
            <a:graphicFrameLocks noGrp="1"/>
          </p:cNvGraphicFramePr>
          <p:nvPr/>
        </p:nvGraphicFramePr>
        <p:xfrm>
          <a:off x="597679" y="2775980"/>
          <a:ext cx="5220000" cy="1295400"/>
        </p:xfrm>
        <a:graphic>
          <a:graphicData uri="http://schemas.openxmlformats.org/drawingml/2006/table">
            <a:tbl>
              <a:tblPr/>
              <a:tblGrid>
                <a:gridCol w="288000"/>
                <a:gridCol w="324000"/>
                <a:gridCol w="1116000"/>
                <a:gridCol w="468000"/>
                <a:gridCol w="648000"/>
                <a:gridCol w="648000"/>
                <a:gridCol w="288000"/>
                <a:gridCol w="648000"/>
                <a:gridCol w="468000"/>
                <a:gridCol w="324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선택 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순번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담당부서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종료일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업무종료일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처리 여부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지연일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목표수익률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T20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목표원가 확정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ALL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2013-04-18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T30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2013-04-02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T40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T50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T60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원가절감계획 수립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2013-04-23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2013-04-27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B0F0"/>
                          </a:solidFill>
                          <a:latin typeface="+mj-lt"/>
                          <a:ea typeface="가는각진제목체" pitchFamily="18" charset="-127"/>
                        </a:rPr>
                        <a:t>●</a:t>
                      </a:r>
                      <a:r>
                        <a:rPr lang="ko-KR" altLang="en-US" sz="900" b="0" i="0" u="none" strike="noStrike" dirty="0">
                          <a:solidFill>
                            <a:srgbClr val="CC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B0F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T70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경영진 보고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2013-04-28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2013-04-29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>
                          <a:solidFill>
                            <a:srgbClr val="C00000"/>
                          </a:solidFill>
                          <a:latin typeface="+mj-lt"/>
                          <a:ea typeface="가는각진제목체" pitchFamily="18" charset="-127"/>
                        </a:rPr>
                        <a:t>●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+1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 </a:t>
                      </a:r>
                    </a:p>
                  </a:txBody>
                  <a:tcPr marL="18000" marR="18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타원 86"/>
          <p:cNvSpPr/>
          <p:nvPr/>
        </p:nvSpPr>
        <p:spPr>
          <a:xfrm>
            <a:off x="434731" y="262363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9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(5/5)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423872" y="2060810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3" name="그룹 108"/>
          <p:cNvGrpSpPr/>
          <p:nvPr/>
        </p:nvGrpSpPr>
        <p:grpSpPr>
          <a:xfrm>
            <a:off x="344360" y="1730382"/>
            <a:ext cx="5515141" cy="252668"/>
            <a:chOff x="326717" y="1882882"/>
            <a:chExt cx="5515141" cy="252668"/>
          </a:xfrm>
        </p:grpSpPr>
        <p:sp>
          <p:nvSpPr>
            <p:cNvPr id="55" name="한쪽 모서리가 잘린 사각형 54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57" name="한쪽 모서리가 잘린 사각형 56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58" name="한쪽 모서리가 잘린 사각형 57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61" name="한쪽 모서리가 잘린 사각형 60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62" name="한쪽 모서리가 잘린 사각형 61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65" name="한쪽 모서리가 잘린 사각형 64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설정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확정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4" name="직사각형 124"/>
          <p:cNvSpPr>
            <a:spLocks noChangeArrowheads="1"/>
          </p:cNvSpPr>
          <p:nvPr/>
        </p:nvSpPr>
        <p:spPr bwMode="auto">
          <a:xfrm>
            <a:off x="344360" y="2205038"/>
            <a:ext cx="5705134" cy="303691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29070" y="2852920"/>
          <a:ext cx="5559779" cy="764682"/>
        </p:xfrm>
        <a:graphic>
          <a:graphicData uri="http://schemas.openxmlformats.org/drawingml/2006/table">
            <a:tbl>
              <a:tblPr/>
              <a:tblGrid>
                <a:gridCol w="256259"/>
                <a:gridCol w="292867"/>
                <a:gridCol w="292867"/>
                <a:gridCol w="915210"/>
                <a:gridCol w="841993"/>
                <a:gridCol w="329476"/>
                <a:gridCol w="402692"/>
                <a:gridCol w="292867"/>
                <a:gridCol w="467273"/>
                <a:gridCol w="467273"/>
                <a:gridCol w="377972"/>
                <a:gridCol w="623030"/>
              </a:tblGrid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 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T13007-TMA-T01 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0.3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T13009-TRA-T01 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0.5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T13010-TRA-T01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0.0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N/A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Group 82"/>
          <p:cNvGraphicFramePr>
            <a:graphicFrameLocks noGrp="1"/>
          </p:cNvGraphicFramePr>
          <p:nvPr/>
        </p:nvGraphicFramePr>
        <p:xfrm>
          <a:off x="6149460" y="1022950"/>
          <a:ext cx="3528000" cy="39151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/OEM/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사양으로 검색가능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포함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는 필수 조회조건 아님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목록 표시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특정 프로젝트를 선택하여야 다음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으로 이동 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탭은 자체 조회 기능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X)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간에는 선후관계 성립하지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표시하고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최종값과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차이원인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기능 버튼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산출한 정보는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산출 </a:t>
                      </a: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수익성 분석의  경상이익률</a:t>
                      </a:r>
                      <a:endParaRPr lang="en-US" altLang="ko-KR" sz="1000" b="1" baseline="0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              (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합계연도 기준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ko-KR" sz="1100" b="1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Data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시 선택을 클릭하고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일치하는 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산출값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원가관리에서 수기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20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 이내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Text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Guide’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수익률은 소수점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첫째자리까지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입력하고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Guide,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공통으로 적용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0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5595888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5" name="AutoShape 279"/>
          <p:cNvSpPr>
            <a:spLocks noChangeArrowheads="1"/>
          </p:cNvSpPr>
          <p:nvPr/>
        </p:nvSpPr>
        <p:spPr bwMode="auto">
          <a:xfrm>
            <a:off x="5168071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6" name="AutoShape 279"/>
          <p:cNvSpPr>
            <a:spLocks noChangeArrowheads="1"/>
          </p:cNvSpPr>
          <p:nvPr/>
        </p:nvSpPr>
        <p:spPr bwMode="auto">
          <a:xfrm>
            <a:off x="4487030" y="2459090"/>
            <a:ext cx="612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Guide </a:t>
            </a: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687518" y="2857110"/>
            <a:ext cx="3348000" cy="284553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설명선 2(강조선) 54"/>
          <p:cNvSpPr/>
          <p:nvPr/>
        </p:nvSpPr>
        <p:spPr bwMode="auto">
          <a:xfrm>
            <a:off x="543637" y="2287734"/>
            <a:ext cx="1240923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2349"/>
              <a:gd name="adj5" fmla="val 115290"/>
              <a:gd name="adj6" fmla="val 138791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조회조건에 일치하는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정보 표시</a:t>
            </a:r>
          </a:p>
        </p:txBody>
      </p:sp>
      <p:sp>
        <p:nvSpPr>
          <p:cNvPr id="56" name="오른쪽 중괄호 55"/>
          <p:cNvSpPr/>
          <p:nvPr/>
        </p:nvSpPr>
        <p:spPr bwMode="auto">
          <a:xfrm rot="5400000">
            <a:off x="4718429" y="3456051"/>
            <a:ext cx="115442" cy="468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0" name="오른쪽 중괄호 59"/>
          <p:cNvSpPr/>
          <p:nvPr/>
        </p:nvSpPr>
        <p:spPr bwMode="auto">
          <a:xfrm rot="5400000">
            <a:off x="5631329" y="3384051"/>
            <a:ext cx="115442" cy="612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4930729" y="4005080"/>
            <a:ext cx="886391" cy="28804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직접입력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(Key-In)</a:t>
            </a:r>
          </a:p>
        </p:txBody>
      </p:sp>
      <p:cxnSp>
        <p:nvCxnSpPr>
          <p:cNvPr id="70" name="직선 연결선 69"/>
          <p:cNvCxnSpPr>
            <a:stCxn id="62" idx="0"/>
            <a:endCxn id="56" idx="1"/>
          </p:cNvCxnSpPr>
          <p:nvPr/>
        </p:nvCxnSpPr>
        <p:spPr bwMode="auto">
          <a:xfrm flipH="1" flipV="1">
            <a:off x="4776150" y="3747772"/>
            <a:ext cx="59777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1" name="직선 연결선 70"/>
          <p:cNvCxnSpPr>
            <a:stCxn id="62" idx="0"/>
            <a:endCxn id="60" idx="1"/>
          </p:cNvCxnSpPr>
          <p:nvPr/>
        </p:nvCxnSpPr>
        <p:spPr bwMode="auto">
          <a:xfrm flipV="1">
            <a:off x="5373925" y="3747772"/>
            <a:ext cx="31512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0" name="직사각형 99"/>
          <p:cNvSpPr/>
          <p:nvPr/>
        </p:nvSpPr>
        <p:spPr bwMode="auto">
          <a:xfrm>
            <a:off x="4052800" y="2857111"/>
            <a:ext cx="468400" cy="760492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3" name="설명선 2(강조선) 102"/>
          <p:cNvSpPr/>
          <p:nvPr/>
        </p:nvSpPr>
        <p:spPr bwMode="auto">
          <a:xfrm>
            <a:off x="2470750" y="3920370"/>
            <a:ext cx="1008140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8648"/>
              <a:gd name="adj5" fmla="val -60527"/>
              <a:gd name="adj6" fmla="val 173905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‘Guide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버튼으로 값 산출</a:t>
            </a:r>
          </a:p>
        </p:txBody>
      </p:sp>
      <p:sp>
        <p:nvSpPr>
          <p:cNvPr id="117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8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9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414880" y="4521850"/>
            <a:ext cx="4392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b="1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수익률 관리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에서 특정 목표원가 코드를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 -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대표사양 관리 이하에서는 좌상단에 선택된  프로젝트의 프로젝트 명과 목표원가 코드 표시</a:t>
            </a:r>
          </a:p>
        </p:txBody>
      </p:sp>
      <p:grpSp>
        <p:nvGrpSpPr>
          <p:cNvPr id="69" name="그룹 68"/>
          <p:cNvGrpSpPr/>
          <p:nvPr/>
        </p:nvGrpSpPr>
        <p:grpSpPr>
          <a:xfrm>
            <a:off x="344360" y="1963400"/>
            <a:ext cx="5496340" cy="252000"/>
            <a:chOff x="344360" y="1963400"/>
            <a:chExt cx="5496340" cy="252000"/>
          </a:xfrm>
        </p:grpSpPr>
        <p:sp>
          <p:nvSpPr>
            <p:cNvPr id="51" name="한쪽 모서리가 잘린 사각형 50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46" name="한쪽 모서리가 잘린 사각형 45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49" name="한쪽 모서리가 잘린 사각형 48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50" name="한쪽 모서리가 잘린 사각형 4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8" name="타원 67"/>
          <p:cNvSpPr/>
          <p:nvPr/>
        </p:nvSpPr>
        <p:spPr>
          <a:xfrm>
            <a:off x="258588" y="181938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4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75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88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0" name="실행 단추: 앞으로 또는 다음 8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92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108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111" name="TextBox 11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2" name="실행 단추: 앞으로 또는 다음 11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114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15" name="TextBox 11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6" name="실행 단추: 앞으로 또는 다음 11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1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22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23" name="TextBox 12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4" name="실행 단추: 앞으로 또는 다음 12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5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26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27" name="TextBox 12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8" name="실행 단추: 앞으로 또는 다음 12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6" name="타원 105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설정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 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</a:t>
            </a:r>
          </a:p>
        </p:txBody>
      </p:sp>
      <p:sp>
        <p:nvSpPr>
          <p:cNvPr id="54" name="직사각형 124"/>
          <p:cNvSpPr>
            <a:spLocks noChangeArrowheads="1"/>
          </p:cNvSpPr>
          <p:nvPr/>
        </p:nvSpPr>
        <p:spPr bwMode="auto">
          <a:xfrm>
            <a:off x="344360" y="2217950"/>
            <a:ext cx="5688000" cy="35153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8" name="Group 82"/>
          <p:cNvGraphicFramePr>
            <a:graphicFrameLocks noGrp="1"/>
          </p:cNvGraphicFramePr>
          <p:nvPr/>
        </p:nvGraphicFramePr>
        <p:xfrm>
          <a:off x="6149460" y="1022950"/>
          <a:ext cx="3528000" cy="31615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산출과 부문별배부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 활용할 원가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불러오기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기존에 산출된 견적원가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중에서 선택함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관리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선택된 항목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찾기 기능 부여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/OEM/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중 동일한 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사양으로 지정된 코드만 선택가능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Validation)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선택한 코드의 원가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산출값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이때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원가산출에 사용된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자재단가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투자비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 관련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Factor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들도 불러온다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표시는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X).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불러온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목표원가 쪽에 저장하고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다음에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본 화면을 조회하는 경우 해당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보이도록 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 금액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물량을 반영한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총금액과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 금액 중 선택 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Default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값은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총금액으로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하며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변경가능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총금액인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경우 단위는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백만원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단위당인경우 원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344360" y="1963400"/>
            <a:ext cx="5496340" cy="252000"/>
            <a:chOff x="344360" y="1963400"/>
            <a:chExt cx="5496340" cy="252000"/>
          </a:xfrm>
        </p:grpSpPr>
        <p:sp>
          <p:nvSpPr>
            <p:cNvPr id="43" name="한쪽 모서리가 잘린 사각형 42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44" name="한쪽 모서리가 잘린 사각형 43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45" name="한쪽 모서리가 잘린 사각형 4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47" name="한쪽 모서리가 잘린 사각형 46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48" name="한쪽 모서리가 잘린 사각형 47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8" name="타원 67"/>
          <p:cNvSpPr/>
          <p:nvPr/>
        </p:nvSpPr>
        <p:spPr>
          <a:xfrm>
            <a:off x="1098193" y="1794996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416370" y="228903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428654" y="3104978"/>
          <a:ext cx="5468638" cy="2484322"/>
        </p:xfrm>
        <a:graphic>
          <a:graphicData uri="http://schemas.openxmlformats.org/drawingml/2006/table">
            <a:tbl>
              <a:tblPr/>
              <a:tblGrid>
                <a:gridCol w="653758"/>
                <a:gridCol w="601860"/>
                <a:gridCol w="601860"/>
                <a:gridCol w="601860"/>
                <a:gridCol w="601860"/>
                <a:gridCol w="601860"/>
                <a:gridCol w="601860"/>
                <a:gridCol w="601860"/>
                <a:gridCol w="601860"/>
              </a:tblGrid>
              <a:tr h="162023"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백만원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8352" marB="7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물 량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21,286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53,214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393,783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9,387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173,658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4,900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12,250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90,653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2,070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2,173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2,774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2,912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19,765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3,489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7,012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7,401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7,509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7,620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54,979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3,092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22,877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10,459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21,436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22,294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22,533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22,783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165,397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1,955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  82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271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1,322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1,654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5,503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1,494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1,764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6,849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12,203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23,578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22,767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22,895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23,152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175,005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202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  87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842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2,816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 110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700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572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1,346 </a:t>
                      </a:r>
                    </a:p>
                  </a:txBody>
                  <a:tcPr marL="36000" marR="36000" marT="8352" marB="72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3789916" y="2289032"/>
          <a:ext cx="1188000" cy="432000"/>
        </p:xfrm>
        <a:graphic>
          <a:graphicData uri="http://schemas.openxmlformats.org/drawingml/2006/table">
            <a:tbl>
              <a:tblPr/>
              <a:tblGrid>
                <a:gridCol w="1188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9" name="그룹 68"/>
          <p:cNvGrpSpPr/>
          <p:nvPr/>
        </p:nvGrpSpPr>
        <p:grpSpPr>
          <a:xfrm>
            <a:off x="5049527" y="2420860"/>
            <a:ext cx="899421" cy="215900"/>
            <a:chOff x="3656820" y="2781040"/>
            <a:chExt cx="899421" cy="215900"/>
          </a:xfrm>
        </p:grpSpPr>
        <p:sp>
          <p:nvSpPr>
            <p:cNvPr id="62" name="AutoShape 279"/>
            <p:cNvSpPr>
              <a:spLocks noChangeArrowheads="1"/>
            </p:cNvSpPr>
            <p:nvPr/>
          </p:nvSpPr>
          <p:spPr bwMode="auto">
            <a:xfrm>
              <a:off x="4197466" y="2781040"/>
              <a:ext cx="358775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저장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65" name="AutoShape 279"/>
            <p:cNvSpPr>
              <a:spLocks noChangeArrowheads="1"/>
            </p:cNvSpPr>
            <p:nvPr/>
          </p:nvSpPr>
          <p:spPr bwMode="auto">
            <a:xfrm>
              <a:off x="3656820" y="2781040"/>
              <a:ext cx="46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불러오기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68041" y="2507732"/>
            <a:ext cx="198000" cy="19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직사각형 51"/>
          <p:cNvSpPr/>
          <p:nvPr/>
        </p:nvSpPr>
        <p:spPr bwMode="auto">
          <a:xfrm>
            <a:off x="442254" y="3284980"/>
            <a:ext cx="655939" cy="2304320"/>
          </a:xfrm>
          <a:prstGeom prst="rect">
            <a:avLst/>
          </a:prstGeom>
          <a:solidFill>
            <a:srgbClr val="FF9999">
              <a:alpha val="20000"/>
            </a:srgbClr>
          </a:solidFill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설명선 2(강조선) 54"/>
          <p:cNvSpPr/>
          <p:nvPr/>
        </p:nvSpPr>
        <p:spPr bwMode="auto">
          <a:xfrm>
            <a:off x="1206196" y="5818664"/>
            <a:ext cx="2047471" cy="455076"/>
          </a:xfrm>
          <a:prstGeom prst="accentCallout2">
            <a:avLst>
              <a:gd name="adj1" fmla="val 33039"/>
              <a:gd name="adj2" fmla="val -1761"/>
              <a:gd name="adj3" fmla="val 33039"/>
              <a:gd name="adj4" fmla="val -7843"/>
              <a:gd name="adj5" fmla="val -48136"/>
              <a:gd name="adj6" fmla="val -23826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원가코드의 모든 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표시함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440754" y="3284980"/>
            <a:ext cx="5448871" cy="215458"/>
          </a:xfrm>
          <a:prstGeom prst="rect">
            <a:avLst/>
          </a:prstGeom>
          <a:solidFill>
            <a:srgbClr val="FF9999">
              <a:alpha val="20000"/>
            </a:srgbClr>
          </a:solidFill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1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3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4832222" y="2828576"/>
            <a:ext cx="1116000" cy="215900"/>
            <a:chOff x="4832222" y="2828576"/>
            <a:chExt cx="1116000" cy="215900"/>
          </a:xfrm>
        </p:grpSpPr>
        <p:sp>
          <p:nvSpPr>
            <p:cNvPr id="51" name="AutoShape 279"/>
            <p:cNvSpPr>
              <a:spLocks noChangeArrowheads="1"/>
            </p:cNvSpPr>
            <p:nvPr/>
          </p:nvSpPr>
          <p:spPr bwMode="auto">
            <a:xfrm>
              <a:off x="4832222" y="2828576"/>
              <a:ext cx="1116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err="1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총금액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단위당 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70" name="실행 단추: 앞으로 또는 다음 69">
              <a:hlinkClick r:id="" action="ppaction://noaction" highlightClick="1"/>
            </p:cNvPr>
            <p:cNvSpPr/>
            <p:nvPr/>
          </p:nvSpPr>
          <p:spPr bwMode="auto">
            <a:xfrm rot="5400000">
              <a:off x="5756746" y="285943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72" name="모서리가 둥근 직사각형 71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4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75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84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88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0" name="실행 단추: 앞으로 또는 다음 8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92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0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103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8" name="실행 단추: 앞으로 또는 다음 10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1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12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13" name="TextBox 11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4" name="실행 단추: 앞으로 또는 다음 11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5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16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17" name="TextBox 11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8" name="실행 단추: 앞으로 또는 다음 11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385416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협의된 목표 수익률과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기준이 되는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현상원가를 바탕으로 부문별 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산출함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개당 기준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logic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따라 목표금액을 산출함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세부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logic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은 상세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및 사례 참조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금액을 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Default: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목표로 도달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금액을 표시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금액으로 표시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 원가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기초 정보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관리에서 확정한 최종 목표 수익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수익률을 이용하여 산출한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절감대상 총원가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(∑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연간 합계기준 원가항목별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판가제외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절감 대상 금액을 각 부문별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원가항목별로 집계함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 선택과 관계없이 절감목표금액으로 표시함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4" name="직사각형 53"/>
          <p:cNvSpPr/>
          <p:nvPr/>
        </p:nvSpPr>
        <p:spPr bwMode="auto">
          <a:xfrm rot="20651343">
            <a:off x="6742699" y="4959197"/>
            <a:ext cx="2376330" cy="936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451801" y="2513828"/>
          <a:ext cx="5437823" cy="2643120"/>
        </p:xfrm>
        <a:graphic>
          <a:graphicData uri="http://schemas.openxmlformats.org/drawingml/2006/table">
            <a:tbl>
              <a:tblPr/>
              <a:tblGrid>
                <a:gridCol w="576855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179,812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75,991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31,909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38,796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40,735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42,761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39,221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128,083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102,967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108,680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110,265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111,895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109,100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45,411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45,397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429,365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360,165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372,764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376,289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379,945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373,530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1,366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1,542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5,874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48,531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24,288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8,399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4,640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10,920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54,845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25,903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1,718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13,591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444,857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415,907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391,722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390,019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389,989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403,514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3,863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25,086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49,271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50,974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51,004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37,485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-0.88%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5.69%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11.17%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11.56%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8.50%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93" name="그룹 92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09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11" name="실행 단추: 앞으로 또는 다음 110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66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4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8" name="모서리가 둥근 직사각형 87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2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96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102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103" name="TextBox 10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4" name="실행 단추: 앞으로 또는 다음 10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105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108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2" name="실행 단추: 앞으로 또는 다음 11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114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15" name="TextBox 11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6" name="실행 단추: 앞으로 또는 다음 11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7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18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19" name="TextBox 11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0" name="실행 단추: 앞으로 또는 다음 11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1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22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23" name="TextBox 12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4" name="실행 단추: 앞으로 또는 다음 12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177528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선택한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 정보는 표시하지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항목별로 절감금액을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현재대비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숫자는 손익효과를 의미함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양수인경우 손익 증가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증가액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그외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긱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7" name="모서리가 둥근 직사각형 56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2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64" name="TextBox 6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5" name="실행 단추: 앞으로 또는 다음 64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76" name="TextBox 7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7" name="실행 단추: 앞으로 또는 다음 7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8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463996" y="2502778"/>
          <a:ext cx="5283200" cy="2627880"/>
        </p:xfrm>
        <a:graphic>
          <a:graphicData uri="http://schemas.openxmlformats.org/drawingml/2006/table">
            <a:tbl>
              <a:tblPr/>
              <a:tblGrid>
                <a:gridCol w="6096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21,256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8,926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10,852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11,395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11,961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35,828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28,803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30,400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31,300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30,518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12,699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120,104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100,747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104,272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105,258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106,280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104,486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924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1,643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1,171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1,035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1,047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1,085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13,575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6,794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2,350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3,055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15,342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3,802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직사각형 78"/>
          <p:cNvSpPr/>
          <p:nvPr/>
        </p:nvSpPr>
        <p:spPr bwMode="auto">
          <a:xfrm rot="20651343">
            <a:off x="6559503" y="4497201"/>
            <a:ext cx="2376330" cy="122357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절감목표금액으로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93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02" name="표 101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" name="TextBox 102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5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11" name="그룹 110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12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113" name="실행 단추: 앞으로 또는 다음 112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67" name="모서리가 둥근 직사각형 66"/>
          <p:cNvSpPr/>
          <p:nvPr/>
        </p:nvSpPr>
        <p:spPr bwMode="auto">
          <a:xfrm rot="20586987">
            <a:off x="6873596" y="3247055"/>
            <a:ext cx="1368000" cy="54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</a:t>
            </a:r>
            <a:r>
              <a:rPr lang="en-US" altLang="ko-KR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Spec </a:t>
            </a:r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참고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목표를 수립하기 위한 기초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정의된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따라 자동생성함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관련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Rule: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목표 </a:t>
            </a:r>
            <a:r>
              <a:rPr kumimoji="0" lang="ko-KR" altLang="en-US" sz="105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절감액을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각 현상원가의 비율로 안분하며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원가항목별로 절감 목표 대상 부서를 사전에 정의함</a:t>
            </a:r>
            <a:endParaRPr kumimoji="0" lang="ko-KR" altLang="en-US" sz="105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활용할 기초 자료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판가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 정보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기초정보관리에 입력된 내용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 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②  목표수익률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선택한 견적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endParaRPr kumimoji="0" lang="en-US" altLang="ko-KR" sz="110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 총원가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수량정보를 바탕으로 해당 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코드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총 매출액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(∑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물량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초도판가와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연도별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TCI Rate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매출액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(1-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목표수익률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현상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견적원가의 총원가 － 목표 총원가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계산함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백만원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단위가 아닌 원단위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목표의 원가 항목별 배부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총 절감목표금액을 각 원가 항목에 배부함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 관리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항목에만 배부 수행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 배부 금액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=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 항목이 차지하는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 중 해당원가의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판가의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 기준에 따름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수익성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분석시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× 10%.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물량효과는 고려하지 않으며 연도별로 각각 산출함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(5)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연도별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&amp;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합계값을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각 연도의 금액 비율로 안분함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연도별 목표 판가 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금액을 물량으로 나누어 단위당 목표원가를 산출함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해당연도 물량이 없는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전체 물량으로 나눈 값을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/>
        </p:nvGraphicFramePr>
        <p:xfrm>
          <a:off x="7761390" y="931892"/>
          <a:ext cx="1139301" cy="961285"/>
        </p:xfrm>
        <a:graphic>
          <a:graphicData uri="http://schemas.openxmlformats.org/presentationml/2006/ole">
            <p:oleObj spid="_x0000_s1026" name="Worksheet" showAsIcon="1" r:id="rId3" imgW="914400" imgH="771480" progId="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(6)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목표금액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선택된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목표원가를  사용하여 연도별로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금액으로 산출하며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손익증가 효과를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물량은 고정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이익률은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0)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(7)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절감할 원가를 부문별로 정리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연간합계의 단위당 기준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 원가항목 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등록된 사항에 따름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 설명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목표원가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부분별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금액을 산출함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산출된 금액을 저장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 금액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화면에 표시되는 정보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목표금액과 절감목표금액이 각각 산출되며 선택 내역에 따라 화면에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               Default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항목은 목표금액임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528576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검색조건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특정 사양까지 선택해야 함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사양이 모두 필수조건 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좌측부터 선택시 우측의 선택 가능항목이 줄어들도록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절감목표와 달성계획 등록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참조하여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최종 목표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 계획도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계산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 기준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연간 합계의 단위당 금액 기준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총금액을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물량으로 나눈 것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기초정보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프로젝트명과 사양정보 및 원가코드 표시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 단추 기능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해당코드에 입력된 정보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최초에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없는 경우 생성 버튼을 통해 선택한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현상원가와 배부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불러와 기초 정보를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원가관리만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산출대상 원가항목에 따름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재료비는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와 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신규재료비 두개 항목으로 구분하여 표시함</a:t>
                      </a:r>
                      <a:endParaRPr lang="en-US" altLang="ko-KR" sz="1000" b="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계산하기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수정가능 하도록 활성화하고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입력 후 차이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절감목표가 자동 산출되도록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정보 확인 후 최종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후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현상원가와 배부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Guide: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가져오기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합계의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개당 금액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 참조한 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배부 기준으로 기존에 산출한 값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7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각 부문이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숫자만 입력 가능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경상이익률은 자동계산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’, 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목표－배부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’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Text  Key-In(20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 限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).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형광표시된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부분 제외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’, 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목표－견적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’</a:t>
                      </a: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1" name="타원 70"/>
          <p:cNvSpPr/>
          <p:nvPr/>
        </p:nvSpPr>
        <p:spPr>
          <a:xfrm>
            <a:off x="3272386" y="16187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8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87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90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9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105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109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5" name="설명선 2(강조선) 114"/>
          <p:cNvSpPr/>
          <p:nvPr/>
        </p:nvSpPr>
        <p:spPr bwMode="auto">
          <a:xfrm>
            <a:off x="357694" y="2480026"/>
            <a:ext cx="1116000" cy="252000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2349"/>
              <a:gd name="adj5" fmla="val 119053"/>
              <a:gd name="adj6" fmla="val 122404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기존 입력정보 표시</a:t>
            </a:r>
          </a:p>
        </p:txBody>
      </p:sp>
      <p:sp>
        <p:nvSpPr>
          <p:cNvPr id="135" name="타원 134"/>
          <p:cNvSpPr>
            <a:spLocks noChangeAspect="1"/>
          </p:cNvSpPr>
          <p:nvPr/>
        </p:nvSpPr>
        <p:spPr>
          <a:xfrm>
            <a:off x="344359" y="1969476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8-1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36" name="타원 135"/>
          <p:cNvSpPr>
            <a:spLocks noChangeAspect="1"/>
          </p:cNvSpPr>
          <p:nvPr/>
        </p:nvSpPr>
        <p:spPr>
          <a:xfrm>
            <a:off x="3266614" y="195283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8-2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140" name="표 139"/>
          <p:cNvGraphicFramePr>
            <a:graphicFrameLocks noGrp="1"/>
          </p:cNvGraphicFramePr>
          <p:nvPr/>
        </p:nvGraphicFramePr>
        <p:xfrm>
          <a:off x="512764" y="2827268"/>
          <a:ext cx="5264931" cy="3042900"/>
        </p:xfrm>
        <a:graphic>
          <a:graphicData uri="http://schemas.openxmlformats.org/drawingml/2006/table">
            <a:tbl>
              <a:tblPr/>
              <a:tblGrid>
                <a:gridCol w="104212"/>
                <a:gridCol w="61400"/>
                <a:gridCol w="386084"/>
                <a:gridCol w="453600"/>
                <a:gridCol w="453600"/>
                <a:gridCol w="453600"/>
                <a:gridCol w="451586"/>
                <a:gridCol w="828000"/>
                <a:gridCol w="416849"/>
                <a:gridCol w="266400"/>
                <a:gridCol w="453600"/>
                <a:gridCol w="266400"/>
                <a:gridCol w="453600"/>
                <a:gridCol w="216000"/>
              </a:tblGrid>
              <a:tr h="16764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</a:p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526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436,998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원단위 절사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243,860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97,544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146,316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수입자재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Nego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ko-KR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30,722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33,249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389,404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393,758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276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0.1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직사각형 113"/>
          <p:cNvSpPr/>
          <p:nvPr/>
        </p:nvSpPr>
        <p:spPr bwMode="auto">
          <a:xfrm>
            <a:off x="1064988" y="2828410"/>
            <a:ext cx="936000" cy="360753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6" name="직사각형 115"/>
          <p:cNvSpPr/>
          <p:nvPr/>
        </p:nvSpPr>
        <p:spPr bwMode="auto">
          <a:xfrm>
            <a:off x="1988775" y="2828410"/>
            <a:ext cx="432000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8" name="직사각형 117"/>
          <p:cNvSpPr/>
          <p:nvPr/>
        </p:nvSpPr>
        <p:spPr bwMode="auto">
          <a:xfrm>
            <a:off x="2648680" y="2455725"/>
            <a:ext cx="684000" cy="252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ko-KR" altLang="en-US" sz="10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직접입력</a:t>
            </a:r>
            <a:r>
              <a:rPr lang="en-US" altLang="ko-KR" sz="10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</a:p>
        </p:txBody>
      </p:sp>
      <p:cxnSp>
        <p:nvCxnSpPr>
          <p:cNvPr id="121" name="직선 화살표 연결선 120"/>
          <p:cNvCxnSpPr>
            <a:stCxn id="118" idx="1"/>
            <a:endCxn id="116" idx="0"/>
          </p:cNvCxnSpPr>
          <p:nvPr/>
        </p:nvCxnSpPr>
        <p:spPr bwMode="auto">
          <a:xfrm flipH="1">
            <a:off x="2204775" y="2581725"/>
            <a:ext cx="443905" cy="24668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8080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1" name="직사각형 130"/>
          <p:cNvSpPr/>
          <p:nvPr/>
        </p:nvSpPr>
        <p:spPr bwMode="auto">
          <a:xfrm>
            <a:off x="2877345" y="2828410"/>
            <a:ext cx="828000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cxnSp>
        <p:nvCxnSpPr>
          <p:cNvPr id="132" name="직선 화살표 연결선 131"/>
          <p:cNvCxnSpPr>
            <a:stCxn id="118" idx="2"/>
            <a:endCxn id="131" idx="0"/>
          </p:cNvCxnSpPr>
          <p:nvPr/>
        </p:nvCxnSpPr>
        <p:spPr bwMode="auto">
          <a:xfrm>
            <a:off x="2990680" y="2707725"/>
            <a:ext cx="300665" cy="12068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rgbClr val="080808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7" name="타원 136"/>
          <p:cNvSpPr>
            <a:spLocks noChangeAspect="1"/>
          </p:cNvSpPr>
          <p:nvPr/>
        </p:nvSpPr>
        <p:spPr>
          <a:xfrm>
            <a:off x="968700" y="26843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8-3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38" name="타원 137"/>
          <p:cNvSpPr>
            <a:spLocks noChangeAspect="1"/>
          </p:cNvSpPr>
          <p:nvPr/>
        </p:nvSpPr>
        <p:spPr>
          <a:xfrm>
            <a:off x="1928580" y="26843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8-4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13" name="설명선 2(강조선) 112"/>
          <p:cNvSpPr/>
          <p:nvPr/>
        </p:nvSpPr>
        <p:spPr bwMode="auto">
          <a:xfrm>
            <a:off x="1629489" y="5888890"/>
            <a:ext cx="1685137" cy="396000"/>
          </a:xfrm>
          <a:prstGeom prst="accentCallout2">
            <a:avLst>
              <a:gd name="adj1" fmla="val 51792"/>
              <a:gd name="adj2" fmla="val -1942"/>
              <a:gd name="adj3" fmla="val 51792"/>
              <a:gd name="adj4" fmla="val -15612"/>
              <a:gd name="adj5" fmla="val -501813"/>
              <a:gd name="adj6" fmla="val -40462"/>
            </a:avLst>
          </a:prstGeom>
          <a:noFill/>
          <a:ln w="12700" algn="ctr">
            <a:solidFill>
              <a:srgbClr val="111111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목표절감액을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부여받는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부문이 상이하므로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신규를 구분 함</a:t>
            </a:r>
          </a:p>
        </p:txBody>
      </p:sp>
      <p:sp>
        <p:nvSpPr>
          <p:cNvPr id="112" name="모서리가 둥근 직사각형 111"/>
          <p:cNvSpPr/>
          <p:nvPr/>
        </p:nvSpPr>
        <p:spPr bwMode="auto">
          <a:xfrm>
            <a:off x="585410" y="3548510"/>
            <a:ext cx="468000" cy="324000"/>
          </a:xfrm>
          <a:prstGeom prst="roundRect">
            <a:avLst/>
          </a:prstGeom>
          <a:noFill/>
          <a:ln w="22225" algn="ctr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5061056" y="2493000"/>
            <a:ext cx="64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FF99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l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차수정보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0" name="실행 단추: 앞으로 또는 다음 69">
            <a:hlinkClick r:id="" action="ppaction://noaction" highlightClick="1"/>
          </p:cNvPr>
          <p:cNvSpPr/>
          <p:nvPr/>
        </p:nvSpPr>
        <p:spPr bwMode="auto">
          <a:xfrm rot="5400000">
            <a:off x="5541964" y="2523858"/>
            <a:ext cx="180000" cy="154184"/>
          </a:xfrm>
          <a:prstGeom prst="actionButtonForwardNext">
            <a:avLst/>
          </a:prstGeom>
          <a:solidFill>
            <a:srgbClr val="00B050"/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9182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AutoShape 279"/>
          <p:cNvSpPr>
            <a:spLocks noChangeArrowheads="1"/>
          </p:cNvSpPr>
          <p:nvPr/>
        </p:nvSpPr>
        <p:spPr bwMode="auto">
          <a:xfrm>
            <a:off x="385586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26518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AutoShape 279"/>
          <p:cNvSpPr>
            <a:spLocks noChangeArrowheads="1"/>
          </p:cNvSpPr>
          <p:nvPr/>
        </p:nvSpPr>
        <p:spPr bwMode="auto">
          <a:xfrm>
            <a:off x="4674500" y="2060810"/>
            <a:ext cx="46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계산하기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4322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목표원가와 목표 달성 계획을 등록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8-5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절감목표를 달성하기 위한 상세 계획을 수립하여 등록함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금액을 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개까지 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예시화면은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이나 실제는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으로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창이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나타나도록하여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그곳에 등록하고 결과값만 표시되도록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8-6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 등록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(Pop-up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 기능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입력되야할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부분을 클릭하면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창이 나타남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우선 선택하여야 입력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선택된 부문 정보를 그대로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직접 수정 불가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행의 원가항목과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직접 수정 불가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파일 업로드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원가절감활동 유형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Master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활용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Level1~Level3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내용은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Master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내용 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숫자로 직접 입력함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버튼을 이용하여 필요한 만큼의 행 생성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 완료 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버튼을 누르면 입력한 금액의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합계가 계산되며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금액이 부문별 절감목표에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    </a:t>
                      </a: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8-7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차수정보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목표설정과 단계별로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구분함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박스 선택 가능항목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목표 수립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∙ 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5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재배부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원가관리만 사용가능하며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필수입력 항목으로서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미입력시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Freezing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절감액 및 절감 계획 활동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4465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61" name="표 60"/>
          <p:cNvGraphicFramePr>
            <a:graphicFrameLocks noGrp="1"/>
          </p:cNvGraphicFramePr>
          <p:nvPr/>
        </p:nvGraphicFramePr>
        <p:xfrm>
          <a:off x="512764" y="2779768"/>
          <a:ext cx="5264931" cy="3042900"/>
        </p:xfrm>
        <a:graphic>
          <a:graphicData uri="http://schemas.openxmlformats.org/drawingml/2006/table">
            <a:tbl>
              <a:tblPr/>
              <a:tblGrid>
                <a:gridCol w="104212"/>
                <a:gridCol w="61400"/>
                <a:gridCol w="386084"/>
                <a:gridCol w="453600"/>
                <a:gridCol w="453600"/>
                <a:gridCol w="453600"/>
                <a:gridCol w="451586"/>
                <a:gridCol w="828000"/>
                <a:gridCol w="416849"/>
                <a:gridCol w="266400"/>
                <a:gridCol w="453600"/>
                <a:gridCol w="266400"/>
                <a:gridCol w="453600"/>
                <a:gridCol w="216000"/>
              </a:tblGrid>
              <a:tr h="16764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</a:p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배부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조정사유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526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436,998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원단위 절사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243,860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97,544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TCI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146,316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수입자재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Nego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en-US" altLang="ko-KR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30,722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33,249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품질향상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389,404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근로자 요구사항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1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393,758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43,239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-276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-0.1%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직사각형 118"/>
          <p:cNvSpPr/>
          <p:nvPr/>
        </p:nvSpPr>
        <p:spPr bwMode="auto">
          <a:xfrm>
            <a:off x="4131861" y="2780910"/>
            <a:ext cx="1645834" cy="360000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8" name="타원 67"/>
          <p:cNvSpPr>
            <a:spLocks noChangeAspect="1"/>
          </p:cNvSpPr>
          <p:nvPr/>
        </p:nvSpPr>
        <p:spPr>
          <a:xfrm>
            <a:off x="4088880" y="2636890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8-5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4413305" y="3477260"/>
            <a:ext cx="468000" cy="216030"/>
          </a:xfrm>
          <a:prstGeom prst="rect">
            <a:avLst/>
          </a:prstGeom>
          <a:solidFill>
            <a:srgbClr val="FF9999">
              <a:alpha val="58000"/>
            </a:srgbClr>
          </a:solidFill>
          <a:ln w="28575" algn="ctr">
            <a:solidFill>
              <a:srgbClr val="CC0000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665745" y="3293075"/>
          <a:ext cx="3378219" cy="1924300"/>
        </p:xfrm>
        <a:graphic>
          <a:graphicData uri="http://schemas.openxmlformats.org/drawingml/2006/table">
            <a:tbl>
              <a:tblPr/>
              <a:tblGrid>
                <a:gridCol w="684000"/>
                <a:gridCol w="97400"/>
                <a:gridCol w="684000"/>
                <a:gridCol w="720000"/>
                <a:gridCol w="711895"/>
                <a:gridCol w="480924"/>
              </a:tblGrid>
              <a:tr h="17145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9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국산화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글로벌 소싱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업체변경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1,242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8080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51"/>
                    </a:solidFill>
                  </a:tcPr>
                </a:tc>
              </a:tr>
            </a:tbl>
          </a:graphicData>
        </a:graphic>
      </p:graphicFrame>
      <p:sp>
        <p:nvSpPr>
          <p:cNvPr id="81" name="타원 80"/>
          <p:cNvSpPr>
            <a:spLocks noChangeAspect="1"/>
          </p:cNvSpPr>
          <p:nvPr/>
        </p:nvSpPr>
        <p:spPr>
          <a:xfrm>
            <a:off x="488380" y="3143375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8-6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cxnSp>
        <p:nvCxnSpPr>
          <p:cNvPr id="70" name="구부러진 연결선 65"/>
          <p:cNvCxnSpPr>
            <a:stCxn id="69" idx="2"/>
            <a:endCxn id="90" idx="3"/>
          </p:cNvCxnSpPr>
          <p:nvPr/>
        </p:nvCxnSpPr>
        <p:spPr bwMode="auto">
          <a:xfrm rot="5400000">
            <a:off x="3631440" y="4105369"/>
            <a:ext cx="1427945" cy="603786"/>
          </a:xfrm>
          <a:prstGeom prst="curvedConnector2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직사각형 89"/>
          <p:cNvSpPr/>
          <p:nvPr/>
        </p:nvSpPr>
        <p:spPr bwMode="auto">
          <a:xfrm>
            <a:off x="3575519" y="5013220"/>
            <a:ext cx="468000" cy="216030"/>
          </a:xfrm>
          <a:prstGeom prst="rect">
            <a:avLst/>
          </a:prstGeom>
          <a:noFill/>
          <a:ln w="2857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2" name="폭발 2 71"/>
          <p:cNvSpPr>
            <a:spLocks noChangeAspect="1"/>
          </p:cNvSpPr>
          <p:nvPr/>
        </p:nvSpPr>
        <p:spPr bwMode="auto">
          <a:xfrm>
            <a:off x="4117376" y="4004785"/>
            <a:ext cx="1052364" cy="612000"/>
          </a:xfrm>
          <a:prstGeom prst="irregularSeal2">
            <a:avLst/>
          </a:prstGeom>
          <a:solidFill>
            <a:schemeClr val="tx2">
              <a:lumMod val="75000"/>
            </a:schemeClr>
          </a:solidFill>
          <a:ln w="2857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Click</a:t>
            </a:r>
            <a:r>
              <a:rPr lang="ko-KR" altLang="en-US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&amp;</a:t>
            </a:r>
          </a:p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Pop-Up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맑은 고딕" pitchFamily="50" charset="-127"/>
              <a:cs typeface="Arial" pitchFamily="34" charset="0"/>
            </a:endParaRPr>
          </a:p>
        </p:txBody>
      </p:sp>
      <p:pic>
        <p:nvPicPr>
          <p:cNvPr id="6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715894" y="3756920"/>
            <a:ext cx="1428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" name="AutoShape 279"/>
          <p:cNvSpPr>
            <a:spLocks noChangeArrowheads="1"/>
          </p:cNvSpPr>
          <p:nvPr/>
        </p:nvSpPr>
        <p:spPr bwMode="auto">
          <a:xfrm>
            <a:off x="3586507" y="398146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행추가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7" name="AutoShape 279"/>
          <p:cNvSpPr>
            <a:spLocks noChangeArrowheads="1"/>
          </p:cNvSpPr>
          <p:nvPr/>
        </p:nvSpPr>
        <p:spPr bwMode="auto">
          <a:xfrm>
            <a:off x="3586507" y="34290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3" name="AutoShape 279"/>
          <p:cNvSpPr>
            <a:spLocks noChangeArrowheads="1"/>
          </p:cNvSpPr>
          <p:nvPr/>
        </p:nvSpPr>
        <p:spPr bwMode="auto">
          <a:xfrm>
            <a:off x="5061056" y="2493000"/>
            <a:ext cx="648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99FF99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l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차수정보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7" name="실행 단추: 앞으로 또는 다음 86">
            <a:hlinkClick r:id="" action="ppaction://noaction" highlightClick="1"/>
          </p:cNvPr>
          <p:cNvSpPr/>
          <p:nvPr/>
        </p:nvSpPr>
        <p:spPr bwMode="auto">
          <a:xfrm rot="5400000">
            <a:off x="5541964" y="2523858"/>
            <a:ext cx="180000" cy="154184"/>
          </a:xfrm>
          <a:prstGeom prst="actionButtonForwardNext">
            <a:avLst/>
          </a:prstGeom>
          <a:solidFill>
            <a:srgbClr val="00B050"/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95" name="타원 94"/>
          <p:cNvSpPr>
            <a:spLocks noChangeAspect="1"/>
          </p:cNvSpPr>
          <p:nvPr/>
        </p:nvSpPr>
        <p:spPr>
          <a:xfrm>
            <a:off x="4785230" y="2396765"/>
            <a:ext cx="246186" cy="25200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 anchorCtr="0"/>
          <a:lstStyle/>
          <a:p>
            <a:pPr algn="ctr"/>
            <a:r>
              <a:rPr lang="en-US" altLang="ko-KR" sz="9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8-7</a:t>
            </a:r>
            <a:endParaRPr lang="ko-KR" altLang="en-US" sz="9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71" grpId="0" animBg="1"/>
      <p:bldP spid="7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</a:t>
            </a:r>
            <a:r>
              <a:rPr lang="ko-KR" altLang="en-US" dirty="0" err="1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절감액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 및 절감 계획 활동 등록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목표원가와 목표 달성 계획을 등록하여 이를 관리함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산출된 부문별 목표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바탕으로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최종 목표금액과 절감 목표 및 절감계획을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금액은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기준임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 항목은 견적원가에서 사용하는 항목들과 동일하며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기술된 사항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항목과 차이 존재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신규분을 구분표시 함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차수정보에서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최초목표 설정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으로 선택한 경우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(1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재배부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20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부터는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별도의 산출 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</a:t>
            </a:r>
            <a:r>
              <a:rPr kumimoji="0" lang="ko-KR" altLang="en-US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</a:t>
            </a:r>
            <a:r>
              <a:rPr kumimoji="0" lang="en-US" altLang="ko-KR" sz="12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활용할 기초 자료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선택한 현상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 (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연간합계의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1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개당 금액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)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② 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선택한 견적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endParaRPr kumimoji="0" lang="en-US" altLang="ko-KR" sz="110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Guide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선택하여 사용한 견적원가 또는 현상원가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합계금액을 총 물량으로 나눈 값을 표시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Guide: ‘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’</a:t>
            </a:r>
            <a:r>
              <a:rPr lang="ko-KR" altLang="en-US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에서 계산된 원가항목별 목표 금액</a:t>
            </a:r>
            <a:r>
              <a:rPr lang="en-US" altLang="ko-KR" sz="1050" dirty="0" smtClean="0">
                <a:solidFill>
                  <a:srgbClr val="000000"/>
                </a:solidFill>
                <a:latin typeface="Arial"/>
                <a:ea typeface="가는각진제목체"/>
              </a:rPr>
              <a:t>.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3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lvl="0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조정사유</a:t>
            </a:r>
            <a:r>
              <a:rPr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 확정 후 입력대상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 산출 부분 상세 정의 예정</a:t>
            </a:r>
            <a:r>
              <a:rPr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원가항목의 최종 목표원가금액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절감목표가 아닌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Target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대상금액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부문이 숫자를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하며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합계로 </a:t>
            </a:r>
            <a:r>
              <a:rPr kumimoji="0" lang="ko-KR" altLang="en-US" sz="105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자동계산되거나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입력이 제한되는 부분 존재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입력할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매출액과 각 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원가항목은 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영업외수지 등을 구성하는 하위 항목을 의미함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 되는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저장버튼을 누르면 입력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저장하고 자동으로 값을 산출하여 저장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(C/O+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신규재료비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부터 기타제조경비까지 모든 원가 항목의 합계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제조원가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판관비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영업외수지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∙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÷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소수점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첫째자리까지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%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차이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Guide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비하여 손익이 안좋아진 경우를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 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  /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조정사유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차이의 원인을 담당부서가 입력하는 화면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클릭시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Key-In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활성화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or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입력창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기능을 부여하여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Text 20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 입력 가능하도록 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목표와 선택한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견적원가와 차이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견적원가에 비하여 손익이 좋아지는 경우를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 －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/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매출액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최종목표 －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부문별 </a:t>
            </a:r>
            <a:r>
              <a:rPr lang="ko-KR" altLang="en-US" dirty="0" err="1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절감액</a:t>
            </a:r>
            <a:r>
              <a:rPr lang="ko-KR" altLang="en-US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 및 절감 계획 활동 등록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Logic,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4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절감목표 등록</a:t>
            </a:r>
            <a:endParaRPr kumimoji="0" lang="en-US" altLang="ko-KR" sz="11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총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배치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(1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개의 원가항목에 대하여 최대 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부문이 절감 활동 수행</a:t>
            </a: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10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입력방안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선택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내용은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설계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구매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구매관리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생산기술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 5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 항목으로 정의함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금액자동계산 되는 부분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Pop-Up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기능으로 입력 가능하도록 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 설명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조회조건에 일치하는 프로젝트의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불러옴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원가관리팀만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 가능함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최초에 견적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현상원가와 배부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금액을 가져오도록 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Key-In,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콤보박스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Pop-Up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 기능을 이용하여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할 수 있도록 활성화 시킴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계산하기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Data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자동계산되어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가 입력되는 부분 계산 수행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대상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차이금액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절감목표열과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제조원가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경상이익률 행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 및 재계산된 금액을 저장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계산된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Data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확정하여 수정이 불가능하도록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Freezing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실시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원가관리팀만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 가능하며 아래 조건이 만족되지 않는 경우 확정불가</a:t>
            </a:r>
            <a:endParaRPr kumimoji="0" lang="en-US" altLang="ko-KR" sz="1050" b="1" dirty="0" smtClean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Validating: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차수정보가 입력되어야 함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      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절감목표가 부여된 항목은 부문별 절감목표가 등록되어야 하고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err="1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행별로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입력된 값의 합계가 절감 목표와 일치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영업이익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 연산으로 산출되는 부분은 제외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7"/>
            <a:ext cx="5691889" cy="42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1012870"/>
          <a:ext cx="3528000" cy="3488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목표금액과 부문별 달성금액을 표시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검색조건</a:t>
                      </a:r>
                      <a:r>
                        <a:rPr lang="en-US" altLang="ko-KR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프로젝트의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특정 사양까지 선택해야 함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절감목표와 달성계획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동일함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사양이 모두 필수조건 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좌측부터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우측의 선택 가능항목이 줄어들도록 함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목표원가 상세내역</a:t>
                      </a:r>
                      <a:endParaRPr lang="en-US" altLang="ko-KR" sz="1000" b="1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기존에 산출한 목표원가와 부문별로 등록한 절감 계획을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요약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정리하여 보여주는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행에 표시될 원가항목과 순서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Level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달성계획 등록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동일함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의 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                            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값과 동일함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절감목표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∙ ‘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절감목표와  달성계획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등록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에서 각 부문이 입력한 값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∙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부문의 값을 확정하여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Header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고정하고  각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column 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 해당 부분의 값을 표시함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∙ Header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항목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좌측부터  순차적으로 배열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영업→구매→설계 →생기→구매관리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13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목표원가 상세 내역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5291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344360" y="1737336"/>
            <a:ext cx="5496340" cy="252000"/>
            <a:chOff x="344360" y="1963400"/>
            <a:chExt cx="5496340" cy="252000"/>
          </a:xfrm>
        </p:grpSpPr>
        <p:sp>
          <p:nvSpPr>
            <p:cNvPr id="57" name="한쪽 모서리가 잘린 사각형 56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noFill/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66" name="한쪽 모서리가 잘린 사각형 6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+mj-lt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7" name="한쪽 모서리가 잘린 사각형 66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74" name="모서리가 둥근 직사각형 73"/>
          <p:cNvSpPr/>
          <p:nvPr/>
        </p:nvSpPr>
        <p:spPr bwMode="auto">
          <a:xfrm>
            <a:off x="428871" y="126841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9246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2701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2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3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4" name="TextBox 8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6" name="실행 단추: 앞으로 또는 다음 8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65"/>
          <p:cNvGrpSpPr/>
          <p:nvPr/>
        </p:nvGrpSpPr>
        <p:grpSpPr>
          <a:xfrm>
            <a:off x="1484876" y="1317118"/>
            <a:ext cx="360000" cy="226591"/>
            <a:chOff x="1701166" y="1307502"/>
            <a:chExt cx="360000" cy="226591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9" name="실행 단추: 앞으로 또는 다음 8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96" name="TextBox 9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2" name="실행 단추: 앞으로 또는 다음 10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4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074182" y="1317118"/>
            <a:ext cx="360000" cy="226591"/>
            <a:chOff x="2709337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8" name="TextBox 33"/>
          <p:cNvSpPr txBox="1">
            <a:spLocks noChangeArrowheads="1"/>
          </p:cNvSpPr>
          <p:nvPr/>
        </p:nvSpPr>
        <p:spPr bwMode="auto">
          <a:xfrm>
            <a:off x="4634175" y="132801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74"/>
          <p:cNvGrpSpPr/>
          <p:nvPr/>
        </p:nvGrpSpPr>
        <p:grpSpPr>
          <a:xfrm>
            <a:off x="4880990" y="1328010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1" name="실행 단추: 앞으로 또는 다음 11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87" name="표 86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1" name="그룹 50"/>
          <p:cNvGrpSpPr/>
          <p:nvPr/>
        </p:nvGrpSpPr>
        <p:grpSpPr>
          <a:xfrm>
            <a:off x="4737060" y="2132820"/>
            <a:ext cx="648000" cy="215900"/>
            <a:chOff x="4737060" y="2132820"/>
            <a:chExt cx="648000" cy="215900"/>
          </a:xfrm>
        </p:grpSpPr>
        <p:sp>
          <p:nvSpPr>
            <p:cNvPr id="46" name="AutoShape 279"/>
            <p:cNvSpPr>
              <a:spLocks noChangeArrowheads="1"/>
            </p:cNvSpPr>
            <p:nvPr/>
          </p:nvSpPr>
          <p:spPr bwMode="auto">
            <a:xfrm>
              <a:off x="4737060" y="2132820"/>
              <a:ext cx="648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99FF99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rgbClr val="00B050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+mj-lt"/>
                  <a:ea typeface="가는각진제목체" pitchFamily="18" charset="-127"/>
                </a:rPr>
                <a:t>차수정보</a:t>
              </a:r>
              <a:endParaRPr kumimoji="0" lang="ko-KR" altLang="en-US" sz="900" dirty="0">
                <a:solidFill>
                  <a:prstClr val="black"/>
                </a:solidFill>
                <a:latin typeface="+mj-lt"/>
                <a:ea typeface="가는각진제목체" pitchFamily="18" charset="-127"/>
              </a:endParaRPr>
            </a:p>
          </p:txBody>
        </p:sp>
        <p:sp>
          <p:nvSpPr>
            <p:cNvPr id="47" name="실행 단추: 앞으로 또는 다음 46">
              <a:hlinkClick r:id="" action="ppaction://noaction" highlightClick="1"/>
            </p:cNvPr>
            <p:cNvSpPr/>
            <p:nvPr/>
          </p:nvSpPr>
          <p:spPr bwMode="auto">
            <a:xfrm rot="5400000">
              <a:off x="5206093" y="2163678"/>
              <a:ext cx="180000" cy="154184"/>
            </a:xfrm>
            <a:prstGeom prst="actionButtonForwardNext">
              <a:avLst/>
            </a:prstGeom>
            <a:solidFill>
              <a:srgbClr val="00B050"/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49" name="타원 48"/>
          <p:cNvSpPr/>
          <p:nvPr/>
        </p:nvSpPr>
        <p:spPr>
          <a:xfrm>
            <a:off x="4520940" y="16187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9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471810" y="2901235"/>
          <a:ext cx="5092895" cy="3132000"/>
        </p:xfrm>
        <a:graphic>
          <a:graphicData uri="http://schemas.openxmlformats.org/drawingml/2006/table">
            <a:tbl>
              <a:tblPr/>
              <a:tblGrid>
                <a:gridCol w="97400"/>
                <a:gridCol w="97400"/>
                <a:gridCol w="475124"/>
                <a:gridCol w="610462"/>
                <a:gridCol w="610462"/>
                <a:gridCol w="610462"/>
                <a:gridCol w="518317"/>
                <a:gridCol w="518317"/>
                <a:gridCol w="518317"/>
                <a:gridCol w="518317"/>
                <a:gridCol w="518317"/>
              </a:tblGrid>
              <a:tr h="216000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 목표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6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생기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구매관리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 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441,128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437,000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4,128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255,854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244,000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11,854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102,342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97,600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4,742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153,513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146,400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7,113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3,556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32,233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85,585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81,572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34,885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33,300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408,557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389,672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18,885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1,250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3,115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412,972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394,037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18,935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28,156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42,963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14,807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6.40%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9.80%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3.40%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직사각형 51"/>
          <p:cNvSpPr/>
          <p:nvPr/>
        </p:nvSpPr>
        <p:spPr bwMode="auto">
          <a:xfrm>
            <a:off x="2984545" y="2913110"/>
            <a:ext cx="2580160" cy="432000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3" name="설명선 2(강조선) 52"/>
          <p:cNvSpPr/>
          <p:nvPr/>
        </p:nvSpPr>
        <p:spPr bwMode="auto">
          <a:xfrm>
            <a:off x="2360640" y="2420860"/>
            <a:ext cx="2088290" cy="396000"/>
          </a:xfrm>
          <a:prstGeom prst="accentCallout2">
            <a:avLst>
              <a:gd name="adj1" fmla="val 39795"/>
              <a:gd name="adj2" fmla="val 84494"/>
              <a:gd name="adj3" fmla="val 39797"/>
              <a:gd name="adj4" fmla="val 91866"/>
              <a:gd name="adj5" fmla="val 118943"/>
              <a:gd name="adj6" fmla="val 111939"/>
            </a:avLst>
          </a:prstGeom>
          <a:noFill/>
          <a:ln w="12700" algn="ctr">
            <a:solidFill>
              <a:srgbClr val="111111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목표절감액을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1000" b="1" dirty="0" err="1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부여받는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부문이 상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eaLnBrk="0" latinLnBrk="0" hangingPunct="0">
              <a:lnSpc>
                <a:spcPct val="110000"/>
              </a:lnSpc>
            </a:pP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lang="en-US" altLang="ko-KR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lang="ko-KR" altLang="en-US" sz="1000" b="1" dirty="0" smtClean="0">
                <a:solidFill>
                  <a:srgbClr val="080808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신규를 구분 함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X-02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BOM 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8" name="직사각형 124"/>
          <p:cNvSpPr>
            <a:spLocks noChangeArrowheads="1"/>
          </p:cNvSpPr>
          <p:nvPr/>
        </p:nvSpPr>
        <p:spPr bwMode="auto">
          <a:xfrm>
            <a:off x="397493" y="1709774"/>
            <a:ext cx="5624081" cy="107152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62" name="Group 82"/>
          <p:cNvGraphicFramePr>
            <a:graphicFrameLocks noGrp="1"/>
          </p:cNvGraphicFramePr>
          <p:nvPr/>
        </p:nvGraphicFramePr>
        <p:xfrm>
          <a:off x="6136760" y="1026115"/>
          <a:ext cx="3528000" cy="50047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PDM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하여 표시하고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입력한다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6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/OEM/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차수로 검색가능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차수는 현상원가 산출 차수를 의미하며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 저장될 현상원가 코드와 연계됨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차수에 해당되는 현상원가 코드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개발과제 프로젝트와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프로젝트별로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인식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구분할 수 있는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Group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코드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차수의 하위에 생성된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 코드와 관련코드에 등록된 기초정보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특정 원가코드를 선택한 이후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버튼을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실행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제품코드 개념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목표원가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Key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로 사용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선택된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품번의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Level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母子관계를 표시하여 계층구조를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산출시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Upload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동일하게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Tree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구조로 계층을 볼 수 있도록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계층정보를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순자적으로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표시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최상위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구성품부터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순차적으로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하위품을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볼 수 있도록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PDM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에서 전송하는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최대한 활용함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구성품을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매입하는 입고 단위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이후 설계에서 입력할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체크기능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Validation: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① 자신의 하위품목 중 입고단위로 선택된 품목이 있다면 자신은 선택되어서는 안됨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②  본인 또는 본인의 상위품목 중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개는 입고단위로 선택되어야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.(And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수정기능으로 입고 단위 표시 가능하도록 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</a:t>
                      </a:r>
                    </a:p>
                    <a:p>
                      <a:pPr marL="82550" marR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완료로 최종 확정할 수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있도록함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완료시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         Validation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수행하여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Error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발생 시 메시지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8" name="AutoShape 279"/>
          <p:cNvSpPr>
            <a:spLocks noChangeArrowheads="1"/>
          </p:cNvSpPr>
          <p:nvPr/>
        </p:nvSpPr>
        <p:spPr bwMode="auto">
          <a:xfrm>
            <a:off x="5672787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2585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5" name="직사각형 124"/>
          <p:cNvSpPr>
            <a:spLocks noChangeArrowheads="1"/>
          </p:cNvSpPr>
          <p:nvPr/>
        </p:nvSpPr>
        <p:spPr bwMode="auto">
          <a:xfrm>
            <a:off x="397493" y="3069390"/>
            <a:ext cx="5668621" cy="316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272680" y="29587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79" name="모서리가 둥근 직사각형 78"/>
          <p:cNvSpPr/>
          <p:nvPr/>
        </p:nvSpPr>
        <p:spPr bwMode="auto">
          <a:xfrm>
            <a:off x="428870" y="1268413"/>
            <a:ext cx="5040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1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3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84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8" name="실행 단추: 앞으로 또는 다음 8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5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102" name="TextBox 10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4" name="실행 단추: 앞으로 또는 다음 10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5" name="타원 104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106" name="AutoShape 279"/>
          <p:cNvSpPr>
            <a:spLocks noChangeArrowheads="1"/>
          </p:cNvSpPr>
          <p:nvPr/>
        </p:nvSpPr>
        <p:spPr bwMode="auto">
          <a:xfrm>
            <a:off x="5428374" y="1796520"/>
            <a:ext cx="504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107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26682" y="1317118"/>
            <a:ext cx="360000" cy="226591"/>
            <a:chOff x="2709337" y="1307502"/>
            <a:chExt cx="360000" cy="226591"/>
          </a:xfrm>
        </p:grpSpPr>
        <p:sp>
          <p:nvSpPr>
            <p:cNvPr id="109" name="TextBox 10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0" name="실행 단추: 앞으로 또는 다음 10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920440" y="2886774"/>
            <a:ext cx="2880000" cy="360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PDM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I/F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시 전송되는</a:t>
            </a:r>
            <a:r>
              <a:rPr lang="en-US" altLang="ko-KR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Data</a:t>
            </a:r>
            <a:r>
              <a:rPr lang="ko-KR" altLang="en-US" sz="15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활용</a:t>
            </a:r>
            <a:endParaRPr lang="en-US" altLang="ko-KR" sz="15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471888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차수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47" name="그룹 74"/>
          <p:cNvGrpSpPr/>
          <p:nvPr/>
        </p:nvGrpSpPr>
        <p:grpSpPr>
          <a:xfrm>
            <a:off x="5004647" y="1316960"/>
            <a:ext cx="360000" cy="226591"/>
            <a:chOff x="2709337" y="1307502"/>
            <a:chExt cx="360000" cy="226591"/>
          </a:xfrm>
        </p:grpSpPr>
        <p:sp>
          <p:nvSpPr>
            <p:cNvPr id="48" name="TextBox 4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9" name="실행 단추: 앞으로 또는 다음 4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451995" y="2096435"/>
          <a:ext cx="5480379" cy="54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43000T23131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130007-TMB-E01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" name="AutoShape 279"/>
          <p:cNvSpPr>
            <a:spLocks noChangeArrowheads="1"/>
          </p:cNvSpPr>
          <p:nvPr/>
        </p:nvSpPr>
        <p:spPr bwMode="auto">
          <a:xfrm>
            <a:off x="5572374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44545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478374" y="3462804"/>
          <a:ext cx="5454000" cy="2665200"/>
        </p:xfrm>
        <a:graphic>
          <a:graphicData uri="http://schemas.openxmlformats.org/drawingml/2006/table">
            <a:tbl>
              <a:tblPr/>
              <a:tblGrid>
                <a:gridCol w="126000"/>
                <a:gridCol w="126000"/>
                <a:gridCol w="126000"/>
                <a:gridCol w="864000"/>
                <a:gridCol w="2412000"/>
                <a:gridCol w="468000"/>
                <a:gridCol w="468000"/>
                <a:gridCol w="864000"/>
              </a:tblGrid>
              <a:tr h="216000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PAD-FRT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SPONGE-FRT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ASSY-RR BACK, RH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SPONGE-RR BACK, RH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FRAME ASSY-FRT BACK,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WIRE No.1 - FRT BACK FRM ASSY,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89152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No.1-RR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No.2-RR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INSERT WIRE No.3-RR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No.1-RR CUSH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No.2-RR CUSH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</a:t>
                      </a:r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ONLY-RR CUSH, LH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CTR H/REST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단계별 현상원가 산출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BOM Mapping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45" name="Group 82"/>
          <p:cNvGraphicFramePr>
            <a:graphicFrameLocks noGrp="1"/>
          </p:cNvGraphicFramePr>
          <p:nvPr/>
        </p:nvGraphicFramePr>
        <p:xfrm>
          <a:off x="6149460" y="1026115"/>
          <a:ext cx="3528000" cy="3106079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E-BOM,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전 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현 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수동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할 수 있도록 함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조회조건은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차수에 해당되는 현상원가 코드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E-BOM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I/F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와 동일한 방식으로 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차수내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사양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</a:b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상세 선택 후 불러오기로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두개의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입고단위정의가 완료되고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IF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가 완료되지 않는 다면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Error Message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를 표시한다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3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ea typeface="가는각진제목체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불러오기로 해당차수의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과 전 단계의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좌측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해당 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 /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우측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직전 차수의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실제 구현은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두개의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나란히 볼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차 평가의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직전차수는 목표원가 산출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시 사용한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현상원가에 활용된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의미함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견적원가가 선택되었다면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E-BOM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이 아닌 견적용 假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-BOM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을 사용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수정 기능을 클릭하면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, 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창을 이용하여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Mapping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/>
                          <a:ea typeface="가는각진제목체"/>
                        </a:rPr>
                        <a:t>수행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/>
                        <a:ea typeface="가는각진제목체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47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48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저장</a:t>
            </a: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Arial"/>
                <a:ea typeface="가는각진제목체"/>
              </a:rPr>
              <a:t>조회</a:t>
            </a:r>
          </a:p>
        </p:txBody>
      </p:sp>
      <p:sp>
        <p:nvSpPr>
          <p:cNvPr id="50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설계</a:t>
            </a:r>
          </a:p>
        </p:txBody>
      </p:sp>
      <p:sp>
        <p:nvSpPr>
          <p:cNvPr id="59" name="모서리가 둥근 직사각형 58"/>
          <p:cNvSpPr/>
          <p:nvPr/>
        </p:nvSpPr>
        <p:spPr bwMode="auto">
          <a:xfrm>
            <a:off x="428870" y="1268413"/>
            <a:ext cx="5040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2" name="TextBox 33"/>
          <p:cNvSpPr txBox="1">
            <a:spLocks noChangeArrowheads="1"/>
          </p:cNvSpPr>
          <p:nvPr/>
        </p:nvSpPr>
        <p:spPr bwMode="auto">
          <a:xfrm>
            <a:off x="195002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3" name="TextBox 35"/>
          <p:cNvSpPr txBox="1">
            <a:spLocks noChangeArrowheads="1"/>
          </p:cNvSpPr>
          <p:nvPr/>
        </p:nvSpPr>
        <p:spPr bwMode="auto">
          <a:xfrm>
            <a:off x="1295570" y="131711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4" name="TextBox 36"/>
          <p:cNvSpPr txBox="1">
            <a:spLocks noChangeArrowheads="1"/>
          </p:cNvSpPr>
          <p:nvPr/>
        </p:nvSpPr>
        <p:spPr bwMode="auto">
          <a:xfrm>
            <a:off x="466638" y="131711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317118"/>
            <a:ext cx="360000" cy="226591"/>
            <a:chOff x="837169" y="1307470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0276" y="1317118"/>
            <a:ext cx="360000" cy="226591"/>
            <a:chOff x="1701166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317118"/>
            <a:ext cx="360000" cy="226591"/>
            <a:chOff x="2709337" y="1307502"/>
            <a:chExt cx="360000" cy="226591"/>
          </a:xfrm>
        </p:grpSpPr>
        <p:sp>
          <p:nvSpPr>
            <p:cNvPr id="75" name="TextBox 7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6" name="실행 단추: 앞으로 또는 다음 7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7" name="TextBox 33"/>
          <p:cNvSpPr txBox="1">
            <a:spLocks noChangeArrowheads="1"/>
          </p:cNvSpPr>
          <p:nvPr/>
        </p:nvSpPr>
        <p:spPr bwMode="auto">
          <a:xfrm>
            <a:off x="2786370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317118"/>
            <a:ext cx="360000" cy="226591"/>
            <a:chOff x="2709337" y="1307502"/>
            <a:chExt cx="360000" cy="226591"/>
          </a:xfrm>
        </p:grpSpPr>
        <p:sp>
          <p:nvSpPr>
            <p:cNvPr id="79" name="TextBox 7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2" name="타원 81"/>
          <p:cNvSpPr/>
          <p:nvPr/>
        </p:nvSpPr>
        <p:spPr>
          <a:xfrm>
            <a:off x="271288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566725" y="131711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26682" y="1317118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8" name="실행 단추: 앞으로 또는 다음 8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9" name="TextBox 33"/>
          <p:cNvSpPr txBox="1">
            <a:spLocks noChangeArrowheads="1"/>
          </p:cNvSpPr>
          <p:nvPr/>
        </p:nvSpPr>
        <p:spPr bwMode="auto">
          <a:xfrm>
            <a:off x="471888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차수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5004647" y="1316960"/>
            <a:ext cx="360000" cy="226591"/>
            <a:chOff x="2709337" y="1307502"/>
            <a:chExt cx="360000" cy="226591"/>
          </a:xfrm>
        </p:grpSpPr>
        <p:sp>
          <p:nvSpPr>
            <p:cNvPr id="91" name="TextBox 9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3" name="실행 단추: 앞으로 또는 다음 9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52" name="직사각형 124"/>
          <p:cNvSpPr>
            <a:spLocks noChangeArrowheads="1"/>
          </p:cNvSpPr>
          <p:nvPr/>
        </p:nvSpPr>
        <p:spPr bwMode="auto">
          <a:xfrm>
            <a:off x="397493" y="1709774"/>
            <a:ext cx="5624081" cy="1071526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71288" y="163776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5428374" y="1796520"/>
            <a:ext cx="504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/>
              </a:rPr>
              <a:t>불러오기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51995" y="2096435"/>
          <a:ext cx="5480379" cy="54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43000T23131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130007-TMB-E01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0" name="직사각형 124"/>
          <p:cNvSpPr>
            <a:spLocks noChangeArrowheads="1"/>
          </p:cNvSpPr>
          <p:nvPr/>
        </p:nvSpPr>
        <p:spPr bwMode="auto">
          <a:xfrm>
            <a:off x="397493" y="3069390"/>
            <a:ext cx="5668621" cy="3168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271288" y="29587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5572374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3" name="AutoShape 279"/>
          <p:cNvSpPr>
            <a:spLocks noChangeArrowheads="1"/>
          </p:cNvSpPr>
          <p:nvPr/>
        </p:nvSpPr>
        <p:spPr bwMode="auto">
          <a:xfrm>
            <a:off x="5144545" y="3174894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/>
        </p:nvGraphicFramePr>
        <p:xfrm>
          <a:off x="560390" y="3433190"/>
          <a:ext cx="3739565" cy="2105025"/>
        </p:xfrm>
        <a:graphic>
          <a:graphicData uri="http://schemas.openxmlformats.org/drawingml/2006/table">
            <a:tbl>
              <a:tblPr/>
              <a:tblGrid>
                <a:gridCol w="180413"/>
                <a:gridCol w="180413"/>
                <a:gridCol w="180413"/>
                <a:gridCol w="902063"/>
                <a:gridCol w="432000"/>
                <a:gridCol w="430458"/>
                <a:gridCol w="531742"/>
                <a:gridCol w="902063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표 83"/>
          <p:cNvGraphicFramePr>
            <a:graphicFrameLocks noGrp="1"/>
          </p:cNvGraphicFramePr>
          <p:nvPr/>
        </p:nvGraphicFramePr>
        <p:xfrm>
          <a:off x="2144610" y="3916335"/>
          <a:ext cx="3739565" cy="2105025"/>
        </p:xfrm>
        <a:graphic>
          <a:graphicData uri="http://schemas.openxmlformats.org/drawingml/2006/table">
            <a:tbl>
              <a:tblPr/>
              <a:tblGrid>
                <a:gridCol w="180413"/>
                <a:gridCol w="180413"/>
                <a:gridCol w="180413"/>
                <a:gridCol w="902063"/>
                <a:gridCol w="432000"/>
                <a:gridCol w="430458"/>
                <a:gridCol w="531742"/>
                <a:gridCol w="902063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상위품번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.....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….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표 84"/>
          <p:cNvGraphicFramePr>
            <a:graphicFrameLocks noGrp="1"/>
          </p:cNvGraphicFramePr>
          <p:nvPr/>
        </p:nvGraphicFramePr>
        <p:xfrm>
          <a:off x="560390" y="3153690"/>
          <a:ext cx="828000" cy="216000"/>
        </p:xfrm>
        <a:graphic>
          <a:graphicData uri="http://schemas.openxmlformats.org/drawingml/2006/table">
            <a:tbl>
              <a:tblPr/>
              <a:tblGrid>
                <a:gridCol w="82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현단계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BOM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2144610" y="3645060"/>
          <a:ext cx="828000" cy="216000"/>
        </p:xfrm>
        <a:graphic>
          <a:graphicData uri="http://schemas.openxmlformats.org/drawingml/2006/table">
            <a:tbl>
              <a:tblPr/>
              <a:tblGrid>
                <a:gridCol w="828000"/>
              </a:tblGrid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전단계</a:t>
                      </a:r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BOM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– BOM Mapping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 차이분석을 위하여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변경내역을 입력함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간 차이항목을 수기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하는  방식을 사용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금액은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기준임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 항목은 견적원가에서 사용하는 항목들과 동일하며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현재 기술된 사항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항목과 차이 존재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재료비는 </a:t>
            </a:r>
            <a:r>
              <a:rPr kumimoji="0" lang="en-US" altLang="ko-KR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C/O</a:t>
            </a:r>
            <a:r>
              <a:rPr kumimoji="0" lang="ko-KR" altLang="en-US" sz="1050" b="1" dirty="0" smtClean="0">
                <a:solidFill>
                  <a:srgbClr val="0000CC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와 신규분을 구분표시 함</a:t>
            </a:r>
            <a:endParaRPr kumimoji="0" lang="ko-KR" altLang="en-US" sz="1050" b="1" dirty="0">
              <a:solidFill>
                <a:srgbClr val="0000CC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을 기준으로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수행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현단계의 입고단위 품목 선택 후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이에 대응되는 전 단계 항목 정의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10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발생가능한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Case: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1:1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②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1:N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N:1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④  삭제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 추가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입고 단위를 시작점으로 지정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수정을 클릭하면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Pop-Up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창을 통하여 우선 현단계 입고 품을 선택 후 전 단계 품목을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시킴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수정 버튼을 누르면 나오는 화면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4" name="직사각형 124"/>
          <p:cNvSpPr>
            <a:spLocks noChangeArrowheads="1"/>
          </p:cNvSpPr>
          <p:nvPr/>
        </p:nvSpPr>
        <p:spPr bwMode="auto">
          <a:xfrm>
            <a:off x="632400" y="2997380"/>
            <a:ext cx="6964851" cy="3168000"/>
          </a:xfrm>
          <a:prstGeom prst="rect">
            <a:avLst/>
          </a:prstGeom>
          <a:solidFill>
            <a:srgbClr val="EAEAEA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" name="AutoShape 279"/>
          <p:cNvSpPr>
            <a:spLocks noChangeArrowheads="1"/>
          </p:cNvSpPr>
          <p:nvPr/>
        </p:nvSpPr>
        <p:spPr bwMode="auto">
          <a:xfrm>
            <a:off x="6969330" y="31414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완료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" name="AutoShape 279"/>
          <p:cNvSpPr>
            <a:spLocks noChangeArrowheads="1"/>
          </p:cNvSpPr>
          <p:nvPr/>
        </p:nvSpPr>
        <p:spPr bwMode="auto">
          <a:xfrm>
            <a:off x="6541501" y="314140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711138" y="3850670"/>
          <a:ext cx="5729529" cy="2174880"/>
        </p:xfrm>
        <a:graphic>
          <a:graphicData uri="http://schemas.openxmlformats.org/drawingml/2006/table">
            <a:tbl>
              <a:tblPr/>
              <a:tblGrid>
                <a:gridCol w="116686"/>
                <a:gridCol w="116686"/>
                <a:gridCol w="116686"/>
                <a:gridCol w="684000"/>
                <a:gridCol w="1476000"/>
                <a:gridCol w="396000"/>
                <a:gridCol w="411471"/>
                <a:gridCol w="432000"/>
                <a:gridCol w="396000"/>
                <a:gridCol w="396000"/>
                <a:gridCol w="396000"/>
                <a:gridCol w="396000"/>
                <a:gridCol w="396000"/>
              </a:tblGrid>
              <a:tr h="20945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품목 지정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품번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품번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88150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87130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SLAB SPONGE-FRT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 ASSY-RR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89370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SLAB SPONGE-RR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89360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FRAME ASSY-FRT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89140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WIRE No.1 - 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89153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Int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WIRE No.2-RR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89154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Int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WIRE No.3-RR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VELCRO No.1-RR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VELCRO No.2-RR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89450 3W001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PAD ONLY-RR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88700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CTR H/REST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684241" y="3105030"/>
          <a:ext cx="5480379" cy="360000"/>
        </p:xfrm>
        <a:graphic>
          <a:graphicData uri="http://schemas.openxmlformats.org/drawingml/2006/table">
            <a:tbl>
              <a:tblPr/>
              <a:tblGrid>
                <a:gridCol w="324000"/>
                <a:gridCol w="774250"/>
                <a:gridCol w="723479"/>
                <a:gridCol w="380779"/>
                <a:gridCol w="380779"/>
                <a:gridCol w="380779"/>
                <a:gridCol w="380779"/>
                <a:gridCol w="482320"/>
                <a:gridCol w="752038"/>
                <a:gridCol w="901176"/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구성품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chemeClr val="bg1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코드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▣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고급형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고급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43000T23081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130007-TMA-E01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직사각형 124"/>
          <p:cNvSpPr>
            <a:spLocks noChangeArrowheads="1"/>
          </p:cNvSpPr>
          <p:nvPr/>
        </p:nvSpPr>
        <p:spPr bwMode="auto">
          <a:xfrm>
            <a:off x="4953000" y="3573463"/>
            <a:ext cx="4143242" cy="2591917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5161092" y="3949230"/>
          <a:ext cx="3837600" cy="2114550"/>
        </p:xfrm>
        <a:graphic>
          <a:graphicData uri="http://schemas.openxmlformats.org/drawingml/2006/table">
            <a:tbl>
              <a:tblPr/>
              <a:tblGrid>
                <a:gridCol w="115200"/>
                <a:gridCol w="115200"/>
                <a:gridCol w="115200"/>
                <a:gridCol w="720000"/>
                <a:gridCol w="1476000"/>
                <a:gridCol w="432000"/>
                <a:gridCol w="432000"/>
                <a:gridCol w="432000"/>
              </a:tblGrid>
              <a:tr h="161925"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Level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소요량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입고단위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9696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88150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87130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SPONGE-FRT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ASSY-RR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89370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SLAB SPONGE-RR BACK, RH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89360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FRAME ASSY-FRT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89140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WIRE No.3- FRT BACK,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89153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Int WIRE No.2-RR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89154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Int WIRE No.5-RR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No.1-RR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89960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VELCRO No.2-RR CU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89450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PAD ONLY-RR CU, LH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88700 3W000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CTR H/REST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8625560" y="364503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닫기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8197731" y="364503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cxnSp>
        <p:nvCxnSpPr>
          <p:cNvPr id="18" name="구부러진 연결선 17"/>
          <p:cNvCxnSpPr>
            <a:endCxn id="14" idx="1"/>
          </p:cNvCxnSpPr>
          <p:nvPr/>
        </p:nvCxnSpPr>
        <p:spPr bwMode="auto">
          <a:xfrm>
            <a:off x="4304910" y="4585350"/>
            <a:ext cx="648090" cy="284072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9" name="모서리가 둥근 직사각형 18"/>
          <p:cNvSpPr/>
          <p:nvPr/>
        </p:nvSpPr>
        <p:spPr bwMode="auto">
          <a:xfrm>
            <a:off x="4012680" y="3850670"/>
            <a:ext cx="432000" cy="2174880"/>
          </a:xfrm>
          <a:prstGeom prst="round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690517" y="354099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032327" y="363840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Arial"/>
                <a:ea typeface="가는각진제목체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Arial"/>
              <a:ea typeface="가는각진제목체"/>
            </a:endParaRPr>
          </a:p>
        </p:txBody>
      </p:sp>
      <p:sp>
        <p:nvSpPr>
          <p:cNvPr id="25" name="설명선 2(강조선) 24"/>
          <p:cNvSpPr/>
          <p:nvPr/>
        </p:nvSpPr>
        <p:spPr bwMode="auto">
          <a:xfrm>
            <a:off x="6211592" y="2458770"/>
            <a:ext cx="2884650" cy="457650"/>
          </a:xfrm>
          <a:prstGeom prst="accentCallout2">
            <a:avLst>
              <a:gd name="adj1" fmla="val 70289"/>
              <a:gd name="adj2" fmla="val -1730"/>
              <a:gd name="adj3" fmla="val 71476"/>
              <a:gd name="adj4" fmla="val -10503"/>
              <a:gd name="adj5" fmla="val 303978"/>
              <a:gd name="adj6" fmla="val -66479"/>
            </a:avLst>
          </a:prstGeom>
          <a:noFill/>
          <a:ln w="19050" algn="ctr">
            <a:solidFill>
              <a:srgbClr val="1C1C1C"/>
            </a:solidFill>
            <a:prstDash val="sysDash"/>
            <a:round/>
            <a:headEnd/>
            <a:tailEnd/>
          </a:ln>
        </p:spPr>
        <p:txBody>
          <a:bodyPr wrap="none" lIns="72000" rtlCol="0" anchor="t" anchorCtr="0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전 단계 품목 지정 박스를 클릭하면 ②의</a:t>
            </a:r>
            <a:endParaRPr lang="en-US" altLang="ko-KR" sz="1100" b="1" dirty="0" smtClean="0">
              <a:solidFill>
                <a:srgbClr val="1C1C1C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eaLnBrk="0" latinLnBrk="0" hangingPunct="0"/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Table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이 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Pop-Up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됨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전 단계 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BOM </a:t>
            </a:r>
            <a:r>
              <a:rPr lang="ko-KR" altLang="en-US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항목</a:t>
            </a:r>
            <a:r>
              <a:rPr lang="en-US" altLang="ko-KR" sz="1100" b="1" dirty="0" smtClean="0">
                <a:solidFill>
                  <a:srgbClr val="1C1C1C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100" b="1" dirty="0" smtClean="0">
              <a:solidFill>
                <a:srgbClr val="1C1C1C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>
          <a:xfrm>
            <a:off x="227015" y="142875"/>
            <a:ext cx="4437946" cy="647700"/>
          </a:xfrm>
        </p:spPr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– BOM Mapping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</a:t>
            </a: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 –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을 기준으로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수행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현단계의 입고단위 품목 선택 후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이에 대응되는 전 단계 항목 정의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endParaRPr kumimoji="0" lang="en-US" altLang="ko-KR" sz="120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10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발생가능한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Case: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1:1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②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1:N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N:1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변경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④  삭제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⑤  추가</a:t>
            </a:r>
            <a:endParaRPr kumimoji="0"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입고 단위를 시작점으로 지정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‘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전 단계 품목 지정</a:t>
            </a:r>
            <a:r>
              <a:rPr lang="en-US" altLang="ko-KR" sz="1050" b="1" dirty="0" smtClean="0">
                <a:solidFill>
                  <a:srgbClr val="000000"/>
                </a:solidFill>
                <a:ea typeface="가는각진제목체" pitchFamily="18" charset="-127"/>
              </a:rPr>
              <a:t>’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이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 가능한 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Row(And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조건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 단계에서 입고 단위로 정의되어 있으며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품번이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전 단계에서 입고 단위로 정의되지 않음 항목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3) 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전 단계 </a:t>
            </a:r>
            <a:r>
              <a:rPr lang="en-US" altLang="ko-KR" sz="1050" b="1" dirty="0" smtClean="0">
                <a:solidFill>
                  <a:srgbClr val="000000"/>
                </a:solidFill>
                <a:ea typeface="가는각진제목체" pitchFamily="18" charset="-127"/>
              </a:rPr>
              <a:t>BOM</a:t>
            </a:r>
            <a:r>
              <a:rPr lang="ko-KR" altLang="en-US" sz="1050" b="1" dirty="0" smtClean="0">
                <a:solidFill>
                  <a:srgbClr val="000000"/>
                </a:solidFill>
                <a:ea typeface="가는각진제목체" pitchFamily="18" charset="-127"/>
              </a:rPr>
              <a:t>에서 선택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전체 목록을 보여주고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입고단위로 지정된 항목을 선택 할 수 있도록 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입고단위가 아닌 항목은 선택 불가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복수로 지정이 가능하며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이미 기존에 다른 품목에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되는 항목으로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지정되었어도 추가 지정 가능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(N:N)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 후 저장을 누르면 선택된 항목이  현재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에서 클릭된 품번과 연계되어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항목으로 저장됨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추후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완료버튼으로 최종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확정전까지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수정 가능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확정을 누르면 추가 수정 불가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자재의 추가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삭제가 가능하므로 현단계와 전 단계에서 입고 단위로 정의된 항목 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확정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버튼능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누르기전에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모든 변경항목에 대하여 변동내역을 지정하셨습니까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?’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라는 재확인 요청 메시지를 보여줌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4)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Mapping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결과 화면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현 단계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BOM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화면 기준으로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전 단계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1~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 단계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품번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선택된 품번을 모두 표시함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(3~4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개를 초과하지 않을 것으로 예상되나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여유있게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10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개까지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- N:N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관계가 성립하므로  모든 항목을 중복적으로 표시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7" name="AutoShape 279"/>
          <p:cNvSpPr>
            <a:spLocks noChangeArrowheads="1"/>
          </p:cNvSpPr>
          <p:nvPr/>
        </p:nvSpPr>
        <p:spPr bwMode="auto">
          <a:xfrm>
            <a:off x="7401390" y="23488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8" name="AutoShape 279"/>
          <p:cNvSpPr>
            <a:spLocks noChangeArrowheads="1"/>
          </p:cNvSpPr>
          <p:nvPr/>
        </p:nvSpPr>
        <p:spPr bwMode="auto">
          <a:xfrm>
            <a:off x="7833450" y="23488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닫기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3199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943380"/>
          <a:ext cx="3528000" cy="443821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3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단계별 현상원가 차이 분석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36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 산출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단계별 차이내역을 분석하는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차수를 포함함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프로젝트 관리의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개발일정 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탭상 중간평가 시기중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 콤보박스에 중간관리 일정 차수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최초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 없는 경우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현상원가가 재산출 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등 차이분석이 필요한 경우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삭제를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구분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자재별 재료비 내역 포함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비교대상이 되는 전단계 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 평가시는 견적원가일 수 있으며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단계마다 바뀜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비교 대상이 되는 전단계 원가를 의미하며 그에 맞게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Header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당 단계원가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비교기준이 되는 현단계 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단계마다 바뀜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차수에 맞게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Header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시작도 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Proto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완료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Pilot2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완료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Arial" pitchFamily="34" charset="0"/>
                        </a:rPr>
                        <a:t>손익차이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매출총이익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영업이익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 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 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매출액과 동일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29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-</a:t>
            </a:r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39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1" name="실행 단추: 앞으로 또는 다음 4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438107" y="2555355"/>
          <a:ext cx="5464136" cy="3015840"/>
        </p:xfrm>
        <a:graphic>
          <a:graphicData uri="http://schemas.openxmlformats.org/drawingml/2006/table">
            <a:tbl>
              <a:tblPr/>
              <a:tblGrid>
                <a:gridCol w="108123"/>
                <a:gridCol w="216000"/>
                <a:gridCol w="216000"/>
                <a:gridCol w="216000"/>
                <a:gridCol w="424013"/>
                <a:gridCol w="468000"/>
                <a:gridCol w="468000"/>
                <a:gridCol w="720000"/>
                <a:gridCol w="396000"/>
                <a:gridCol w="720000"/>
                <a:gridCol w="396000"/>
                <a:gridCol w="720000"/>
                <a:gridCol w="396000"/>
              </a:tblGrid>
              <a:tr h="107950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 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 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차이내역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950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매출원가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423,683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410,230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9,580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326,683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315,007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7,803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22,927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3,920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3,962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3,883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12,876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12,618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2,638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2,506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292,080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7,254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42,240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40,128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2,112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7,094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6,952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부대비용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수율 차이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부대비용률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관세율차이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직접인원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M/H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임률차이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투자금액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내용연수차이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금형비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11,640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Utility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제조경비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매출총이익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196,317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214,770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18,453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판매비와관리비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적용판가차이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-250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판관비율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183,520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-18,203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14,748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6,222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타원 42"/>
          <p:cNvSpPr/>
          <p:nvPr/>
        </p:nvSpPr>
        <p:spPr>
          <a:xfrm>
            <a:off x="272350" y="16094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3199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64" name="Group 82"/>
          <p:cNvGraphicFramePr>
            <a:graphicFrameLocks noGrp="1"/>
          </p:cNvGraphicFramePr>
          <p:nvPr/>
        </p:nvGraphicFramePr>
        <p:xfrm>
          <a:off x="6149460" y="970091"/>
          <a:ext cx="3528000" cy="123781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403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단계별 현상원가 차이 분석의 </a:t>
                      </a:r>
                      <a:r>
                        <a:rPr lang="ko-KR" altLang="en-US" sz="1000" b="1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누적 금액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 표시 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46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조회조건 및 각 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실행단추는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 차이분석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과 동일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단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전단계원가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="1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두번째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열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 항상 최초 견적원가로 고정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차이내역은 최초차이분석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부터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당단계까지의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금액을 누적으로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29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 차이분석</a:t>
            </a: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55" name="TextBox 5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8" name="실행 단추: 앞으로 또는 다음 5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한쪽 모서리가 잘린 사각형 60"/>
          <p:cNvSpPr/>
          <p:nvPr/>
        </p:nvSpPr>
        <p:spPr bwMode="auto">
          <a:xfrm>
            <a:off x="1664290" y="1740516"/>
            <a:ext cx="1584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현상원가 차이분석</a:t>
            </a:r>
            <a:r>
              <a:rPr lang="en-US" altLang="ko-KR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-</a:t>
            </a:r>
            <a:r>
              <a:rPr lang="ko-KR" altLang="en-US" sz="900" dirty="0" smtClean="0">
                <a:solidFill>
                  <a:srgbClr val="000000"/>
                </a:solidFill>
                <a:ea typeface="가는각진제목체" pitchFamily="18" charset="-127"/>
                <a:cs typeface="Arial" pitchFamily="34" charset="0"/>
              </a:rPr>
              <a:t>누적</a:t>
            </a:r>
          </a:p>
        </p:txBody>
      </p:sp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423872" y="2048175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40" name="TextBox 3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1" name="실행 단추: 앞으로 또는 다음 4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438107" y="2555355"/>
          <a:ext cx="5464136" cy="3015840"/>
        </p:xfrm>
        <a:graphic>
          <a:graphicData uri="http://schemas.openxmlformats.org/drawingml/2006/table">
            <a:tbl>
              <a:tblPr/>
              <a:tblGrid>
                <a:gridCol w="108123"/>
                <a:gridCol w="216000"/>
                <a:gridCol w="216000"/>
                <a:gridCol w="216000"/>
                <a:gridCol w="424013"/>
                <a:gridCol w="468000"/>
                <a:gridCol w="468000"/>
                <a:gridCol w="720000"/>
                <a:gridCol w="396000"/>
                <a:gridCol w="720000"/>
                <a:gridCol w="396000"/>
                <a:gridCol w="720000"/>
                <a:gridCol w="396000"/>
              </a:tblGrid>
              <a:tr h="107950">
                <a:tc rowSpan="2"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차이금액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차이내역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7950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매출원가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423,683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410,230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9,580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326,683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315,007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7,803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C/O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23,476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22,927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549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2,476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3,920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3,962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3,883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12,876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12,618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2,638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2,506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NEW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299,334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292,080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7,254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12,167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42,240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40,128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2,112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1,267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7,094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6,952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-245,000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구매단가차이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부대비용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3,874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3,780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94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부대비용률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관세율차이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직접인원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M/H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임률차이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29,700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투자금액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물량차이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내용연수차이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금형비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11,640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1,940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60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 제조경비</a:t>
                      </a:r>
                    </a:p>
                  </a:txBody>
                  <a:tcPr marL="18000" marR="180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2,943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57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C/T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매출총이익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196,317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214,770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18,453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판매비와관리비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-250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적용판가차이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-250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판관비율 차이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000"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165,317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183,520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18,203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14,748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6,222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타원 42"/>
          <p:cNvSpPr/>
          <p:nvPr/>
        </p:nvSpPr>
        <p:spPr>
          <a:xfrm>
            <a:off x="1554637" y="16094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84304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767467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차이원인 상세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현상원가차이 요인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타원 70"/>
          <p:cNvSpPr/>
          <p:nvPr/>
        </p:nvSpPr>
        <p:spPr>
          <a:xfrm>
            <a:off x="338610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43506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49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63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76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84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89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5" name="타원 64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46567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차이금액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당초 절감 목표금액 및 절감상세 계획을 보여주고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실제 절감활동 결과를 등록 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검색조건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특정 사양과 차수까지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차이요인 등록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최초 등록한 부문별 절감계획의 실행 결과를 등록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실행 단추 기능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해당코드에 입력된 정보 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수정</a:t>
                      </a: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="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절감결과를 등록 할 수 있도록 활성화</a:t>
                      </a:r>
                      <a:endParaRPr lang="en-US" altLang="ko-KR" sz="1000" b="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절감결과 등록 후 차이가 계산 될 수 있도록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정보 확인 후 최종 저장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확정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후 수정 불가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산출 원가항목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All(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재료비는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C/O,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신규 구분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전 단계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 산출원가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차수에 따라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Header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가 변경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 산출 현상원가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차수에 따라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Header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가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당 단계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영업이익은 반대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전 단계에서 수립한 절감 목표 금액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합계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2-2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부문별 절감 목표 및 달성내역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각 부문과 목표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기존에 등록된 내역을 불러옴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                    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절감계획 상세 내역은 제외하고 금액만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 -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클릭하여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Pop-Up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으로 첨부함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최종 확정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가는각진제목체" pitchFamily="18" charset="-127"/>
                          <a:cs typeface="+mn-cs"/>
                        </a:rPr>
                        <a:t> -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원가관리 팀에서 부문별 달성결과 등록 내역을 확인하여 이상이 없는 경우 확정하여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Freezing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00327" y="2502395"/>
          <a:ext cx="5502557" cy="2659843"/>
        </p:xfrm>
        <a:graphic>
          <a:graphicData uri="http://schemas.openxmlformats.org/drawingml/2006/table">
            <a:tbl>
              <a:tblPr/>
              <a:tblGrid>
                <a:gridCol w="47000"/>
                <a:gridCol w="127557"/>
                <a:gridCol w="432000"/>
                <a:gridCol w="468000"/>
                <a:gridCol w="468000"/>
                <a:gridCol w="468000"/>
                <a:gridCol w="468000"/>
                <a:gridCol w="360000"/>
                <a:gridCol w="360000"/>
                <a:gridCol w="432000"/>
                <a:gridCol w="360000"/>
                <a:gridCol w="360000"/>
                <a:gridCol w="360000"/>
                <a:gridCol w="432000"/>
                <a:gridCol w="360000"/>
              </a:tblGrid>
              <a:tr h="155352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 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및 달성액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44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447,700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25,110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426,200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23,134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28,950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 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184304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AutoShape 279"/>
          <p:cNvSpPr>
            <a:spLocks noChangeArrowheads="1"/>
          </p:cNvSpPr>
          <p:nvPr/>
        </p:nvSpPr>
        <p:spPr bwMode="auto">
          <a:xfrm>
            <a:off x="4767467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31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차이원인 상세 등록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현상원가차이 요인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등록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435063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5674375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9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확정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93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908475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140090" y="1313028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8" name="TextBox 33"/>
          <p:cNvSpPr txBox="1">
            <a:spLocks noChangeArrowheads="1"/>
          </p:cNvSpPr>
          <p:nvPr/>
        </p:nvSpPr>
        <p:spPr bwMode="auto">
          <a:xfrm>
            <a:off x="4658750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890365" y="1316960"/>
            <a:ext cx="360000" cy="226591"/>
            <a:chOff x="2709337" y="1307502"/>
            <a:chExt cx="360000" cy="226591"/>
          </a:xfrm>
        </p:grpSpPr>
        <p:sp>
          <p:nvSpPr>
            <p:cNvPr id="90" name="TextBox 8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13464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 차이금액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당초 절감 목표금액 및 절감상세 계획을 보여주고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실제 절감활동 결과를 등록 하도록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달성내역을 클릭하면 나타나는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  <a:cs typeface="+mn-cs"/>
                        </a:rPr>
                        <a:t>Pop-Up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창을 이용하여 결과를 등록함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최초 목표 등록과 유사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회색부문만 입력하며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나머지는 불러오기 또는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자동계산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추가버튼을 이용하여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OEM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요청사항 등의 통제 불능항목 입력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00327" y="2502395"/>
          <a:ext cx="5502557" cy="2659843"/>
        </p:xfrm>
        <a:graphic>
          <a:graphicData uri="http://schemas.openxmlformats.org/drawingml/2006/table">
            <a:tbl>
              <a:tblPr/>
              <a:tblGrid>
                <a:gridCol w="47000"/>
                <a:gridCol w="127557"/>
                <a:gridCol w="432000"/>
                <a:gridCol w="468000"/>
                <a:gridCol w="468000"/>
                <a:gridCol w="468000"/>
                <a:gridCol w="468000"/>
                <a:gridCol w="360000"/>
                <a:gridCol w="360000"/>
                <a:gridCol w="432000"/>
                <a:gridCol w="360000"/>
                <a:gridCol w="360000"/>
                <a:gridCol w="360000"/>
                <a:gridCol w="432000"/>
                <a:gridCol w="360000"/>
              </a:tblGrid>
              <a:tr h="155352"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당단계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 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및 달성액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4491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539,450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447,700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25,110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426,200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23,134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12,167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11,567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28,950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 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0800" marR="1080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2,850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85,550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35,360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31,250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000"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 </a:t>
                      </a:r>
                    </a:p>
                  </a:txBody>
                  <a:tcPr marL="10800" marR="108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54,300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16,200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108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4" name="직사각형 53"/>
          <p:cNvSpPr/>
          <p:nvPr/>
        </p:nvSpPr>
        <p:spPr bwMode="auto">
          <a:xfrm flipH="1" flipV="1">
            <a:off x="3995189" y="5630571"/>
            <a:ext cx="663561" cy="615200"/>
          </a:xfrm>
          <a:prstGeom prst="rect">
            <a:avLst/>
          </a:prstGeom>
          <a:noFill/>
          <a:ln w="2857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aphicFrame>
        <p:nvGraphicFramePr>
          <p:cNvPr id="68" name="표 67"/>
          <p:cNvGraphicFramePr>
            <a:graphicFrameLocks noGrp="1"/>
          </p:cNvGraphicFramePr>
          <p:nvPr/>
        </p:nvGraphicFramePr>
        <p:xfrm>
          <a:off x="416370" y="2473881"/>
          <a:ext cx="4862700" cy="3403459"/>
        </p:xfrm>
        <a:graphic>
          <a:graphicData uri="http://schemas.openxmlformats.org/drawingml/2006/table">
            <a:tbl>
              <a:tblPr/>
              <a:tblGrid>
                <a:gridCol w="914400"/>
                <a:gridCol w="97400"/>
                <a:gridCol w="720000"/>
                <a:gridCol w="756000"/>
                <a:gridCol w="635000"/>
                <a:gridCol w="571500"/>
                <a:gridCol w="685800"/>
                <a:gridCol w="482600"/>
              </a:tblGrid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85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#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Level1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Level2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Level3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국산화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144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글로벌 소싱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 효율화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공급업체 관리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업체변경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576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 불능차이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외부요인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시장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자재별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절감 계획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Part No.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전단계 원가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달성내역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통제불능요인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3,480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63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B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3,962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532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3,430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283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12,876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1,402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11,474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1,087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121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194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D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2,638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2,616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40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D365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21,000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1,756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220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365"/>
                    </a:solidFill>
                  </a:tcPr>
                </a:tc>
              </a:tr>
            </a:tbl>
          </a:graphicData>
        </a:graphic>
      </p:graphicFrame>
      <p:sp>
        <p:nvSpPr>
          <p:cNvPr id="69" name="AutoShape 279"/>
          <p:cNvSpPr>
            <a:spLocks noChangeArrowheads="1"/>
          </p:cNvSpPr>
          <p:nvPr/>
        </p:nvSpPr>
        <p:spPr bwMode="auto">
          <a:xfrm>
            <a:off x="4881040" y="299707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437089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2" name="AutoShape 279"/>
          <p:cNvSpPr>
            <a:spLocks noChangeArrowheads="1"/>
          </p:cNvSpPr>
          <p:nvPr/>
        </p:nvSpPr>
        <p:spPr bwMode="auto">
          <a:xfrm>
            <a:off x="3993137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pic>
        <p:nvPicPr>
          <p:cNvPr id="7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4173" y="2939444"/>
            <a:ext cx="1428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3549185" y="299694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338610" y="232952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9" name="폭발 2 58"/>
          <p:cNvSpPr>
            <a:spLocks noChangeAspect="1"/>
          </p:cNvSpPr>
          <p:nvPr/>
        </p:nvSpPr>
        <p:spPr bwMode="auto">
          <a:xfrm>
            <a:off x="2720690" y="2384940"/>
            <a:ext cx="1114268" cy="648000"/>
          </a:xfrm>
          <a:prstGeom prst="irregularSeal2">
            <a:avLst/>
          </a:prstGeom>
          <a:solidFill>
            <a:schemeClr val="tx2">
              <a:lumMod val="75000"/>
            </a:schemeClr>
          </a:solidFill>
          <a:ln w="2857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Click</a:t>
            </a:r>
            <a:r>
              <a:rPr lang="ko-KR" altLang="en-US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&amp;</a:t>
            </a:r>
          </a:p>
          <a:p>
            <a:pPr algn="ctr" eaLnBrk="0" latinLnBrk="0" hangingPunct="0">
              <a:lnSpc>
                <a:spcPct val="90000"/>
              </a:lnSpc>
            </a:pPr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맑은 고딕" pitchFamily="50" charset="-127"/>
                <a:cs typeface="Arial" pitchFamily="34" charset="0"/>
              </a:rPr>
              <a:t>Pop-Up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2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4" grpId="1"/>
      <p:bldP spid="69" grpId="0" animBg="1"/>
      <p:bldP spid="69" grpId="1" animBg="1"/>
      <p:bldP spid="70" grpId="0" animBg="1"/>
      <p:bldP spid="70" grpId="1" animBg="1"/>
      <p:bldP spid="72" grpId="0" animBg="1"/>
      <p:bldP spid="72" grpId="1" animBg="1"/>
      <p:bldP spid="76" grpId="0" animBg="1"/>
      <p:bldP spid="76" grpId="1" animBg="1"/>
      <p:bldP spid="71" grpId="0" animBg="1"/>
      <p:bldP spid="71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34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중간 달성도 평가</a:t>
            </a: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단계별 중간 달성도 평가</a:t>
            </a: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601140" y="20608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345713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062655" y="212225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294270" y="2122259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40452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단계별 현상원가 차이분석 완료 후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중간 달성도 평가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완료 후 단계별 달성도 평가 수행결과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별로 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사양정보는 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안에서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(Default: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대표사양 중 물량이 가장 많은 것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 달성도 평가와 각 단계별 평가 결과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합계내역과 원가항목별 내역을 모두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 내 상단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하단 구분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원가절감 계획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등록시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입력된 각 부문과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원가항목을 대상으로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중간 평가 단계의 결과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Sum(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계산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중간평가 시기로 정의된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출도부터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 </a:t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시점의 평가결과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각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단계名은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프로젝트 기본정보의 중간평가 시기 참조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절감계획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수립시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각 부문에 할당된 금액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상세 내역결과 산출된 실질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차이금액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±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통제불능차이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상세요인 결과 참조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÷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 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소수점 둘째 자리까지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. Min:0</a:t>
                      </a:r>
                      <a:r>
                        <a:rPr lang="en-US" altLang="ko-KR" sz="1000" baseline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%, Max:100%)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통제불능차이의 효과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좌측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text: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상세요인 등록 결과 중 통제 불능차이의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       Max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값 항목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 차이 합계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÷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소수점 둘째 자리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Text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고정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" name="타원 52"/>
          <p:cNvSpPr/>
          <p:nvPr/>
        </p:nvSpPr>
        <p:spPr>
          <a:xfrm>
            <a:off x="338610" y="156999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64" name="표 63"/>
          <p:cNvGraphicFramePr>
            <a:graphicFrameLocks noGrp="1"/>
          </p:cNvGraphicFramePr>
          <p:nvPr/>
        </p:nvGraphicFramePr>
        <p:xfrm>
          <a:off x="391985" y="2536305"/>
          <a:ext cx="5330755" cy="1224825"/>
        </p:xfrm>
        <a:graphic>
          <a:graphicData uri="http://schemas.openxmlformats.org/drawingml/2006/table">
            <a:tbl>
              <a:tblPr/>
              <a:tblGrid>
                <a:gridCol w="360000"/>
                <a:gridCol w="432000"/>
                <a:gridCol w="313200"/>
                <a:gridCol w="454443"/>
                <a:gridCol w="504000"/>
                <a:gridCol w="457534"/>
                <a:gridCol w="216000"/>
                <a:gridCol w="432000"/>
                <a:gridCol w="313200"/>
                <a:gridCol w="457534"/>
                <a:gridCol w="504000"/>
                <a:gridCol w="457534"/>
                <a:gridCol w="216000"/>
                <a:gridCol w="213310"/>
              </a:tblGrid>
              <a:tr h="161925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156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67.83%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144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483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71.43%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14.30%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292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93.33%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138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86.96%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356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83.67%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81.08%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175.7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84.88%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180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148.5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87.14%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5" name="표 64"/>
          <p:cNvGraphicFramePr>
            <a:graphicFrameLocks noGrp="1"/>
          </p:cNvGraphicFramePr>
          <p:nvPr/>
        </p:nvGraphicFramePr>
        <p:xfrm>
          <a:off x="380057" y="3861060"/>
          <a:ext cx="5533458" cy="2174880"/>
        </p:xfrm>
        <a:graphic>
          <a:graphicData uri="http://schemas.openxmlformats.org/drawingml/2006/table">
            <a:tbl>
              <a:tblPr/>
              <a:tblGrid>
                <a:gridCol w="360000"/>
                <a:gridCol w="576000"/>
                <a:gridCol w="381822"/>
                <a:gridCol w="312400"/>
                <a:gridCol w="396000"/>
                <a:gridCol w="504000"/>
                <a:gridCol w="396000"/>
                <a:gridCol w="216000"/>
                <a:gridCol w="381822"/>
                <a:gridCol w="312400"/>
                <a:gridCol w="396000"/>
                <a:gridCol w="504000"/>
                <a:gridCol w="396000"/>
                <a:gridCol w="216000"/>
                <a:gridCol w="185014"/>
              </a:tblGrid>
              <a:tr h="1015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누적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시작도 출도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91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목표금액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0800" marR="108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67.83%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89.13%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14.30%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93.33%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환율효과 등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제외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222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64.35%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구매관리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57.5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88.70%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85.71%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85.71%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신규재료비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425.5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83.67%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81.08%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rowSpan="5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생산기술</a:t>
                      </a: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88.20%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87.14%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57.5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86.96%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84.00%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34.5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66.67%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91.30%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10.7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93.04%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9.5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95.00%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…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 </a:t>
            </a:r>
            <a:r>
              <a:rPr lang="ko-KR" altLang="en-US" sz="1000" dirty="0" err="1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재배부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부문별 목표 </a:t>
            </a:r>
            <a:r>
              <a:rPr lang="ko-KR" altLang="en-US" sz="900" dirty="0" err="1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재배부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2484000" cy="323925"/>
        </p:xfrm>
        <a:graphic>
          <a:graphicData uri="http://schemas.openxmlformats.org/drawingml/2006/table">
            <a:tbl>
              <a:tblPr/>
              <a:tblGrid>
                <a:gridCol w="828000"/>
                <a:gridCol w="612000"/>
                <a:gridCol w="1044000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417658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3062655" y="212225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사양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294270" y="2122259"/>
            <a:ext cx="360000" cy="226591"/>
            <a:chOff x="2709337" y="1307502"/>
            <a:chExt cx="360000" cy="226591"/>
          </a:xfrm>
        </p:grpSpPr>
        <p:sp>
          <p:nvSpPr>
            <p:cNvPr id="86" name="TextBox 8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7" name="실행 단추: 앞으로 또는 다음 8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528000" cy="53172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현상원가 차이분석과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중간 달성도 평가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완료 후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목표원가 </a:t>
                      </a:r>
                      <a:r>
                        <a:rPr lang="ko-KR" altLang="en-US" sz="1000" kern="120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수행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사유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판가변경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수익률 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 불가능한 외부 효과로 인한 전체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&amp;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조정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차이분석 완료 후 단계별 달성도 평가 수행결과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별로 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차수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사양정보는 상세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안에서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(Default: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대표사양 중 물량이 가장 많은 것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달성도 평가까지 완료 후 버튼을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이용하여 기능을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26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원가항목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목표수립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차이분석과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항목별 목표 대상 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현상원가 산출액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현 단계 현상원가 산출 결과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화면 내 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+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타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소환 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validating)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단순차이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차이분석의 분석대상 금액과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상세원인 분석 결과 절감인정금액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통제불능 제외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상세원인 분석 결과 통제불능으로 인식된 금액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재배부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타부문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와 당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Data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를 조합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미달성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‘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-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통제불능 조정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∑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원가변동의 통제불가 금액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       ×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최초 절감 목표 비율 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판가변경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통제불가능한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판가 변경의 효과를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각 부문에 배부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절감 목표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전단계에서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입력된 원가항목별 대상 부문과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목표재배부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개 항목의 합계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재료비는 구매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구매관리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설계 구분 필요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           </a:t>
                      </a:r>
                      <a:r>
                        <a:rPr lang="ko-KR" altLang="en-US" sz="1000" b="1" kern="12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전단계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목표와 차이분석 상세 내역 활용 연산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절감계획 수정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부문별 금액을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Click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하여 변경된 원가 절감 계획을 등록하도록 할 수 있음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or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최초 등록화면 이용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※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목표재배부와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부문별 절감 목표 사이 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 우측에  최종 부문별 목표원가 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화면내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graphicFrame>
        <p:nvGraphicFramePr>
          <p:cNvPr id="39" name="표 38"/>
          <p:cNvGraphicFramePr>
            <a:graphicFrameLocks noGrp="1"/>
          </p:cNvGraphicFramePr>
          <p:nvPr/>
        </p:nvGraphicFramePr>
        <p:xfrm>
          <a:off x="413475" y="2514586"/>
          <a:ext cx="5575475" cy="3030720"/>
        </p:xfrm>
        <a:graphic>
          <a:graphicData uri="http://schemas.openxmlformats.org/drawingml/2006/table">
            <a:tbl>
              <a:tblPr/>
              <a:tblGrid>
                <a:gridCol w="47000"/>
                <a:gridCol w="108000"/>
                <a:gridCol w="432000"/>
                <a:gridCol w="461250"/>
                <a:gridCol w="461250"/>
                <a:gridCol w="461250"/>
                <a:gridCol w="409575"/>
                <a:gridCol w="409575"/>
                <a:gridCol w="409575"/>
                <a:gridCol w="396000"/>
                <a:gridCol w="396000"/>
                <a:gridCol w="396000"/>
                <a:gridCol w="252000"/>
                <a:gridCol w="360000"/>
                <a:gridCol w="252000"/>
                <a:gridCol w="324000"/>
              </a:tblGrid>
              <a:tr h="114300"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원가항목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전단계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 목표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현상원가</a:t>
                      </a:r>
                      <a:b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산출액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원가 변동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 </a:t>
                      </a:r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재배부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부문별 절감 목표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총 변동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절감액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미달성 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통제불능 조정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판가 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변경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부문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금액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매출액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620,000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625,000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매출원가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569,810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543,820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25,990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23,880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2,110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4,370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2,110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재료비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472,810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26,810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23,810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21,850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1,960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1,863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C/O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23,476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2,476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1,976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1,800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176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172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672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NEW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449,334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24,334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427,500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21,834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20,050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1,784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1,691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구매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2,095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설계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2,095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노무비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49,200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104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804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감가상각비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29,000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390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금형비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11,750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250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35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285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Utility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1,970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77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기타 제조경비</a:t>
                      </a:r>
                    </a:p>
                  </a:txBody>
                  <a:tcPr marL="0" marR="0" marT="36000" marB="3600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2,900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생기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60 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매출총이익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50,190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81,180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30,990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43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판매비와관리비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31,000 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-     250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65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영업이익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19,190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 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50,180 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 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31,240 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108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1080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3"/>
          <p:cNvSpPr txBox="1">
            <a:spLocks noChangeArrowheads="1"/>
          </p:cNvSpPr>
          <p:nvPr/>
        </p:nvSpPr>
        <p:spPr bwMode="auto">
          <a:xfrm>
            <a:off x="3926015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차수</a:t>
            </a:r>
          </a:p>
        </p:txBody>
      </p:sp>
      <p:grpSp>
        <p:nvGrpSpPr>
          <p:cNvPr id="41" name="그룹 74"/>
          <p:cNvGrpSpPr/>
          <p:nvPr/>
        </p:nvGrpSpPr>
        <p:grpSpPr>
          <a:xfrm>
            <a:off x="4157630" y="1316960"/>
            <a:ext cx="360000" cy="226591"/>
            <a:chOff x="2709337" y="1307502"/>
            <a:chExt cx="360000" cy="226591"/>
          </a:xfrm>
        </p:grpSpPr>
        <p:sp>
          <p:nvSpPr>
            <p:cNvPr id="42" name="TextBox 4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3" name="실행 단추: 앞으로 또는 다음 4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976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8045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592950" y="19887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98513" y="2396909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38610" y="1988798"/>
            <a:ext cx="5802728" cy="439295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34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별 달성도 현황</a:t>
            </a: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44488" y="1740516"/>
            <a:ext cx="1306745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프로젝트 별 달성 현황</a:t>
            </a: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652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193752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83068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5413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863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97774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40634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773868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2996607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0" name="TextBox 33"/>
          <p:cNvSpPr txBox="1">
            <a:spLocks noChangeArrowheads="1"/>
          </p:cNvSpPr>
          <p:nvPr/>
        </p:nvSpPr>
        <p:spPr bwMode="auto">
          <a:xfrm>
            <a:off x="3476487" y="131696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Event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3850070" y="1316960"/>
            <a:ext cx="360000" cy="226591"/>
            <a:chOff x="2709337" y="1307502"/>
            <a:chExt cx="360000" cy="226591"/>
          </a:xfrm>
        </p:grpSpPr>
        <p:sp>
          <p:nvSpPr>
            <p:cNvPr id="42" name="TextBox 4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43" name="실행 단추: 앞으로 또는 다음 4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36" name="TextBox 33"/>
          <p:cNvSpPr txBox="1">
            <a:spLocks noChangeArrowheads="1"/>
          </p:cNvSpPr>
          <p:nvPr/>
        </p:nvSpPr>
        <p:spPr bwMode="auto">
          <a:xfrm>
            <a:off x="4306390" y="13174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매출규모</a:t>
            </a:r>
          </a:p>
        </p:txBody>
      </p:sp>
      <p:grpSp>
        <p:nvGrpSpPr>
          <p:cNvPr id="37" name="그룹 74"/>
          <p:cNvGrpSpPr/>
          <p:nvPr/>
        </p:nvGrpSpPr>
        <p:grpSpPr>
          <a:xfrm>
            <a:off x="4739146" y="1317449"/>
            <a:ext cx="360000" cy="226591"/>
            <a:chOff x="2709337" y="1307502"/>
            <a:chExt cx="360000" cy="226591"/>
          </a:xfrm>
        </p:grpSpPr>
        <p:sp>
          <p:nvSpPr>
            <p:cNvPr id="38" name="TextBox 3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39" name="실행 단추: 앞으로 또는 다음 3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41" name="TextBox 33"/>
          <p:cNvSpPr txBox="1">
            <a:spLocks noChangeArrowheads="1"/>
          </p:cNvSpPr>
          <p:nvPr/>
        </p:nvSpPr>
        <p:spPr bwMode="auto">
          <a:xfrm>
            <a:off x="5215884" y="131599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Status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49" name="그룹 74"/>
          <p:cNvGrpSpPr/>
          <p:nvPr/>
        </p:nvGrpSpPr>
        <p:grpSpPr>
          <a:xfrm>
            <a:off x="5601140" y="1315998"/>
            <a:ext cx="360000" cy="226591"/>
            <a:chOff x="2709337" y="1307502"/>
            <a:chExt cx="360000" cy="226591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3" name="실행 단추: 앞으로 또는 다음 5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416370" y="2612505"/>
          <a:ext cx="7921101" cy="3658320"/>
        </p:xfrm>
        <a:graphic>
          <a:graphicData uri="http://schemas.openxmlformats.org/drawingml/2006/table">
            <a:tbl>
              <a:tblPr/>
              <a:tblGrid>
                <a:gridCol w="447935"/>
                <a:gridCol w="447935"/>
                <a:gridCol w="447935"/>
                <a:gridCol w="814428"/>
                <a:gridCol w="1233467"/>
                <a:gridCol w="502523"/>
                <a:gridCol w="639576"/>
                <a:gridCol w="656252"/>
                <a:gridCol w="651542"/>
                <a:gridCol w="466940"/>
                <a:gridCol w="521234"/>
                <a:gridCol w="545667"/>
                <a:gridCol w="545667"/>
              </a:tblGrid>
              <a:tr h="18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현재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Project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SOP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 매출액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 현황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Event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억원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Status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예상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880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P/T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내수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F-DEGRADE 3.5T-D(NARR.),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전자식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2012/03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수출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F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후륜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속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3.5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T-C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2012/09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대형트럭 수출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04EM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수출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P/S OIL PUMP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98.1%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대우버스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일반버스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고속버스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BS106/BH115E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2014/12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52.5%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AXLE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HR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HR 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AⅡ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6MT 6.5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호 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저상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장축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2012/11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980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4.9%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4.8%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TQ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A,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AⅡ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5AT VGT </a:t>
                      </a:r>
                      <a:endParaRPr lang="en-US" sz="8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4P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760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 R/AXLE ASSY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2012/03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72.0%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3.6%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쌍용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D145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D100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3.91R STL-C M/T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2012/09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2014/02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76.8%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8.2%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HG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HG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2011/12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2013/06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100.0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2.7%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2.5%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Pilot1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2012/02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2014/12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86.0%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5.0%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HKMC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KH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 YD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Proto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2012/12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2015/01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년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월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39.6%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2.1%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5.3%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8" name="타원 117"/>
          <p:cNvSpPr>
            <a:spLocks noChangeAspect="1"/>
          </p:cNvSpPr>
          <p:nvPr/>
        </p:nvSpPr>
        <p:spPr>
          <a:xfrm>
            <a:off x="6405282" y="316495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9" name="타원 118"/>
          <p:cNvSpPr>
            <a:spLocks noChangeAspect="1"/>
          </p:cNvSpPr>
          <p:nvPr/>
        </p:nvSpPr>
        <p:spPr>
          <a:xfrm>
            <a:off x="6405282" y="345293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0" name="타원 119"/>
          <p:cNvSpPr>
            <a:spLocks noChangeAspect="1"/>
          </p:cNvSpPr>
          <p:nvPr/>
        </p:nvSpPr>
        <p:spPr>
          <a:xfrm>
            <a:off x="6405282" y="374091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1" name="타원 120"/>
          <p:cNvSpPr>
            <a:spLocks noChangeAspect="1"/>
          </p:cNvSpPr>
          <p:nvPr/>
        </p:nvSpPr>
        <p:spPr>
          <a:xfrm>
            <a:off x="6405282" y="431687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2" name="타원 121"/>
          <p:cNvSpPr>
            <a:spLocks noChangeAspect="1"/>
          </p:cNvSpPr>
          <p:nvPr/>
        </p:nvSpPr>
        <p:spPr>
          <a:xfrm>
            <a:off x="6405282" y="460485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3" name="타원 122"/>
          <p:cNvSpPr>
            <a:spLocks noChangeAspect="1"/>
          </p:cNvSpPr>
          <p:nvPr/>
        </p:nvSpPr>
        <p:spPr>
          <a:xfrm>
            <a:off x="6405282" y="5468798"/>
            <a:ext cx="180000" cy="180000"/>
          </a:xfrm>
          <a:prstGeom prst="ellipse">
            <a:avLst/>
          </a:prstGeom>
          <a:solidFill>
            <a:srgbClr val="00CC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G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4" name="타원 123"/>
          <p:cNvSpPr>
            <a:spLocks noChangeAspect="1"/>
          </p:cNvSpPr>
          <p:nvPr/>
        </p:nvSpPr>
        <p:spPr>
          <a:xfrm>
            <a:off x="6405282" y="5756778"/>
            <a:ext cx="180000" cy="1800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Y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5" name="타원 124"/>
          <p:cNvSpPr>
            <a:spLocks noChangeAspect="1"/>
          </p:cNvSpPr>
          <p:nvPr/>
        </p:nvSpPr>
        <p:spPr>
          <a:xfrm>
            <a:off x="6405282" y="402889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타원 125"/>
          <p:cNvSpPr>
            <a:spLocks noChangeAspect="1"/>
          </p:cNvSpPr>
          <p:nvPr/>
        </p:nvSpPr>
        <p:spPr>
          <a:xfrm>
            <a:off x="6405282" y="518081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7" name="타원 126"/>
          <p:cNvSpPr>
            <a:spLocks noChangeAspect="1"/>
          </p:cNvSpPr>
          <p:nvPr/>
        </p:nvSpPr>
        <p:spPr>
          <a:xfrm>
            <a:off x="6405282" y="4892838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8" name="타원 127"/>
          <p:cNvSpPr>
            <a:spLocks noChangeAspect="1"/>
          </p:cNvSpPr>
          <p:nvPr/>
        </p:nvSpPr>
        <p:spPr>
          <a:xfrm>
            <a:off x="6405282" y="6044755"/>
            <a:ext cx="180000" cy="1800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</a:t>
            </a:r>
            <a:endParaRPr lang="ko-KR" altLang="en-US" sz="8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0" name="직사각형 129"/>
          <p:cNvSpPr>
            <a:spLocks noChangeArrowheads="1"/>
          </p:cNvSpPr>
          <p:nvPr/>
        </p:nvSpPr>
        <p:spPr bwMode="auto">
          <a:xfrm>
            <a:off x="404494" y="2586681"/>
            <a:ext cx="5868000" cy="5400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</p:spPr>
      </p:sp>
      <p:sp>
        <p:nvSpPr>
          <p:cNvPr id="131" name="직사각형 130"/>
          <p:cNvSpPr>
            <a:spLocks noChangeArrowheads="1"/>
          </p:cNvSpPr>
          <p:nvPr/>
        </p:nvSpPr>
        <p:spPr bwMode="auto">
          <a:xfrm>
            <a:off x="6284369" y="2586681"/>
            <a:ext cx="2088000" cy="3672000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round/>
            <a:headEnd/>
            <a:tailEnd/>
          </a:ln>
        </p:spPr>
      </p: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51290"/>
          <a:ext cx="3528000" cy="153480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특정 조건에 일치하는 전체 프로젝트 나열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  <a:cs typeface="+mn-cs"/>
                        </a:rPr>
                        <a:t>해당 프로젝트의 주요 기본정보와 현재 달성도 표시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가는각진제목체" pitchFamily="18" charset="-127"/>
                        </a:rPr>
                        <a:t>조회조건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OEM,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차좋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매출규모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Status: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달성 현황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모든 조회조건은 필수가 아님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사업부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~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차종은 좌측부터 선택하여야 하고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그 외는 독립적임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실적 달성도 평가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36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3001959" cy="418320"/>
        </p:xfrm>
        <a:graphic>
          <a:graphicData uri="http://schemas.openxmlformats.org/drawingml/2006/table">
            <a:tbl>
              <a:tblPr/>
              <a:tblGrid>
                <a:gridCol w="864000"/>
                <a:gridCol w="430898"/>
                <a:gridCol w="972000"/>
                <a:gridCol w="735061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328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454994" cy="5218800"/>
        </p:xfrm>
        <a:graphic>
          <a:graphicData uri="http://schemas.openxmlformats.org/drawingml/2006/table">
            <a:tbl>
              <a:tblPr/>
              <a:tblGrid>
                <a:gridCol w="574994"/>
                <a:gridCol w="2880000"/>
              </a:tblGrid>
              <a:tr h="39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실적 달성도 평가를 위하여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ERP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로부터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 제조원가를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SOP +6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결산 완료 이후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앞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조건의 선택결과에 따라 해당되는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ERP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코드 체계와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연계하는 것이 가장 바람직하고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불가능한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기본정보에 입력된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찾아서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목록을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I/F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대상 연월을 표시하고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연도와 월만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달력 표시 형식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선택할 수 있도록 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 단추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없는 경우 생성을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필요시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삭제 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BOM(M-BOM)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과 실적 투입단가 이용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M-BOM: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출고단가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투입 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1127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76134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298513" y="26809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TextBox 33"/>
          <p:cNvSpPr txBox="1">
            <a:spLocks noChangeArrowheads="1"/>
          </p:cNvSpPr>
          <p:nvPr/>
        </p:nvSpPr>
        <p:spPr bwMode="auto">
          <a:xfrm>
            <a:off x="394486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품번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58" name="그룹 74"/>
          <p:cNvGrpSpPr/>
          <p:nvPr/>
        </p:nvGrpSpPr>
        <p:grpSpPr>
          <a:xfrm>
            <a:off x="4257376" y="1306800"/>
            <a:ext cx="360000" cy="226591"/>
            <a:chOff x="2709337" y="1307502"/>
            <a:chExt cx="360000" cy="226591"/>
          </a:xfrm>
        </p:grpSpPr>
        <p:sp>
          <p:nvSpPr>
            <p:cNvPr id="59" name="TextBox 5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3" name="실행 단추: 앞으로 또는 다음 6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4" name="TextBox 33"/>
          <p:cNvSpPr txBox="1">
            <a:spLocks noChangeArrowheads="1"/>
          </p:cNvSpPr>
          <p:nvPr/>
        </p:nvSpPr>
        <p:spPr bwMode="auto">
          <a:xfrm>
            <a:off x="4875605" y="13047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연월</a:t>
            </a:r>
          </a:p>
        </p:txBody>
      </p:sp>
      <p:grpSp>
        <p:nvGrpSpPr>
          <p:cNvPr id="65" name="그룹 74"/>
          <p:cNvGrpSpPr/>
          <p:nvPr/>
        </p:nvGrpSpPr>
        <p:grpSpPr>
          <a:xfrm>
            <a:off x="5143680" y="1304749"/>
            <a:ext cx="360000" cy="226591"/>
            <a:chOff x="2709337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326120" y="213282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067670" y="20141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TextBox 33"/>
          <p:cNvSpPr txBox="1">
            <a:spLocks noChangeArrowheads="1"/>
          </p:cNvSpPr>
          <p:nvPr/>
        </p:nvSpPr>
        <p:spPr bwMode="auto">
          <a:xfrm>
            <a:off x="560390" y="2677636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M-BOM</a:t>
            </a:r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과 투입재료비</a:t>
            </a:r>
          </a:p>
        </p:txBody>
      </p:sp>
      <p:graphicFrame>
        <p:nvGraphicFramePr>
          <p:cNvPr id="72" name="표 71"/>
          <p:cNvGraphicFramePr>
            <a:graphicFrameLocks noGrp="1"/>
          </p:cNvGraphicFramePr>
          <p:nvPr/>
        </p:nvGraphicFramePr>
        <p:xfrm>
          <a:off x="470834" y="2923274"/>
          <a:ext cx="3556674" cy="2784240"/>
        </p:xfrm>
        <a:graphic>
          <a:graphicData uri="http://schemas.openxmlformats.org/drawingml/2006/table">
            <a:tbl>
              <a:tblPr/>
              <a:tblGrid>
                <a:gridCol w="576000"/>
                <a:gridCol w="468000"/>
                <a:gridCol w="368018"/>
                <a:gridCol w="520301"/>
                <a:gridCol w="545682"/>
                <a:gridCol w="456850"/>
                <a:gridCol w="621823"/>
              </a:tblGrid>
              <a:tr h="228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수량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단가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통화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101,010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나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40,404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다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2,020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USD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177,778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12349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8,081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바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2,500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12351b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10,101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12352c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아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6,000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KRW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12,121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361,616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자재 </a:t>
                      </a: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Loss </a:t>
                      </a:r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0.50%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71450">
                <a:tc gridSpan="6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투입 재료비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359,808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3" name="직사각형 72"/>
          <p:cNvSpPr/>
          <p:nvPr/>
        </p:nvSpPr>
        <p:spPr bwMode="auto">
          <a:xfrm>
            <a:off x="470834" y="2916303"/>
            <a:ext cx="1402706" cy="2096917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1902075" y="2916303"/>
            <a:ext cx="1537007" cy="2096917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sz="11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6" name="모서리가 둥근 사각형 설명선 75"/>
          <p:cNvSpPr/>
          <p:nvPr/>
        </p:nvSpPr>
        <p:spPr bwMode="auto">
          <a:xfrm>
            <a:off x="3342326" y="2558302"/>
            <a:ext cx="1685296" cy="238667"/>
          </a:xfrm>
          <a:prstGeom prst="wedgeRoundRectCallout">
            <a:avLst>
              <a:gd name="adj1" fmla="val -48355"/>
              <a:gd name="adj2" fmla="val 10136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통화 및 당월 자재 출고 단가</a:t>
            </a:r>
          </a:p>
        </p:txBody>
      </p:sp>
      <p:sp>
        <p:nvSpPr>
          <p:cNvPr id="77" name="모서리가 둥근 사각형 설명선 76"/>
          <p:cNvSpPr/>
          <p:nvPr/>
        </p:nvSpPr>
        <p:spPr bwMode="auto">
          <a:xfrm>
            <a:off x="1496520" y="5202746"/>
            <a:ext cx="1685296" cy="360000"/>
          </a:xfrm>
          <a:prstGeom prst="wedgeRoundRectCallout">
            <a:avLst>
              <a:gd name="adj1" fmla="val -57791"/>
              <a:gd name="adj2" fmla="val -99728"/>
              <a:gd name="adj3" fmla="val 16667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당월 실적 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M-BOM</a:t>
            </a:r>
            <a:endParaRPr lang="ko-KR" altLang="en-US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+mj-lt"/>
                <a:ea typeface="가는각진제목체" pitchFamily="18" charset="-127"/>
              </a:rPr>
              <a:t>원가관리</a:t>
            </a:r>
          </a:p>
        </p:txBody>
      </p: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40611" y="1988798"/>
            <a:ext cx="5691889" cy="4256973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실적 달성도 평가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36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10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10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3" name="한쪽 모서리가 잘린 사각형 102"/>
          <p:cNvSpPr/>
          <p:nvPr/>
        </p:nvSpPr>
        <p:spPr bwMode="auto">
          <a:xfrm>
            <a:off x="331108" y="1740516"/>
            <a:ext cx="1332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실적 제품 제조원가 </a:t>
            </a:r>
            <a:r>
              <a:rPr lang="en-US" altLang="ko-KR" sz="900" dirty="0" smtClean="0">
                <a:solidFill>
                  <a:srgbClr val="000000"/>
                </a:solidFill>
                <a:latin typeface="+mj-lt"/>
                <a:ea typeface="가는각진제목체" pitchFamily="18" charset="-127"/>
                <a:cs typeface="Arial" pitchFamily="34" charset="0"/>
              </a:rPr>
              <a:t>I/F</a:t>
            </a:r>
            <a:endParaRPr lang="ko-KR" altLang="en-US" sz="900" dirty="0" smtClean="0">
              <a:solidFill>
                <a:srgbClr val="000000"/>
              </a:solidFill>
              <a:latin typeface="+mj-lt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62" name="표 61"/>
          <p:cNvGraphicFramePr>
            <a:graphicFrameLocks noGrp="1"/>
          </p:cNvGraphicFramePr>
          <p:nvPr/>
        </p:nvGraphicFramePr>
        <p:xfrm>
          <a:off x="423872" y="2060810"/>
          <a:ext cx="3001959" cy="418320"/>
        </p:xfrm>
        <a:graphic>
          <a:graphicData uri="http://schemas.openxmlformats.org/drawingml/2006/table">
            <a:tbl>
              <a:tblPr/>
              <a:tblGrid>
                <a:gridCol w="864000"/>
                <a:gridCol w="430898"/>
                <a:gridCol w="972000"/>
                <a:gridCol w="735061"/>
              </a:tblGrid>
              <a:tr h="162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원가코드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 smtClean="0">
                          <a:solidFill>
                            <a:schemeClr val="bg1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  <a:endParaRPr lang="ko-KR" altLang="en-US" sz="900" b="1" i="0" u="none" strike="noStrike" dirty="0">
                        <a:solidFill>
                          <a:schemeClr val="bg1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13007-TMA-T01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모서리가 둥근 직사각형 44"/>
          <p:cNvSpPr/>
          <p:nvPr/>
        </p:nvSpPr>
        <p:spPr bwMode="auto">
          <a:xfrm>
            <a:off x="416370" y="1282654"/>
            <a:ext cx="5328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6" name="TextBox 33"/>
          <p:cNvSpPr txBox="1">
            <a:spLocks noChangeArrowheads="1"/>
          </p:cNvSpPr>
          <p:nvPr/>
        </p:nvSpPr>
        <p:spPr bwMode="auto">
          <a:xfrm>
            <a:off x="2089620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고객사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1298834" y="131302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477886" y="131302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13028"/>
            <a:ext cx="360000" cy="226591"/>
            <a:chOff x="837169" y="1307470"/>
            <a:chExt cx="360000" cy="226591"/>
          </a:xfrm>
        </p:grpSpPr>
        <p:sp>
          <p:nvSpPr>
            <p:cNvPr id="50" name="TextBox 49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51" name="실행 단추: 앞으로 또는 다음 5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13028"/>
            <a:ext cx="360000" cy="226591"/>
            <a:chOff x="1701166" y="1307502"/>
            <a:chExt cx="360000" cy="226591"/>
          </a:xfrm>
        </p:grpSpPr>
        <p:sp>
          <p:nvSpPr>
            <p:cNvPr id="57" name="TextBox 56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0" name="실행 단추: 앞으로 또는 다음 5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424260" y="1313028"/>
            <a:ext cx="360000" cy="226591"/>
            <a:chOff x="2709337" y="1307502"/>
            <a:chExt cx="360000" cy="226591"/>
          </a:xfrm>
        </p:grpSpPr>
        <p:sp>
          <p:nvSpPr>
            <p:cNvPr id="66" name="TextBox 6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7" name="실행 단추: 앞으로 또는 다음 6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4" name="TextBox 33"/>
          <p:cNvSpPr txBox="1">
            <a:spLocks noChangeArrowheads="1"/>
          </p:cNvSpPr>
          <p:nvPr/>
        </p:nvSpPr>
        <p:spPr bwMode="auto">
          <a:xfrm>
            <a:off x="2902810" y="131302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프로젝트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342326" y="1313028"/>
            <a:ext cx="360000" cy="226591"/>
            <a:chOff x="2709337" y="1307502"/>
            <a:chExt cx="360000" cy="226591"/>
          </a:xfrm>
        </p:grpSpPr>
        <p:sp>
          <p:nvSpPr>
            <p:cNvPr id="80" name="TextBox 7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graphicFrame>
        <p:nvGraphicFramePr>
          <p:cNvPr id="55" name="Group 82"/>
          <p:cNvGraphicFramePr>
            <a:graphicFrameLocks noGrp="1"/>
          </p:cNvGraphicFramePr>
          <p:nvPr/>
        </p:nvGraphicFramePr>
        <p:xfrm>
          <a:off x="6149460" y="1004381"/>
          <a:ext cx="3454994" cy="5218800"/>
        </p:xfrm>
        <a:graphic>
          <a:graphicData uri="http://schemas.openxmlformats.org/drawingml/2006/table">
            <a:tbl>
              <a:tblPr/>
              <a:tblGrid>
                <a:gridCol w="574994"/>
                <a:gridCol w="2880000"/>
              </a:tblGrid>
              <a:tr h="390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실적 달성도 평가를 위하여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ERP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로부터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제품 제조원가를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함</a:t>
                      </a:r>
                      <a:endParaRPr lang="en-US" altLang="ko-KR" sz="1000" kern="12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시기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SOP +6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결산 완료 이후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45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투입가공비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선택조건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앞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조건의 선택결과에 따라 해당되는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ERP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의 코드 체계와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연계하는 것이 가장 바람직하고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불가능한 경우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기본정보에 입력된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찾아서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목록을 표시함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연월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필수조건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I/F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대상 연월을 표시하고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연도와 월만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달력 표시 형식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선택할 수 있도록 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54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판매비와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관리비 등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 팀에서 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 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Data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 없는 경우 생성을 통해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실행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필요시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삭제 버튼으로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18000" marB="18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전단계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항목별 목표 대상 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산출액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 단계 현상원가 산출 결과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불러오기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 내 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타 화면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소환 후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validating)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 변동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단순차이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차이분석의 분석대상 금액과 동일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Click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변경된 원가 절감 계획을 등록하도록 할 수 있음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or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최초 등록화면 이용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※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목표재배부와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부문별 절감 목표 사이 또는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절감 목표 우측에  최종 부문별 목표원가 추가 가능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합계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" name="타원 60"/>
          <p:cNvSpPr/>
          <p:nvPr/>
        </p:nvSpPr>
        <p:spPr>
          <a:xfrm>
            <a:off x="338610" y="113911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4" name="AutoShape 279"/>
          <p:cNvSpPr>
            <a:spLocks noChangeArrowheads="1"/>
          </p:cNvSpPr>
          <p:nvPr/>
        </p:nvSpPr>
        <p:spPr bwMode="auto">
          <a:xfrm>
            <a:off x="5601140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49" name="AutoShape 279"/>
          <p:cNvSpPr>
            <a:spLocks noChangeArrowheads="1"/>
          </p:cNvSpPr>
          <p:nvPr/>
        </p:nvSpPr>
        <p:spPr bwMode="auto">
          <a:xfrm>
            <a:off x="4751127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2" name="AutoShape 279"/>
          <p:cNvSpPr>
            <a:spLocks noChangeArrowheads="1"/>
          </p:cNvSpPr>
          <p:nvPr/>
        </p:nvSpPr>
        <p:spPr bwMode="auto">
          <a:xfrm>
            <a:off x="5176134" y="213295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6" name="TextBox 33"/>
          <p:cNvSpPr txBox="1">
            <a:spLocks noChangeArrowheads="1"/>
          </p:cNvSpPr>
          <p:nvPr/>
        </p:nvSpPr>
        <p:spPr bwMode="auto">
          <a:xfrm>
            <a:off x="394486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품번</a:t>
            </a:r>
            <a:endParaRPr lang="ko-KR" altLang="en-US" sz="1000" dirty="0" smtClean="0">
              <a:solidFill>
                <a:prstClr val="black"/>
              </a:solidFill>
              <a:latin typeface="+mj-lt"/>
              <a:ea typeface="가는각진제목체" pitchFamily="18" charset="-127"/>
              <a:sym typeface="Arial" charset="0"/>
            </a:endParaRPr>
          </a:p>
        </p:txBody>
      </p:sp>
      <p:grpSp>
        <p:nvGrpSpPr>
          <p:cNvPr id="6" name="그룹 74"/>
          <p:cNvGrpSpPr/>
          <p:nvPr/>
        </p:nvGrpSpPr>
        <p:grpSpPr>
          <a:xfrm>
            <a:off x="4257376" y="1306800"/>
            <a:ext cx="360000" cy="226591"/>
            <a:chOff x="2709337" y="1307502"/>
            <a:chExt cx="360000" cy="226591"/>
          </a:xfrm>
        </p:grpSpPr>
        <p:sp>
          <p:nvSpPr>
            <p:cNvPr id="59" name="TextBox 5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3" name="실행 단추: 앞으로 또는 다음 62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64" name="TextBox 33"/>
          <p:cNvSpPr txBox="1">
            <a:spLocks noChangeArrowheads="1"/>
          </p:cNvSpPr>
          <p:nvPr/>
        </p:nvSpPr>
        <p:spPr bwMode="auto">
          <a:xfrm>
            <a:off x="4875605" y="1304749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연월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5143680" y="1304749"/>
            <a:ext cx="360000" cy="226591"/>
            <a:chOff x="2709337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+mj-lt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0" name="AutoShape 279"/>
          <p:cNvSpPr>
            <a:spLocks noChangeArrowheads="1"/>
          </p:cNvSpPr>
          <p:nvPr/>
        </p:nvSpPr>
        <p:spPr bwMode="auto">
          <a:xfrm>
            <a:off x="4326120" y="213282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+mj-lt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4" name="타원 53"/>
          <p:cNvSpPr/>
          <p:nvPr/>
        </p:nvSpPr>
        <p:spPr>
          <a:xfrm>
            <a:off x="4067670" y="201419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71" name="TextBox 33"/>
          <p:cNvSpPr txBox="1">
            <a:spLocks noChangeArrowheads="1"/>
          </p:cNvSpPr>
          <p:nvPr/>
        </p:nvSpPr>
        <p:spPr bwMode="auto">
          <a:xfrm>
            <a:off x="615039" y="2536424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투입가공비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442874" y="2749712"/>
          <a:ext cx="5305500" cy="1372140"/>
        </p:xfrm>
        <a:graphic>
          <a:graphicData uri="http://schemas.openxmlformats.org/drawingml/2006/table">
            <a:tbl>
              <a:tblPr/>
              <a:tblGrid>
                <a:gridCol w="792000"/>
                <a:gridCol w="571500"/>
                <a:gridCol w="533400"/>
                <a:gridCol w="396000"/>
                <a:gridCol w="571500"/>
                <a:gridCol w="571500"/>
                <a:gridCol w="609600"/>
                <a:gridCol w="684000"/>
                <a:gridCol w="576000"/>
              </a:tblGrid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라인코드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라인 명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공정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세부공정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실적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C/T </a:t>
                      </a:r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당 단가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5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5,000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생산직접비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인건비성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연마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65433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가공라인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가공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치절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서산공장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</a:t>
                      </a:r>
                      <a:r>
                        <a:rPr lang="en-US" altLang="ko-KR" sz="105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6,665 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sp>
        <p:nvSpPr>
          <p:cNvPr id="75" name="TextBox 33"/>
          <p:cNvSpPr txBox="1">
            <a:spLocks noChangeArrowheads="1"/>
          </p:cNvSpPr>
          <p:nvPr/>
        </p:nvSpPr>
        <p:spPr bwMode="auto">
          <a:xfrm>
            <a:off x="615380" y="4207858"/>
            <a:ext cx="1529230" cy="24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100" b="1" err="1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판매비와</a:t>
            </a:r>
            <a:r>
              <a:rPr lang="ko-KR" altLang="en-US" sz="1100" b="1" dirty="0" smtClean="0">
                <a:solidFill>
                  <a:prstClr val="black"/>
                </a:solidFill>
                <a:latin typeface="+mj-lt"/>
                <a:ea typeface="가는각진제목체" pitchFamily="18" charset="-127"/>
                <a:sym typeface="Arial" charset="0"/>
              </a:rPr>
              <a:t> 관리비 등</a:t>
            </a: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442874" y="4431390"/>
          <a:ext cx="1422400" cy="1764180"/>
        </p:xfrm>
        <a:graphic>
          <a:graphicData uri="http://schemas.openxmlformats.org/drawingml/2006/table">
            <a:tbl>
              <a:tblPr/>
              <a:tblGrid>
                <a:gridCol w="812800"/>
                <a:gridCol w="609600"/>
              </a:tblGrid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판관인건비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운반비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수출비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180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품질보증비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광고선전비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연구비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기타판관비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5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2,666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" name="타원 72"/>
          <p:cNvSpPr/>
          <p:nvPr/>
        </p:nvSpPr>
        <p:spPr>
          <a:xfrm>
            <a:off x="353503" y="421117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5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53162" y="253973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j-lt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chemeClr val="bg1"/>
              </a:solidFill>
              <a:latin typeface="+mj-lt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318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1.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원가관리팀에서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프로젝트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단위로 견적원가 산출 상세 일정을 수립하는 화면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2.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조건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기타 일자는 입력한 기간에 의해 자동으로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생성됨</a:t>
            </a:r>
            <a:endParaRPr kumimoji="0" lang="en-US" altLang="ko-KR" sz="105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3.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입력 조건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기간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Working day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일 수로 입력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주관부서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필요한 경우에 수정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선행작업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Task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간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Dependency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설정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4.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버튼 설명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801688" indent="-8016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조회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영업에서 입력한 데이터를 조회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801688" indent="-8016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저장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입력한 데이터를 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Project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일정 테이블에 저장한다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.</a:t>
            </a:r>
          </a:p>
          <a:p>
            <a:pPr marL="1076325" indent="-107632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표준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TASK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관리 참고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: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원가관리시스템 표준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WBS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테이블 데이터를 </a:t>
            </a:r>
            <a:r>
              <a:rPr kumimoji="0" lang="ko-KR" altLang="en-US" sz="1050" dirty="0" err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팝업창으로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표시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marL="1076325" indent="-1076325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5. 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주의사항 </a:t>
            </a:r>
            <a:endParaRPr kumimoji="0" lang="en-US" altLang="ko-KR" sz="105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-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첫 시작일자와 마지막 완료일자로 </a:t>
            </a:r>
            <a:r>
              <a:rPr kumimoji="0" lang="ko-KR" altLang="en-US" sz="1050" dirty="0" err="1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카렌더를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생성하고 기간에 의하여 주말을 제외한 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Working day</a:t>
            </a:r>
            <a:r>
              <a:rPr kumimoji="0" lang="ko-KR" altLang="en-US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에 색으로 표시</a:t>
            </a: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  <a:p>
            <a:pPr marL="179388" indent="-179388" fontAlgn="ctr" latinLnBrk="0">
              <a:lnSpc>
                <a:spcPct val="140000"/>
              </a:lnSpc>
              <a:defRPr/>
            </a:pPr>
            <a:r>
              <a:rPr kumimoji="0" lang="en-US" altLang="ko-KR" sz="105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    </a:t>
            </a:r>
          </a:p>
        </p:txBody>
      </p:sp>
      <p:sp>
        <p:nvSpPr>
          <p:cNvPr id="24" name="직사각형 23"/>
          <p:cNvSpPr/>
          <p:nvPr/>
        </p:nvSpPr>
        <p:spPr bwMode="auto">
          <a:xfrm>
            <a:off x="6393200" y="188550"/>
            <a:ext cx="3312460" cy="136819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앞 장의 내용에 추가하는 경우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사용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..</a:t>
            </a: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Ex, </a:t>
            </a:r>
            <a:r>
              <a:rPr lang="ko-KR" altLang="en-US" sz="1800" dirty="0" err="1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계산로직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내용 설명 등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자유양식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560827" y="908650"/>
            <a:ext cx="1695450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buFont typeface="Arial" charset="0"/>
              <a:buAutoNum type="arabicPeriod"/>
            </a:pPr>
            <a:r>
              <a:rPr lang="ko-KR" altLang="en-US" sz="12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감가상각비 </a:t>
            </a:r>
            <a:r>
              <a:rPr lang="ko-KR" altLang="en-US" sz="12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계산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4913752" y="1772250"/>
            <a:ext cx="4287838" cy="128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내용 연수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취득연월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 및 월 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총 투자비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통화는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KRW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가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default,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선택 가능하도록 함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수량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기준정보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(**)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에서 가져와서 보여줌</a:t>
            </a:r>
            <a:endParaRPr lang="en-US" altLang="ko-KR" sz="11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기타</a:t>
            </a:r>
            <a:r>
              <a:rPr lang="en-US" altLang="ko-KR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endParaRPr lang="en-US" altLang="ko-KR" sz="1100" b="1" dirty="0">
              <a:solidFill>
                <a:srgbClr val="FF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endParaRPr lang="ko-KR" altLang="en-US" sz="110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7" name="직사각형 9"/>
          <p:cNvSpPr>
            <a:spLocks noChangeArrowheads="1"/>
          </p:cNvSpPr>
          <p:nvPr/>
        </p:nvSpPr>
        <p:spPr bwMode="auto">
          <a:xfrm>
            <a:off x="4913752" y="1372200"/>
            <a:ext cx="865188" cy="287337"/>
          </a:xfrm>
          <a:prstGeom prst="rect">
            <a:avLst/>
          </a:prstGeom>
          <a:solidFill>
            <a:schemeClr val="tx2"/>
          </a:solidFill>
          <a:ln w="6350" algn="ctr">
            <a:noFill/>
            <a:round/>
            <a:headEnd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ko-KR" altLang="en-US" sz="1000" b="1" dirty="0" smtClean="0">
                <a:solidFill>
                  <a:srgbClr val="FFFFFF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기존 라인</a:t>
            </a:r>
            <a:endParaRPr lang="ko-KR" altLang="en-US" sz="1000" b="1" dirty="0">
              <a:solidFill>
                <a:srgbClr val="FFFFFF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8" name="직사각형 11"/>
          <p:cNvSpPr>
            <a:spLocks noChangeArrowheads="1"/>
          </p:cNvSpPr>
          <p:nvPr/>
        </p:nvSpPr>
        <p:spPr bwMode="auto">
          <a:xfrm>
            <a:off x="4913752" y="3761865"/>
            <a:ext cx="865188" cy="287338"/>
          </a:xfrm>
          <a:prstGeom prst="rect">
            <a:avLst/>
          </a:prstGeom>
          <a:solidFill>
            <a:schemeClr val="tx2"/>
          </a:solidFill>
          <a:ln w="6350" algn="ctr">
            <a:noFill/>
            <a:round/>
            <a:headEnd/>
            <a:tailEnd type="triangle" w="med" len="med"/>
          </a:ln>
        </p:spPr>
        <p:txBody>
          <a:bodyPr wrap="none" anchor="ctr"/>
          <a:lstStyle/>
          <a:p>
            <a:pPr algn="ctr"/>
            <a:r>
              <a:rPr lang="ko-KR" altLang="en-US" sz="1000" b="1" dirty="0" smtClean="0">
                <a:solidFill>
                  <a:srgbClr val="FFFFFF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신규 라인</a:t>
            </a:r>
            <a:endParaRPr lang="ko-KR" altLang="en-US" sz="1000" b="1" dirty="0">
              <a:solidFill>
                <a:srgbClr val="FFFFFF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913752" y="4293120"/>
            <a:ext cx="4287838" cy="1081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내용 연수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취득연월 </a:t>
            </a:r>
            <a:r>
              <a:rPr lang="en-US" altLang="ko-KR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연도 및 월 입력 받음</a:t>
            </a:r>
            <a:endParaRPr lang="en-US" altLang="ko-KR" sz="1100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총 투자비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: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입력 받음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(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통화는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KRW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가 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default, </a:t>
            </a:r>
            <a:r>
              <a:rPr lang="ko-KR" altLang="en-US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선택 가능하도록 함</a:t>
            </a:r>
            <a:r>
              <a:rPr lang="en-US" altLang="ko-KR" sz="11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)</a:t>
            </a: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r>
              <a:rPr lang="ko-KR" altLang="en-US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기타</a:t>
            </a:r>
            <a:r>
              <a:rPr lang="en-US" altLang="ko-KR" sz="1100" b="1" dirty="0" smtClean="0">
                <a:solidFill>
                  <a:srgbClr val="FF0000"/>
                </a:solidFill>
                <a:latin typeface="가는각진제목체" pitchFamily="18" charset="-127"/>
                <a:ea typeface="가는각진제목체" pitchFamily="18" charset="-127"/>
                <a:sym typeface="Arial" charset="0"/>
              </a:rPr>
              <a:t> </a:t>
            </a:r>
            <a:endParaRPr lang="en-US" altLang="ko-KR" sz="1100" b="1" dirty="0">
              <a:solidFill>
                <a:srgbClr val="FF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pPr marL="93663" indent="-93663">
              <a:lnSpc>
                <a:spcPct val="120000"/>
              </a:lnSpc>
              <a:buFont typeface="Arial" charset="0"/>
              <a:buChar char="•"/>
            </a:pPr>
            <a:endParaRPr lang="ko-KR" altLang="en-US" sz="1100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737728" y="1607327"/>
          <a:ext cx="2991102" cy="110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551"/>
                <a:gridCol w="1495551"/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C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Arial"/>
                          <a:ea typeface="맑은 고딕"/>
                          <a:sym typeface="Arial"/>
                        </a:rPr>
                        <a:t>LINE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3CD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C/T</a:t>
                      </a:r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①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인원</a:t>
                      </a: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②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83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0" kern="1200" dirty="0" smtClean="0">
                          <a:solidFill>
                            <a:schemeClr val="tx1"/>
                          </a:solidFill>
                          <a:latin typeface="Arial"/>
                          <a:ea typeface="맑은 고딕"/>
                          <a:cs typeface="+mn-cs"/>
                          <a:sym typeface="Arial"/>
                        </a:rPr>
                        <a:t>CAVITY</a:t>
                      </a:r>
                      <a:endParaRPr lang="ko-KR" altLang="en-US" sz="1100" b="0" kern="1200" dirty="0" smtClean="0">
                        <a:solidFill>
                          <a:schemeClr val="tx1"/>
                        </a:solidFill>
                        <a:latin typeface="Arial"/>
                        <a:ea typeface="맑은 고딕"/>
                        <a:cs typeface="+mn-cs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Arial"/>
                          <a:ea typeface="맑은 고딕"/>
                          <a:sym typeface="Arial"/>
                        </a:rPr>
                        <a:t>③</a:t>
                      </a:r>
                      <a:endParaRPr lang="ko-KR" altLang="en-US" sz="1100" dirty="0"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84406" marR="8440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직사각형 10"/>
          <p:cNvSpPr/>
          <p:nvPr/>
        </p:nvSpPr>
        <p:spPr bwMode="auto">
          <a:xfrm>
            <a:off x="6393200" y="188550"/>
            <a:ext cx="3312460" cy="136819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앞 장의 내용에 추가하는 경우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사용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..</a:t>
            </a: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Ex, </a:t>
            </a:r>
            <a:r>
              <a:rPr lang="ko-KR" altLang="en-US" sz="1800" dirty="0" err="1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계산로직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, 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내용 설명 등</a:t>
            </a:r>
            <a:endParaRPr lang="en-US" altLang="ko-KR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자유양식</a:t>
            </a:r>
            <a:r>
              <a:rPr lang="en-US" altLang="ko-KR" sz="18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800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2" name="직사각형 41"/>
          <p:cNvSpPr>
            <a:spLocks noChangeArrowheads="1"/>
          </p:cNvSpPr>
          <p:nvPr/>
        </p:nvSpPr>
        <p:spPr bwMode="auto">
          <a:xfrm>
            <a:off x="560827" y="1372201"/>
            <a:ext cx="3600063" cy="1684376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smtClean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59235</TotalTime>
  <Words>11523</Words>
  <Application>Microsoft Office PowerPoint</Application>
  <PresentationFormat>A4 용지(210x297mm)</PresentationFormat>
  <Paragraphs>6199</Paragraphs>
  <Slides>36</Slides>
  <Notes>7</Notes>
  <HiddenSlides>0</HiddenSlides>
  <MMClips>0</MMClips>
  <ScaleCrop>false</ScaleCrop>
  <HeadingPairs>
    <vt:vector size="6" baseType="variant"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9" baseType="lpstr">
      <vt:lpstr>5_tb4_onscreen_v2.1</vt:lpstr>
      <vt:lpstr>6_tb4_onscreen_v2.1</vt:lpstr>
      <vt:lpstr>Worksheet</vt:lpstr>
      <vt:lpstr>목표원가관리 화면 목록</vt:lpstr>
      <vt:lpstr>목표원가관리 화면 목록</vt:lpstr>
      <vt:lpstr>목표원가관리 UI 설계 변경 이력</vt:lpstr>
      <vt:lpstr>목표원가관리 UI 설계 변경 이력</vt:lpstr>
      <vt:lpstr>슬라이드 4</vt:lpstr>
      <vt:lpstr>슬라이드 5</vt:lpstr>
      <vt:lpstr>슬라이드 6</vt:lpstr>
      <vt:lpstr>슬라이드 7</vt:lpstr>
      <vt:lpstr>상세 Spec - 부문별 목표 Guide 산출</vt:lpstr>
      <vt:lpstr>슬라이드 9</vt:lpstr>
      <vt:lpstr>슬라이드 10</vt:lpstr>
      <vt:lpstr>슬라이드 11</vt:lpstr>
      <vt:lpstr>슬라이드 12</vt:lpstr>
      <vt:lpstr>슬라이드 13</vt:lpstr>
      <vt:lpstr>상세 Spec - 부문별 목표 Guide 산출</vt:lpstr>
      <vt:lpstr>상세 Spec - 부문별 목표 Guide 산출</vt:lpstr>
      <vt:lpstr>슬라이드 16</vt:lpstr>
      <vt:lpstr>슬라이드 17</vt:lpstr>
      <vt:lpstr>상세 Spec - 부문별 절감액 및 절감 계획 활동 등록</vt:lpstr>
      <vt:lpstr>상세 Spec - 부문별 절감액 및 절감 계획 활동 등록</vt:lpstr>
      <vt:lpstr>슬라이드 20</vt:lpstr>
      <vt:lpstr>슬라이드 21</vt:lpstr>
      <vt:lpstr>슬라이드 22</vt:lpstr>
      <vt:lpstr>상세 Spec – BOM Mapping</vt:lpstr>
      <vt:lpstr>상세 Spec – BOM Mapping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상세 Spec</vt:lpstr>
      <vt:lpstr>상세 Spec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7445</cp:revision>
  <cp:lastPrinted>2012-11-21T23:07:40Z</cp:lastPrinted>
  <dcterms:created xsi:type="dcterms:W3CDTF">2011-12-22T02:00:23Z</dcterms:created>
  <dcterms:modified xsi:type="dcterms:W3CDTF">2013-05-20T23:20:37Z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