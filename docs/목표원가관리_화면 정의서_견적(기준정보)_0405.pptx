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4.xml" ContentType="application/vnd.openxmlformats-officedocument.them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562" r:id="rId1"/>
    <p:sldMasterId id="2147484636" r:id="rId2"/>
  </p:sldMasterIdLst>
  <p:notesMasterIdLst>
    <p:notesMasterId r:id="rId15"/>
  </p:notesMasterIdLst>
  <p:handoutMasterIdLst>
    <p:handoutMasterId r:id="rId16"/>
  </p:handoutMasterIdLst>
  <p:sldIdLst>
    <p:sldId id="2238" r:id="rId3"/>
    <p:sldId id="2240" r:id="rId4"/>
    <p:sldId id="2242" r:id="rId5"/>
    <p:sldId id="2241" r:id="rId6"/>
    <p:sldId id="2243" r:id="rId7"/>
    <p:sldId id="2244" r:id="rId8"/>
    <p:sldId id="2245" r:id="rId9"/>
    <p:sldId id="2246" r:id="rId10"/>
    <p:sldId id="2247" r:id="rId11"/>
    <p:sldId id="2248" r:id="rId12"/>
    <p:sldId id="2249" r:id="rId13"/>
    <p:sldId id="2250" r:id="rId14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CC0000"/>
    <a:srgbClr val="DC6900"/>
    <a:srgbClr val="0000CC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50" autoAdjust="0"/>
    <p:restoredTop sz="69203" autoAdjust="0"/>
  </p:normalViewPr>
  <p:slideViewPr>
    <p:cSldViewPr snapToObjects="1">
      <p:cViewPr>
        <p:scale>
          <a:sx n="75" d="100"/>
          <a:sy n="75" d="100"/>
        </p:scale>
        <p:origin x="-1344" y="24"/>
      </p:cViewPr>
      <p:guideLst>
        <p:guide orient="horz" pos="300"/>
        <p:guide orient="horz" pos="2296"/>
        <p:guide orient="horz" pos="1661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4/15/2013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4/15/2013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="" xmlns:p14="http://schemas.microsoft.com/office/powerpoint/2010/main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19750" name="Line 6"/>
          <p:cNvSpPr>
            <a:spLocks noChangeShapeType="1"/>
          </p:cNvSpPr>
          <p:nvPr/>
        </p:nvSpPr>
        <p:spPr bwMode="auto">
          <a:xfrm>
            <a:off x="182563" y="777875"/>
            <a:ext cx="9513888" cy="0"/>
          </a:xfrm>
          <a:prstGeom prst="line">
            <a:avLst/>
          </a:prstGeom>
          <a:noFill/>
          <a:ln w="19050">
            <a:solidFill>
              <a:schemeClr val="bg2"/>
            </a:solidFill>
            <a:round/>
            <a:headEnd/>
            <a:tailEnd/>
          </a:ln>
          <a:effectLst/>
        </p:spPr>
        <p:txBody>
          <a:bodyPr/>
          <a:lstStyle/>
          <a:p>
            <a:pPr algn="ctr" defTabSz="914400" eaLnBrk="0" latinLnBrk="0" hangingPunct="0">
              <a:defRPr/>
            </a:pPr>
            <a:endParaRPr kumimoji="0" lang="ko-KR" altLang="en-US" sz="1400" b="1" dirty="0">
              <a:solidFill>
                <a:srgbClr val="3A4972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9" name="Rectangle 5"/>
          <p:cNvSpPr>
            <a:spLocks noChangeArrowheads="1"/>
          </p:cNvSpPr>
          <p:nvPr userDrawn="1"/>
        </p:nvSpPr>
        <p:spPr bwMode="auto">
          <a:xfrm>
            <a:off x="9389306" y="473800"/>
            <a:ext cx="307975" cy="285750"/>
          </a:xfrm>
          <a:prstGeom prst="rect">
            <a:avLst/>
          </a:prstGeom>
          <a:solidFill>
            <a:srgbClr val="666699"/>
          </a:solidFill>
          <a:ln w="9525">
            <a:solidFill>
              <a:srgbClr val="666699"/>
            </a:solidFill>
            <a:miter lim="800000"/>
            <a:headEnd/>
            <a:tailEnd/>
          </a:ln>
        </p:spPr>
        <p:txBody>
          <a:bodyPr wrap="none" lIns="54000" tIns="54000" rIns="54000" bIns="54000" anchor="ctr"/>
          <a:lstStyle/>
          <a:p>
            <a:pPr algn="ctr" defTabSz="914400">
              <a:defRPr/>
            </a:pPr>
            <a:fld id="{65AB3F9B-28E7-499A-A094-26270E7EAA92}" type="slidenum">
              <a:rPr kumimoji="0" lang="en-GB" altLang="ko-KR" sz="1100" b="1" smtClean="0">
                <a:solidFill>
                  <a:schemeClr val="bg1"/>
                </a:solidFill>
              </a:rPr>
              <a:pPr algn="ctr" defTabSz="914400">
                <a:defRPr/>
              </a:pPr>
              <a:t>‹#›</a:t>
            </a:fld>
            <a:endParaRPr kumimoji="0" lang="en-GB" altLang="ko-KR" sz="1100" b="1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37" r:id="rId1"/>
    <p:sldLayoutId id="2147484638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3019566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프로젝트 대상이 되는 제품코드를 관리하는 화면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 분류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(2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차분류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PT(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상용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Axle,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승용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Axle, TM), Seat(Seat)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각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분류 기준으로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검색 가능하도록 함 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및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데이터 추가 및 삭제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화면 입력 항목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제품코드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코드명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1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차분류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2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차분류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제품코드 저장일자 및 유저 자동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File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upload 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업로드 파일 선택하여 업로드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Upload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template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을 다운받을 수 있도록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파일 업로드 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기존 내역 삭제하고 새로 작성함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42" name="직사각형 124"/>
          <p:cNvSpPr>
            <a:spLocks noChangeArrowheads="1"/>
          </p:cNvSpPr>
          <p:nvPr/>
        </p:nvSpPr>
        <p:spPr bwMode="auto">
          <a:xfrm>
            <a:off x="397494" y="2708900"/>
            <a:ext cx="5137798" cy="223231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258588" y="263689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2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/>
        </p:nvGraphicFramePr>
        <p:xfrm>
          <a:off x="550615" y="155674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8" name="직사각형 47"/>
          <p:cNvSpPr/>
          <p:nvPr/>
        </p:nvSpPr>
        <p:spPr bwMode="auto">
          <a:xfrm>
            <a:off x="1929408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9" name="직사각형 48"/>
          <p:cNvSpPr/>
          <p:nvPr/>
        </p:nvSpPr>
        <p:spPr bwMode="auto">
          <a:xfrm>
            <a:off x="3297560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88380" y="1484740"/>
            <a:ext cx="3528392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1" name="TextBox 36"/>
          <p:cNvSpPr txBox="1">
            <a:spLocks noChangeArrowheads="1"/>
          </p:cNvSpPr>
          <p:nvPr/>
        </p:nvSpPr>
        <p:spPr bwMode="auto">
          <a:xfrm>
            <a:off x="1424484" y="1569324"/>
            <a:ext cx="499254" cy="215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90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1</a:t>
            </a:r>
            <a:r>
              <a:rPr lang="ko-KR" altLang="en-US" sz="900" dirty="0" err="1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차분류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sp>
        <p:nvSpPr>
          <p:cNvPr id="56" name="TextBox 36"/>
          <p:cNvSpPr txBox="1">
            <a:spLocks noChangeArrowheads="1"/>
          </p:cNvSpPr>
          <p:nvPr/>
        </p:nvSpPr>
        <p:spPr bwMode="auto">
          <a:xfrm>
            <a:off x="2725430" y="1569324"/>
            <a:ext cx="499254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2</a:t>
            </a:r>
            <a:r>
              <a:rPr lang="ko-KR" altLang="en-US" sz="900" dirty="0" err="1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차분류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272350" y="134071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1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pic>
        <p:nvPicPr>
          <p:cNvPr id="60" name="Picture 3"/>
          <p:cNvPicPr>
            <a:picLocks noChangeAspect="1" noChangeArrowheads="1"/>
          </p:cNvPicPr>
          <p:nvPr/>
        </p:nvPicPr>
        <p:blipFill>
          <a:blip r:embed="rId2" cstate="print"/>
          <a:srcRect l="66232" t="39690" r="30424" b="58009"/>
          <a:stretch>
            <a:fillRect/>
          </a:stretch>
        </p:blipFill>
        <p:spPr bwMode="auto">
          <a:xfrm>
            <a:off x="632400" y="2846700"/>
            <a:ext cx="5619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" name="실행 단추: 앞으로 또는 다음 60">
            <a:hlinkClick r:id="" action="ppaction://hlinkshowjump?jump=nextslide" highlightClick="1"/>
          </p:cNvPr>
          <p:cNvSpPr/>
          <p:nvPr/>
        </p:nvSpPr>
        <p:spPr bwMode="auto">
          <a:xfrm rot="5400000">
            <a:off x="2302273" y="1638259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62" name="실행 단추: 앞으로 또는 다음 61">
            <a:hlinkClick r:id="" action="ppaction://hlinkshowjump?jump=nextslide" highlightClick="1"/>
          </p:cNvPr>
          <p:cNvSpPr/>
          <p:nvPr/>
        </p:nvSpPr>
        <p:spPr bwMode="auto">
          <a:xfrm rot="5400000">
            <a:off x="3647311" y="1638259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pic>
        <p:nvPicPr>
          <p:cNvPr id="1036" name="Picture 1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9815" y="3166360"/>
            <a:ext cx="4962525" cy="1266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27" name="직사각형 26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 기준정보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기준정보 관리</a:t>
            </a:r>
          </a:p>
        </p:txBody>
      </p:sp>
      <p:sp>
        <p:nvSpPr>
          <p:cNvPr id="29" name="직사각형 28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err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제품군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제품코드 관리</a:t>
            </a:r>
          </a:p>
        </p:txBody>
      </p:sp>
      <p:sp>
        <p:nvSpPr>
          <p:cNvPr id="30" name="직사각형 29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31" name="직사각형 30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2013.04.31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박민수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2613064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OEM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관리 화면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고객사명으로 검색 가능함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및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데이터 추가 및 삭제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화면 입력 항목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OEM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고객사명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법인코드 저장일자 자동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/>
        </p:nvGraphicFramePr>
        <p:xfrm>
          <a:off x="550615" y="155674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8" name="직사각형 47"/>
          <p:cNvSpPr/>
          <p:nvPr/>
        </p:nvSpPr>
        <p:spPr bwMode="auto">
          <a:xfrm>
            <a:off x="1929408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88380" y="1484740"/>
            <a:ext cx="3528392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1" name="TextBox 36"/>
          <p:cNvSpPr txBox="1">
            <a:spLocks noChangeArrowheads="1"/>
          </p:cNvSpPr>
          <p:nvPr/>
        </p:nvSpPr>
        <p:spPr bwMode="auto">
          <a:xfrm>
            <a:off x="1424484" y="1569324"/>
            <a:ext cx="499254" cy="215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고객사명</a:t>
            </a:r>
          </a:p>
        </p:txBody>
      </p:sp>
      <p:sp>
        <p:nvSpPr>
          <p:cNvPr id="57" name="타원 56"/>
          <p:cNvSpPr/>
          <p:nvPr/>
        </p:nvSpPr>
        <p:spPr>
          <a:xfrm>
            <a:off x="272350" y="134071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1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124"/>
          <p:cNvSpPr>
            <a:spLocks noChangeArrowheads="1"/>
          </p:cNvSpPr>
          <p:nvPr/>
        </p:nvSpPr>
        <p:spPr bwMode="auto">
          <a:xfrm>
            <a:off x="397494" y="2708900"/>
            <a:ext cx="5137798" cy="223231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258588" y="263689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2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2" cstate="print"/>
          <a:srcRect l="66232" t="39690" r="30424" b="58009"/>
          <a:stretch>
            <a:fillRect/>
          </a:stretch>
        </p:blipFill>
        <p:spPr bwMode="auto">
          <a:xfrm>
            <a:off x="632400" y="2846700"/>
            <a:ext cx="5619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400" y="3356990"/>
            <a:ext cx="3686175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23" name="직사각형 22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 기준정보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02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기준정보 관리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OEM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정보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2013.04.31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박민수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2803564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OEM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관리 화면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고객사명으로 검색 가능함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및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데이터 추가 및 삭제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화면 입력 항목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국가 코드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선택 가능하도록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법인코드 저장일자 자동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/>
        </p:nvGraphicFramePr>
        <p:xfrm>
          <a:off x="550615" y="155674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8" name="직사각형 47"/>
          <p:cNvSpPr/>
          <p:nvPr/>
        </p:nvSpPr>
        <p:spPr bwMode="auto">
          <a:xfrm>
            <a:off x="1929408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88380" y="1484740"/>
            <a:ext cx="3528392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1" name="TextBox 36"/>
          <p:cNvSpPr txBox="1">
            <a:spLocks noChangeArrowheads="1"/>
          </p:cNvSpPr>
          <p:nvPr/>
        </p:nvSpPr>
        <p:spPr bwMode="auto">
          <a:xfrm>
            <a:off x="1424484" y="1569324"/>
            <a:ext cx="499254" cy="215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err="1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법인명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272350" y="134071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1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124"/>
          <p:cNvSpPr>
            <a:spLocks noChangeArrowheads="1"/>
          </p:cNvSpPr>
          <p:nvPr/>
        </p:nvSpPr>
        <p:spPr bwMode="auto">
          <a:xfrm>
            <a:off x="397494" y="2708900"/>
            <a:ext cx="5137798" cy="223231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258588" y="263689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2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2" cstate="print"/>
          <a:srcRect l="66232" t="39690" r="30424" b="58009"/>
          <a:stretch>
            <a:fillRect/>
          </a:stretch>
        </p:blipFill>
        <p:spPr bwMode="auto">
          <a:xfrm>
            <a:off x="632400" y="2846700"/>
            <a:ext cx="5619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615" y="3159805"/>
            <a:ext cx="4581525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27" name="실행 단추: 앞으로 또는 다음 26">
            <a:hlinkClick r:id="" action="ppaction://hlinkshowjump?jump=nextslide" highlightClick="1"/>
          </p:cNvPr>
          <p:cNvSpPr/>
          <p:nvPr/>
        </p:nvSpPr>
        <p:spPr bwMode="auto">
          <a:xfrm rot="5400000">
            <a:off x="3094183" y="3353599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 기준정보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03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기준정보 관리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법인 정보</a:t>
            </a:r>
          </a:p>
        </p:txBody>
      </p:sp>
      <p:sp>
        <p:nvSpPr>
          <p:cNvPr id="28" name="직사각형 27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9" name="직사각형 28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2013.04.31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박민수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3146464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공장 정보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관리 화면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공장명으로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검색 가능함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및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데이터 추가 및 삭제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화면 입력 항목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공장코드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공장명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 코드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법인코드 관리 화면에 등록된 코드를 선택할 수 있도록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선택시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법임영이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함께 보이도록 함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법인명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법인코드에 따라 자동으로 보여줌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공장 코드 저장일자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/>
        </p:nvGraphicFramePr>
        <p:xfrm>
          <a:off x="550615" y="155674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8" name="직사각형 47"/>
          <p:cNvSpPr/>
          <p:nvPr/>
        </p:nvSpPr>
        <p:spPr bwMode="auto">
          <a:xfrm>
            <a:off x="1929408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88380" y="1484740"/>
            <a:ext cx="3528392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1" name="TextBox 36"/>
          <p:cNvSpPr txBox="1">
            <a:spLocks noChangeArrowheads="1"/>
          </p:cNvSpPr>
          <p:nvPr/>
        </p:nvSpPr>
        <p:spPr bwMode="auto">
          <a:xfrm>
            <a:off x="1424484" y="1569324"/>
            <a:ext cx="499254" cy="215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공장명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272350" y="134071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1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124"/>
          <p:cNvSpPr>
            <a:spLocks noChangeArrowheads="1"/>
          </p:cNvSpPr>
          <p:nvPr/>
        </p:nvSpPr>
        <p:spPr bwMode="auto">
          <a:xfrm>
            <a:off x="397494" y="2708900"/>
            <a:ext cx="5137798" cy="223231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258588" y="263689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2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2" cstate="print"/>
          <a:srcRect l="66232" t="39690" r="30424" b="58009"/>
          <a:stretch>
            <a:fillRect/>
          </a:stretch>
        </p:blipFill>
        <p:spPr bwMode="auto">
          <a:xfrm>
            <a:off x="632400" y="2846700"/>
            <a:ext cx="5619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8380" y="3356990"/>
            <a:ext cx="4902890" cy="8667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32" name="실행 단추: 앞으로 또는 다음 31">
            <a:hlinkClick r:id="" action="ppaction://hlinkshowjump?jump=nextslide" highlightClick="1"/>
          </p:cNvPr>
          <p:cNvSpPr/>
          <p:nvPr/>
        </p:nvSpPr>
        <p:spPr bwMode="auto">
          <a:xfrm rot="5400000">
            <a:off x="2796091" y="3546884"/>
            <a:ext cx="127186" cy="1339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 기준정보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04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기준정보 관리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공장 정보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8" name="직사각형 27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2013.04.31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박민수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2613064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수주 칼락 사유 항목 관리 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공장명으로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검색 가능함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및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데이터 추가 및 삭제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화면 입력 항목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사유코드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사유명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공장 코드 저장일자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/>
        </p:nvGraphicFramePr>
        <p:xfrm>
          <a:off x="550615" y="155674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8" name="직사각형 47"/>
          <p:cNvSpPr/>
          <p:nvPr/>
        </p:nvSpPr>
        <p:spPr bwMode="auto">
          <a:xfrm>
            <a:off x="1929408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88380" y="1484740"/>
            <a:ext cx="3528392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1" name="TextBox 36"/>
          <p:cNvSpPr txBox="1">
            <a:spLocks noChangeArrowheads="1"/>
          </p:cNvSpPr>
          <p:nvPr/>
        </p:nvSpPr>
        <p:spPr bwMode="auto">
          <a:xfrm>
            <a:off x="1424484" y="1569324"/>
            <a:ext cx="499254" cy="215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탈락사유</a:t>
            </a:r>
          </a:p>
        </p:txBody>
      </p:sp>
      <p:sp>
        <p:nvSpPr>
          <p:cNvPr id="57" name="타원 56"/>
          <p:cNvSpPr/>
          <p:nvPr/>
        </p:nvSpPr>
        <p:spPr>
          <a:xfrm>
            <a:off x="272350" y="134071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1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124"/>
          <p:cNvSpPr>
            <a:spLocks noChangeArrowheads="1"/>
          </p:cNvSpPr>
          <p:nvPr/>
        </p:nvSpPr>
        <p:spPr bwMode="auto">
          <a:xfrm>
            <a:off x="397494" y="2708900"/>
            <a:ext cx="5137798" cy="223231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258588" y="263689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2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2" cstate="print"/>
          <a:srcRect l="66232" t="39690" r="30424" b="58009"/>
          <a:stretch>
            <a:fillRect/>
          </a:stretch>
        </p:blipFill>
        <p:spPr bwMode="auto">
          <a:xfrm>
            <a:off x="632400" y="2846700"/>
            <a:ext cx="5619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7785" y="3233555"/>
            <a:ext cx="4867275" cy="7715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23" name="직사각형 22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 기준정보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05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기준정보 관리</a:t>
            </a:r>
          </a:p>
        </p:txBody>
      </p:sp>
      <p:sp>
        <p:nvSpPr>
          <p:cNvPr id="25" name="직사각형 24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수주 탈락 사유</a:t>
            </a:r>
          </a:p>
        </p:txBody>
      </p:sp>
      <p:sp>
        <p:nvSpPr>
          <p:cNvPr id="26" name="직사각형 2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2013.04.31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박민수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2955964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목표 단계 주요 업무의 표준 일정을 관리하는 화면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표준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Task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및 주관부서로 검색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및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데이터 추가 및 삭제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필수 입력 항목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code,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표준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task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소요일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주관부서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선택 입력 항목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선행 업무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데이터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자동 저장 및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/>
        </p:nvGraphicFramePr>
        <p:xfrm>
          <a:off x="550615" y="155674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0" name="직사각형 49"/>
          <p:cNvSpPr/>
          <p:nvPr/>
        </p:nvSpPr>
        <p:spPr>
          <a:xfrm>
            <a:off x="488380" y="1484740"/>
            <a:ext cx="374400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272350" y="134071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1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124"/>
          <p:cNvSpPr>
            <a:spLocks noChangeArrowheads="1"/>
          </p:cNvSpPr>
          <p:nvPr/>
        </p:nvSpPr>
        <p:spPr bwMode="auto">
          <a:xfrm>
            <a:off x="397494" y="2225910"/>
            <a:ext cx="5591356" cy="19442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258588" y="215390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2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2" cstate="print"/>
          <a:srcRect l="66232" t="39690" r="30424" b="58009"/>
          <a:stretch>
            <a:fillRect/>
          </a:stretch>
        </p:blipFill>
        <p:spPr bwMode="auto">
          <a:xfrm>
            <a:off x="632400" y="1988800"/>
            <a:ext cx="5619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" name="TextBox 50"/>
          <p:cNvSpPr txBox="1">
            <a:spLocks noChangeArrowheads="1"/>
          </p:cNvSpPr>
          <p:nvPr/>
        </p:nvSpPr>
        <p:spPr bwMode="auto">
          <a:xfrm>
            <a:off x="467767" y="2204830"/>
            <a:ext cx="1820863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가는각진제목체" pitchFamily="18" charset="-127"/>
              </a:rPr>
              <a:t>◈ 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가는각진제목체" pitchFamily="18" charset="-127"/>
              </a:rPr>
              <a:t>견적단계 표준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가는각진제목체" pitchFamily="18" charset="-127"/>
              </a:rPr>
              <a:t>일정</a:t>
            </a: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124"/>
          <p:cNvSpPr>
            <a:spLocks noChangeArrowheads="1"/>
          </p:cNvSpPr>
          <p:nvPr/>
        </p:nvSpPr>
        <p:spPr bwMode="auto">
          <a:xfrm>
            <a:off x="397492" y="4221110"/>
            <a:ext cx="5591357" cy="19442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26" name="TextBox 50"/>
          <p:cNvSpPr txBox="1">
            <a:spLocks noChangeArrowheads="1"/>
          </p:cNvSpPr>
          <p:nvPr/>
        </p:nvSpPr>
        <p:spPr bwMode="auto">
          <a:xfrm>
            <a:off x="454470" y="4263088"/>
            <a:ext cx="1820863" cy="24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가는각진제목체" pitchFamily="18" charset="-127"/>
              </a:rPr>
              <a:t>◈ 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가는각진제목체" pitchFamily="18" charset="-127"/>
              </a:rPr>
              <a:t>목표단계 표준 </a:t>
            </a:r>
            <a:r>
              <a:rPr lang="ko-KR" altLang="en-US" sz="1000" dirty="0">
                <a:solidFill>
                  <a:srgbClr val="000000"/>
                </a:solidFill>
                <a:latin typeface="맑은 고딕" pitchFamily="50" charset="-127"/>
                <a:ea typeface="가는각진제목체" pitchFamily="18" charset="-127"/>
              </a:rPr>
              <a:t>일정</a:t>
            </a:r>
            <a:endParaRPr lang="ko-KR" altLang="en-US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8379" y="2480170"/>
            <a:ext cx="5436000" cy="1579039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29" name="직사각형 28"/>
          <p:cNvSpPr/>
          <p:nvPr/>
        </p:nvSpPr>
        <p:spPr bwMode="auto">
          <a:xfrm>
            <a:off x="2217502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3513682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31" name="TextBox 36"/>
          <p:cNvSpPr txBox="1">
            <a:spLocks noChangeArrowheads="1"/>
          </p:cNvSpPr>
          <p:nvPr/>
        </p:nvSpPr>
        <p:spPr bwMode="auto">
          <a:xfrm>
            <a:off x="1460610" y="1569324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표준</a:t>
            </a:r>
            <a:r>
              <a:rPr lang="en-US" altLang="ko-KR" sz="900" dirty="0" err="1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Taks</a:t>
            </a:r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명</a:t>
            </a:r>
          </a:p>
        </p:txBody>
      </p:sp>
      <p:sp>
        <p:nvSpPr>
          <p:cNvPr id="32" name="TextBox 36"/>
          <p:cNvSpPr txBox="1">
            <a:spLocks noChangeArrowheads="1"/>
          </p:cNvSpPr>
          <p:nvPr/>
        </p:nvSpPr>
        <p:spPr bwMode="auto">
          <a:xfrm>
            <a:off x="2941536" y="1569324"/>
            <a:ext cx="720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주관부서</a:t>
            </a:r>
          </a:p>
        </p:txBody>
      </p:sp>
      <p:sp>
        <p:nvSpPr>
          <p:cNvPr id="39" name="실행 단추: 앞으로 또는 다음 38">
            <a:hlinkClick r:id="" action="ppaction://hlinkshowjump?jump=nextslide" highlightClick="1"/>
          </p:cNvPr>
          <p:cNvSpPr/>
          <p:nvPr/>
        </p:nvSpPr>
        <p:spPr bwMode="auto">
          <a:xfrm rot="5400000">
            <a:off x="3899193" y="1638259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40" name="실행 단추: 앞으로 또는 다음 39">
            <a:hlinkClick r:id="" action="ppaction://hlinkshowjump?jump=nextslide" highlightClick="1"/>
          </p:cNvPr>
          <p:cNvSpPr/>
          <p:nvPr/>
        </p:nvSpPr>
        <p:spPr bwMode="auto">
          <a:xfrm rot="5400000">
            <a:off x="4488274" y="2671799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41" name="실행 단추: 앞으로 또는 다음 40">
            <a:hlinkClick r:id="" action="ppaction://hlinkshowjump?jump=nextslide" highlightClick="1"/>
          </p:cNvPr>
          <p:cNvSpPr/>
          <p:nvPr/>
        </p:nvSpPr>
        <p:spPr bwMode="auto">
          <a:xfrm rot="5400000">
            <a:off x="4488274" y="2848258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42" name="실행 단추: 앞으로 또는 다음 41">
            <a:hlinkClick r:id="" action="ppaction://hlinkshowjump?jump=nextslide" highlightClick="1"/>
          </p:cNvPr>
          <p:cNvSpPr/>
          <p:nvPr/>
        </p:nvSpPr>
        <p:spPr bwMode="auto">
          <a:xfrm rot="5400000">
            <a:off x="4488274" y="3024717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43" name="실행 단추: 앞으로 또는 다음 42">
            <a:hlinkClick r:id="" action="ppaction://hlinkshowjump?jump=nextslide" highlightClick="1"/>
          </p:cNvPr>
          <p:cNvSpPr/>
          <p:nvPr/>
        </p:nvSpPr>
        <p:spPr bwMode="auto">
          <a:xfrm rot="5400000">
            <a:off x="4488274" y="3201176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44" name="실행 단추: 앞으로 또는 다음 43">
            <a:hlinkClick r:id="" action="ppaction://hlinkshowjump?jump=nextslide" highlightClick="1"/>
          </p:cNvPr>
          <p:cNvSpPr/>
          <p:nvPr/>
        </p:nvSpPr>
        <p:spPr bwMode="auto">
          <a:xfrm rot="5400000">
            <a:off x="4488274" y="3377635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45" name="실행 단추: 앞으로 또는 다음 44">
            <a:hlinkClick r:id="" action="ppaction://hlinkshowjump?jump=nextslide" highlightClick="1"/>
          </p:cNvPr>
          <p:cNvSpPr/>
          <p:nvPr/>
        </p:nvSpPr>
        <p:spPr bwMode="auto">
          <a:xfrm rot="5400000">
            <a:off x="4488274" y="3554094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46" name="실행 단추: 앞으로 또는 다음 45">
            <a:hlinkClick r:id="" action="ppaction://hlinkshowjump?jump=nextslide" highlightClick="1"/>
          </p:cNvPr>
          <p:cNvSpPr/>
          <p:nvPr/>
        </p:nvSpPr>
        <p:spPr bwMode="auto">
          <a:xfrm rot="5400000">
            <a:off x="4488274" y="3730553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49" name="실행 단추: 앞으로 또는 다음 48">
            <a:hlinkClick r:id="" action="ppaction://hlinkshowjump?jump=nextslide" highlightClick="1"/>
          </p:cNvPr>
          <p:cNvSpPr/>
          <p:nvPr/>
        </p:nvSpPr>
        <p:spPr bwMode="auto">
          <a:xfrm rot="5400000">
            <a:off x="3922651" y="2684499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2" name="실행 단추: 앞으로 또는 다음 51">
            <a:hlinkClick r:id="" action="ppaction://hlinkshowjump?jump=nextslide" highlightClick="1"/>
          </p:cNvPr>
          <p:cNvSpPr/>
          <p:nvPr/>
        </p:nvSpPr>
        <p:spPr bwMode="auto">
          <a:xfrm rot="5400000">
            <a:off x="3922651" y="2860958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3" name="실행 단추: 앞으로 또는 다음 52">
            <a:hlinkClick r:id="" action="ppaction://hlinkshowjump?jump=nextslide" highlightClick="1"/>
          </p:cNvPr>
          <p:cNvSpPr/>
          <p:nvPr/>
        </p:nvSpPr>
        <p:spPr bwMode="auto">
          <a:xfrm rot="5400000">
            <a:off x="3922651" y="3037417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4" name="실행 단추: 앞으로 또는 다음 53">
            <a:hlinkClick r:id="" action="ppaction://hlinkshowjump?jump=nextslide" highlightClick="1"/>
          </p:cNvPr>
          <p:cNvSpPr/>
          <p:nvPr/>
        </p:nvSpPr>
        <p:spPr bwMode="auto">
          <a:xfrm rot="5400000">
            <a:off x="3922651" y="3213876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5" name="실행 단추: 앞으로 또는 다음 54">
            <a:hlinkClick r:id="" action="ppaction://hlinkshowjump?jump=nextslide" highlightClick="1"/>
          </p:cNvPr>
          <p:cNvSpPr/>
          <p:nvPr/>
        </p:nvSpPr>
        <p:spPr bwMode="auto">
          <a:xfrm rot="5400000">
            <a:off x="3922651" y="3390335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6" name="실행 단추: 앞으로 또는 다음 55">
            <a:hlinkClick r:id="" action="ppaction://hlinkshowjump?jump=nextslide" highlightClick="1"/>
          </p:cNvPr>
          <p:cNvSpPr/>
          <p:nvPr/>
        </p:nvSpPr>
        <p:spPr bwMode="auto">
          <a:xfrm rot="5400000">
            <a:off x="3922651" y="3566794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8" name="실행 단추: 앞으로 또는 다음 57">
            <a:hlinkClick r:id="" action="ppaction://hlinkshowjump?jump=nextslide" highlightClick="1"/>
          </p:cNvPr>
          <p:cNvSpPr/>
          <p:nvPr/>
        </p:nvSpPr>
        <p:spPr bwMode="auto">
          <a:xfrm rot="5400000">
            <a:off x="3922651" y="3743253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8382" y="4509694"/>
            <a:ext cx="5435998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73" name="실행 단추: 앞으로 또는 다음 72">
            <a:hlinkClick r:id="" action="ppaction://hlinkshowjump?jump=nextslide" highlightClick="1"/>
          </p:cNvPr>
          <p:cNvSpPr/>
          <p:nvPr/>
        </p:nvSpPr>
        <p:spPr bwMode="auto">
          <a:xfrm rot="5400000">
            <a:off x="4454364" y="4734819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74" name="실행 단추: 앞으로 또는 다음 73">
            <a:hlinkClick r:id="" action="ppaction://hlinkshowjump?jump=nextslide" highlightClick="1"/>
          </p:cNvPr>
          <p:cNvSpPr/>
          <p:nvPr/>
        </p:nvSpPr>
        <p:spPr bwMode="auto">
          <a:xfrm rot="5400000">
            <a:off x="4454364" y="4911278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75" name="실행 단추: 앞으로 또는 다음 74">
            <a:hlinkClick r:id="" action="ppaction://hlinkshowjump?jump=nextslide" highlightClick="1"/>
          </p:cNvPr>
          <p:cNvSpPr/>
          <p:nvPr/>
        </p:nvSpPr>
        <p:spPr bwMode="auto">
          <a:xfrm rot="5400000">
            <a:off x="4454364" y="5087737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76" name="실행 단추: 앞으로 또는 다음 75">
            <a:hlinkClick r:id="" action="ppaction://hlinkshowjump?jump=nextslide" highlightClick="1"/>
          </p:cNvPr>
          <p:cNvSpPr/>
          <p:nvPr/>
        </p:nvSpPr>
        <p:spPr bwMode="auto">
          <a:xfrm rot="5400000">
            <a:off x="4454364" y="5264196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77" name="실행 단추: 앞으로 또는 다음 76">
            <a:hlinkClick r:id="" action="ppaction://hlinkshowjump?jump=nextslide" highlightClick="1"/>
          </p:cNvPr>
          <p:cNvSpPr/>
          <p:nvPr/>
        </p:nvSpPr>
        <p:spPr bwMode="auto">
          <a:xfrm rot="5400000">
            <a:off x="4454364" y="5440655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78" name="실행 단추: 앞으로 또는 다음 77">
            <a:hlinkClick r:id="" action="ppaction://hlinkshowjump?jump=nextslide" highlightClick="1"/>
          </p:cNvPr>
          <p:cNvSpPr/>
          <p:nvPr/>
        </p:nvSpPr>
        <p:spPr bwMode="auto">
          <a:xfrm rot="5400000">
            <a:off x="4454364" y="5617114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79" name="실행 단추: 앞으로 또는 다음 78">
            <a:hlinkClick r:id="" action="ppaction://hlinkshowjump?jump=nextslide" highlightClick="1"/>
          </p:cNvPr>
          <p:cNvSpPr/>
          <p:nvPr/>
        </p:nvSpPr>
        <p:spPr bwMode="auto">
          <a:xfrm rot="5400000">
            <a:off x="4454364" y="5793573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80" name="실행 단추: 앞으로 또는 다음 79">
            <a:hlinkClick r:id="" action="ppaction://hlinkshowjump?jump=nextslide" highlightClick="1"/>
          </p:cNvPr>
          <p:cNvSpPr/>
          <p:nvPr/>
        </p:nvSpPr>
        <p:spPr bwMode="auto">
          <a:xfrm rot="5400000">
            <a:off x="3888741" y="4734819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81" name="실행 단추: 앞으로 또는 다음 80">
            <a:hlinkClick r:id="" action="ppaction://hlinkshowjump?jump=nextslide" highlightClick="1"/>
          </p:cNvPr>
          <p:cNvSpPr/>
          <p:nvPr/>
        </p:nvSpPr>
        <p:spPr bwMode="auto">
          <a:xfrm rot="5400000">
            <a:off x="3888741" y="4911278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82" name="실행 단추: 앞으로 또는 다음 81">
            <a:hlinkClick r:id="" action="ppaction://hlinkshowjump?jump=nextslide" highlightClick="1"/>
          </p:cNvPr>
          <p:cNvSpPr/>
          <p:nvPr/>
        </p:nvSpPr>
        <p:spPr bwMode="auto">
          <a:xfrm rot="5400000">
            <a:off x="3888741" y="5087737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83" name="실행 단추: 앞으로 또는 다음 82">
            <a:hlinkClick r:id="" action="ppaction://hlinkshowjump?jump=nextslide" highlightClick="1"/>
          </p:cNvPr>
          <p:cNvSpPr/>
          <p:nvPr/>
        </p:nvSpPr>
        <p:spPr bwMode="auto">
          <a:xfrm rot="5400000">
            <a:off x="3888741" y="5264196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84" name="실행 단추: 앞으로 또는 다음 83">
            <a:hlinkClick r:id="" action="ppaction://hlinkshowjump?jump=nextslide" highlightClick="1"/>
          </p:cNvPr>
          <p:cNvSpPr/>
          <p:nvPr/>
        </p:nvSpPr>
        <p:spPr bwMode="auto">
          <a:xfrm rot="5400000">
            <a:off x="3888741" y="5440655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85" name="실행 단추: 앞으로 또는 다음 84">
            <a:hlinkClick r:id="" action="ppaction://hlinkshowjump?jump=nextslide" highlightClick="1"/>
          </p:cNvPr>
          <p:cNvSpPr/>
          <p:nvPr/>
        </p:nvSpPr>
        <p:spPr bwMode="auto">
          <a:xfrm rot="5400000">
            <a:off x="3888741" y="5617114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86" name="실행 단추: 앞으로 또는 다음 85">
            <a:hlinkClick r:id="" action="ppaction://hlinkshowjump?jump=nextslide" highlightClick="1"/>
          </p:cNvPr>
          <p:cNvSpPr/>
          <p:nvPr/>
        </p:nvSpPr>
        <p:spPr bwMode="auto">
          <a:xfrm rot="5400000">
            <a:off x="3888741" y="5793573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9" name="직사각형 58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 기준정보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06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60" name="직사각형 59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기준정보 관리</a:t>
            </a:r>
          </a:p>
        </p:txBody>
      </p:sp>
      <p:sp>
        <p:nvSpPr>
          <p:cNvPr id="61" name="직사각형 60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목표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/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현상 표준일정 관리</a:t>
            </a:r>
          </a:p>
        </p:txBody>
      </p:sp>
      <p:sp>
        <p:nvSpPr>
          <p:cNvPr id="62" name="직사각형 61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63" name="직사각형 62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2013.04.31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박민수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2994064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견적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목표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현상원가 표시 손익계산서 항목을 관리함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표준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Task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및 주관부서로 검색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항목코드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네자리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코드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특성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1(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값 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), 2(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집계 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항목명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code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에 대한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text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 받음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상위코드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네자리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코드 입력 받음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데이터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자동 저장 및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/>
        </p:nvGraphicFramePr>
        <p:xfrm>
          <a:off x="550615" y="155674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0" name="직사각형 49"/>
          <p:cNvSpPr/>
          <p:nvPr/>
        </p:nvSpPr>
        <p:spPr>
          <a:xfrm>
            <a:off x="488380" y="1484740"/>
            <a:ext cx="374400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272350" y="134071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1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124"/>
          <p:cNvSpPr>
            <a:spLocks noChangeArrowheads="1"/>
          </p:cNvSpPr>
          <p:nvPr/>
        </p:nvSpPr>
        <p:spPr bwMode="auto">
          <a:xfrm>
            <a:off x="397494" y="2225910"/>
            <a:ext cx="5591356" cy="39394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258588" y="215390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2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2" cstate="print"/>
          <a:srcRect l="66232" t="39690" r="30424" b="58009"/>
          <a:stretch>
            <a:fillRect/>
          </a:stretch>
        </p:blipFill>
        <p:spPr bwMode="auto">
          <a:xfrm>
            <a:off x="632400" y="1988800"/>
            <a:ext cx="5619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직사각형 28"/>
          <p:cNvSpPr/>
          <p:nvPr/>
        </p:nvSpPr>
        <p:spPr bwMode="auto">
          <a:xfrm>
            <a:off x="2217502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3513682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31" name="TextBox 36"/>
          <p:cNvSpPr txBox="1">
            <a:spLocks noChangeArrowheads="1"/>
          </p:cNvSpPr>
          <p:nvPr/>
        </p:nvSpPr>
        <p:spPr bwMode="auto">
          <a:xfrm>
            <a:off x="1460610" y="1569324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항목코드</a:t>
            </a:r>
          </a:p>
        </p:txBody>
      </p:sp>
      <p:sp>
        <p:nvSpPr>
          <p:cNvPr id="32" name="TextBox 36"/>
          <p:cNvSpPr txBox="1">
            <a:spLocks noChangeArrowheads="1"/>
          </p:cNvSpPr>
          <p:nvPr/>
        </p:nvSpPr>
        <p:spPr bwMode="auto">
          <a:xfrm>
            <a:off x="2941536" y="1569324"/>
            <a:ext cx="720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err="1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힝목명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615" y="2389253"/>
            <a:ext cx="5266505" cy="240982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25" name="직사각형 24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 기준정보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07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기준정보 관리</a:t>
            </a:r>
          </a:p>
        </p:txBody>
      </p:sp>
      <p:sp>
        <p:nvSpPr>
          <p:cNvPr id="27" name="직사각형 26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손익 항목 관리</a:t>
            </a:r>
          </a:p>
        </p:txBody>
      </p:sp>
      <p:sp>
        <p:nvSpPr>
          <p:cNvPr id="28" name="직사각형 27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36" name="직사각형 35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2013.04.31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박민수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3451264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목표원가시스템 사용자 내역을 관리하는 화면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이름과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팀명으로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검색 가능함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직원 정보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ERP(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또는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PDM)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시스템에서 관리하는 인원 정보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IF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IF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정보와는 별도로 계열사 법인의 직원 정보 입력 가능하도록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구분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I/F(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시스템에서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I/F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된 정보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), Manual(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행추가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등으로 입력된 항목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baseline="0" dirty="0" smtClean="0">
                          <a:solidFill>
                            <a:srgbClr val="FF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IF </a:t>
                      </a:r>
                      <a:r>
                        <a:rPr lang="ko-KR" altLang="en-US" sz="1000" b="1" baseline="0" dirty="0" smtClean="0">
                          <a:solidFill>
                            <a:srgbClr val="FF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된 항목은 수정 및 삭제 불가능함</a:t>
                      </a:r>
                      <a:endParaRPr lang="en-US" altLang="ko-KR" sz="1000" b="1" baseline="0" dirty="0" smtClean="0">
                        <a:solidFill>
                          <a:srgbClr val="FF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변경자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변경일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데이터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저장시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자동 저장 및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graphicFrame>
        <p:nvGraphicFramePr>
          <p:cNvPr id="47" name="표 46"/>
          <p:cNvGraphicFramePr>
            <a:graphicFrameLocks noGrp="1"/>
          </p:cNvGraphicFramePr>
          <p:nvPr/>
        </p:nvGraphicFramePr>
        <p:xfrm>
          <a:off x="550615" y="155674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0" name="직사각형 49"/>
          <p:cNvSpPr/>
          <p:nvPr/>
        </p:nvSpPr>
        <p:spPr>
          <a:xfrm>
            <a:off x="488380" y="1484740"/>
            <a:ext cx="374400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272350" y="134071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1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33" name="직사각형 124"/>
          <p:cNvSpPr>
            <a:spLocks noChangeArrowheads="1"/>
          </p:cNvSpPr>
          <p:nvPr/>
        </p:nvSpPr>
        <p:spPr bwMode="auto">
          <a:xfrm>
            <a:off x="397494" y="2225910"/>
            <a:ext cx="5591356" cy="39394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258588" y="215390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2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pic>
        <p:nvPicPr>
          <p:cNvPr id="35" name="Picture 3"/>
          <p:cNvPicPr>
            <a:picLocks noChangeAspect="1" noChangeArrowheads="1"/>
          </p:cNvPicPr>
          <p:nvPr/>
        </p:nvPicPr>
        <p:blipFill>
          <a:blip r:embed="rId2" cstate="print"/>
          <a:srcRect l="66232" t="39690" r="30424" b="58009"/>
          <a:stretch>
            <a:fillRect/>
          </a:stretch>
        </p:blipFill>
        <p:spPr bwMode="auto">
          <a:xfrm>
            <a:off x="632400" y="1988800"/>
            <a:ext cx="5619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직사각형 28"/>
          <p:cNvSpPr/>
          <p:nvPr/>
        </p:nvSpPr>
        <p:spPr bwMode="auto">
          <a:xfrm>
            <a:off x="2217502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3513682" y="156932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31" name="TextBox 36"/>
          <p:cNvSpPr txBox="1">
            <a:spLocks noChangeArrowheads="1"/>
          </p:cNvSpPr>
          <p:nvPr/>
        </p:nvSpPr>
        <p:spPr bwMode="auto">
          <a:xfrm>
            <a:off x="1460610" y="1569324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이름</a:t>
            </a:r>
          </a:p>
        </p:txBody>
      </p:sp>
      <p:sp>
        <p:nvSpPr>
          <p:cNvPr id="32" name="TextBox 36"/>
          <p:cNvSpPr txBox="1">
            <a:spLocks noChangeArrowheads="1"/>
          </p:cNvSpPr>
          <p:nvPr/>
        </p:nvSpPr>
        <p:spPr bwMode="auto">
          <a:xfrm>
            <a:off x="2941536" y="1569324"/>
            <a:ext cx="720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err="1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팀명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sp>
        <p:nvSpPr>
          <p:cNvPr id="39" name="실행 단추: 앞으로 또는 다음 38">
            <a:hlinkClick r:id="" action="ppaction://hlinkshowjump?jump=nextslide" highlightClick="1"/>
          </p:cNvPr>
          <p:cNvSpPr/>
          <p:nvPr/>
        </p:nvSpPr>
        <p:spPr bwMode="auto">
          <a:xfrm rot="5400000">
            <a:off x="3899193" y="1638259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8511" y="2389253"/>
            <a:ext cx="5328609" cy="12096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26" name="직사각형 25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 기준정보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08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기준정보 관리</a:t>
            </a:r>
          </a:p>
        </p:txBody>
      </p:sp>
      <p:sp>
        <p:nvSpPr>
          <p:cNvPr id="28" name="직사각형 27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사용자 정보 관리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37" name="직사각형 3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2013.04.31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박민수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2644865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원가 산출에 사용된 원가 표준을 관리하는 화면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적용연도 및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From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통화로 검색 가능함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행삭제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데이터 관리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적용연도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 from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통화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환율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 받음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To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통화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KRW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로 고정함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동일 적용 연도 동일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From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통화 기준의 데이터 입력은 에러 처리함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3" name="직사각형 124"/>
          <p:cNvSpPr>
            <a:spLocks noChangeArrowheads="1"/>
          </p:cNvSpPr>
          <p:nvPr/>
        </p:nvSpPr>
        <p:spPr bwMode="auto">
          <a:xfrm>
            <a:off x="397494" y="1889800"/>
            <a:ext cx="5591356" cy="39394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 기준정보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10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기준정보 관리</a:t>
            </a:r>
          </a:p>
        </p:txBody>
      </p:sp>
      <p:sp>
        <p:nvSpPr>
          <p:cNvPr id="28" name="직사각형 27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원가 표준 관리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37" name="직사각형 3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2013.04.31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박민수</a:t>
            </a:r>
          </a:p>
        </p:txBody>
      </p:sp>
      <p:graphicFrame>
        <p:nvGraphicFramePr>
          <p:cNvPr id="38" name="표 37"/>
          <p:cNvGraphicFramePr>
            <a:graphicFrameLocks noGrp="1"/>
          </p:cNvGraphicFramePr>
          <p:nvPr/>
        </p:nvGraphicFramePr>
        <p:xfrm>
          <a:off x="550615" y="215676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0" name="직사각형 39"/>
          <p:cNvSpPr/>
          <p:nvPr/>
        </p:nvSpPr>
        <p:spPr>
          <a:xfrm>
            <a:off x="488380" y="2084760"/>
            <a:ext cx="3744000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272350" y="19407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1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258588" y="296806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2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1928580" y="216934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3297652" y="216934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6" name="TextBox 36"/>
          <p:cNvSpPr txBox="1">
            <a:spLocks noChangeArrowheads="1"/>
          </p:cNvSpPr>
          <p:nvPr/>
        </p:nvSpPr>
        <p:spPr bwMode="auto">
          <a:xfrm>
            <a:off x="1460610" y="2169344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적용연도</a:t>
            </a: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2576670" y="2169344"/>
            <a:ext cx="720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en-US" altLang="ko-KR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From </a:t>
            </a:r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통화</a:t>
            </a:r>
          </a:p>
        </p:txBody>
      </p:sp>
      <p:sp>
        <p:nvSpPr>
          <p:cNvPr id="49" name="실행 단추: 앞으로 또는 다음 48">
            <a:hlinkClick r:id="" action="ppaction://hlinkshowjump?jump=nextslide" highlightClick="1"/>
          </p:cNvPr>
          <p:cNvSpPr/>
          <p:nvPr/>
        </p:nvSpPr>
        <p:spPr bwMode="auto">
          <a:xfrm rot="5400000">
            <a:off x="3683163" y="2238279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1" name="한쪽 모서리가 잘린 사각형 50"/>
          <p:cNvSpPr/>
          <p:nvPr/>
        </p:nvSpPr>
        <p:spPr bwMode="auto">
          <a:xfrm>
            <a:off x="1277415" y="1628750"/>
            <a:ext cx="720000" cy="252670"/>
          </a:xfrm>
          <a:prstGeom prst="snip1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인상률</a:t>
            </a:r>
            <a:endParaRPr lang="ko-KR" altLang="en-US" sz="9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52" name="한쪽 모서리가 잘린 사각형 51"/>
          <p:cNvSpPr/>
          <p:nvPr/>
        </p:nvSpPr>
        <p:spPr bwMode="auto">
          <a:xfrm>
            <a:off x="558230" y="1628750"/>
            <a:ext cx="720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환율</a:t>
            </a:r>
          </a:p>
        </p:txBody>
      </p:sp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560390" y="3059395"/>
          <a:ext cx="3876115" cy="2409825"/>
        </p:xfrm>
        <a:graphic>
          <a:graphicData uri="http://schemas.openxmlformats.org/drawingml/2006/table">
            <a:tbl>
              <a:tblPr/>
              <a:tblGrid>
                <a:gridCol w="775223"/>
                <a:gridCol w="775223"/>
                <a:gridCol w="775223"/>
                <a:gridCol w="775223"/>
                <a:gridCol w="775223"/>
              </a:tblGrid>
              <a:tr h="342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순번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적용연도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From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통화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To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통화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환율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USD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KRW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1,200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EUR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KRW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1,350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JPY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KRW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1,500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2013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USD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KRW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1,100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2013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EUR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KRW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1,400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2013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JPY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KRW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1,600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2" cstate="print"/>
          <a:srcRect l="66232" t="39690" r="30424" b="58009"/>
          <a:stretch>
            <a:fillRect/>
          </a:stretch>
        </p:blipFill>
        <p:spPr bwMode="auto">
          <a:xfrm>
            <a:off x="632400" y="2660830"/>
            <a:ext cx="5619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3025865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원가 산출에 사용된 원가 표준을 관리하는 화면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적용연도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 및 항목으로 검색 가능함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행삭제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 데이터 관리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적용연도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 받음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 기준정보에서 등록된 항목 중에서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항목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임금인상률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물가상승률 중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인상률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값 입력 받음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적용연도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항목 기준의 중복데이터 입력 시 저장 안됨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3" name="직사각형 124"/>
          <p:cNvSpPr>
            <a:spLocks noChangeArrowheads="1"/>
          </p:cNvSpPr>
          <p:nvPr/>
        </p:nvSpPr>
        <p:spPr bwMode="auto">
          <a:xfrm>
            <a:off x="397494" y="1889800"/>
            <a:ext cx="5591356" cy="39394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 기준정보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10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기준정보 관리</a:t>
            </a:r>
          </a:p>
        </p:txBody>
      </p:sp>
      <p:sp>
        <p:nvSpPr>
          <p:cNvPr id="28" name="직사각형 27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원가 표준 관리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37" name="직사각형 3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2013.04.31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박민수</a:t>
            </a:r>
          </a:p>
        </p:txBody>
      </p:sp>
      <p:graphicFrame>
        <p:nvGraphicFramePr>
          <p:cNvPr id="38" name="표 37"/>
          <p:cNvGraphicFramePr>
            <a:graphicFrameLocks noGrp="1"/>
          </p:cNvGraphicFramePr>
          <p:nvPr/>
        </p:nvGraphicFramePr>
        <p:xfrm>
          <a:off x="550615" y="215676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0" name="직사각형 39"/>
          <p:cNvSpPr/>
          <p:nvPr/>
        </p:nvSpPr>
        <p:spPr>
          <a:xfrm>
            <a:off x="488380" y="2084760"/>
            <a:ext cx="4688136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272350" y="19407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1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258588" y="2968062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2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1929462" y="216934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3009612" y="216934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6" name="TextBox 36"/>
          <p:cNvSpPr txBox="1">
            <a:spLocks noChangeArrowheads="1"/>
          </p:cNvSpPr>
          <p:nvPr/>
        </p:nvSpPr>
        <p:spPr bwMode="auto">
          <a:xfrm>
            <a:off x="1460610" y="2169344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적용연도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2649662" y="2169344"/>
            <a:ext cx="720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법인</a:t>
            </a:r>
          </a:p>
        </p:txBody>
      </p:sp>
      <p:sp>
        <p:nvSpPr>
          <p:cNvPr id="49" name="실행 단추: 앞으로 또는 다음 48">
            <a:hlinkClick r:id="" action="ppaction://hlinkshowjump?jump=nextslide" highlightClick="1"/>
          </p:cNvPr>
          <p:cNvSpPr/>
          <p:nvPr/>
        </p:nvSpPr>
        <p:spPr bwMode="auto">
          <a:xfrm rot="5400000">
            <a:off x="3395123" y="2238279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51" name="한쪽 모서리가 잘린 사각형 50"/>
          <p:cNvSpPr/>
          <p:nvPr/>
        </p:nvSpPr>
        <p:spPr bwMode="auto">
          <a:xfrm>
            <a:off x="1277415" y="1628750"/>
            <a:ext cx="720000" cy="252670"/>
          </a:xfrm>
          <a:prstGeom prst="snip1Rect">
            <a:avLst/>
          </a:prstGeom>
          <a:solidFill>
            <a:schemeClr val="bg1">
              <a:lumMod val="75000"/>
            </a:schemeClr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인상률</a:t>
            </a:r>
          </a:p>
        </p:txBody>
      </p:sp>
      <p:sp>
        <p:nvSpPr>
          <p:cNvPr id="52" name="한쪽 모서리가 잘린 사각형 51"/>
          <p:cNvSpPr/>
          <p:nvPr/>
        </p:nvSpPr>
        <p:spPr bwMode="auto">
          <a:xfrm>
            <a:off x="558230" y="1628750"/>
            <a:ext cx="720000" cy="252670"/>
          </a:xfrm>
          <a:prstGeom prst="snip1Rect">
            <a:avLst/>
          </a:prstGeom>
          <a:solidFill>
            <a:schemeClr val="bg1"/>
          </a:solidFill>
          <a:ln w="9525" algn="ctr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r>
              <a:rPr lang="ko-KR" altLang="en-US" sz="9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환율</a:t>
            </a:r>
          </a:p>
        </p:txBody>
      </p:sp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560390" y="3059395"/>
          <a:ext cx="4522930" cy="2409825"/>
        </p:xfrm>
        <a:graphic>
          <a:graphicData uri="http://schemas.openxmlformats.org/drawingml/2006/table">
            <a:tbl>
              <a:tblPr/>
              <a:tblGrid>
                <a:gridCol w="904586"/>
                <a:gridCol w="904586"/>
                <a:gridCol w="904586"/>
                <a:gridCol w="1030762"/>
                <a:gridCol w="778410"/>
              </a:tblGrid>
              <a:tr h="342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순번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적용연도</a:t>
                      </a:r>
                      <a:endParaRPr lang="ko-KR" altLang="en-US" sz="1000" b="1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법인</a:t>
                      </a:r>
                      <a:endParaRPr lang="ko-KR" altLang="en-US" sz="1000" b="1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항목</a:t>
                      </a:r>
                      <a:endParaRPr lang="ko-KR" altLang="en-US" sz="1000" b="1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인상률</a:t>
                      </a:r>
                      <a:endParaRPr lang="ko-KR" altLang="en-US" sz="1000" b="1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임금인상률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3%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물가상승률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4%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2013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임금인상률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3%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2013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물가상승률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4%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..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..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..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..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…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…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2" cstate="print"/>
          <a:srcRect l="66232" t="39690" r="30424" b="58009"/>
          <a:stretch>
            <a:fillRect/>
          </a:stretch>
        </p:blipFill>
        <p:spPr bwMode="auto">
          <a:xfrm>
            <a:off x="632400" y="2660830"/>
            <a:ext cx="5619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" name="실행 단추: 앞으로 또는 다음 28">
            <a:hlinkClick r:id="" action="ppaction://hlinkshowjump?jump=nextslide" highlightClick="1"/>
          </p:cNvPr>
          <p:cNvSpPr/>
          <p:nvPr/>
        </p:nvSpPr>
        <p:spPr bwMode="auto">
          <a:xfrm rot="5400000">
            <a:off x="4153311" y="3437049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30" name="실행 단추: 앞으로 또는 다음 29">
            <a:hlinkClick r:id="" action="ppaction://hlinkshowjump?jump=nextslide" highlightClick="1"/>
          </p:cNvPr>
          <p:cNvSpPr/>
          <p:nvPr/>
        </p:nvSpPr>
        <p:spPr bwMode="auto">
          <a:xfrm rot="5400000">
            <a:off x="4151381" y="3623302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31" name="실행 단추: 앞으로 또는 다음 30">
            <a:hlinkClick r:id="" action="ppaction://hlinkshowjump?jump=nextslide" highlightClick="1"/>
          </p:cNvPr>
          <p:cNvSpPr/>
          <p:nvPr/>
        </p:nvSpPr>
        <p:spPr bwMode="auto">
          <a:xfrm rot="5400000">
            <a:off x="4153311" y="3797100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32" name="실행 단추: 앞으로 또는 다음 31">
            <a:hlinkClick r:id="" action="ppaction://hlinkshowjump?jump=nextslide" highlightClick="1"/>
          </p:cNvPr>
          <p:cNvSpPr/>
          <p:nvPr/>
        </p:nvSpPr>
        <p:spPr bwMode="auto">
          <a:xfrm rot="5400000">
            <a:off x="4151381" y="3983353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34" name="실행 단추: 앞으로 또는 다음 33">
            <a:hlinkClick r:id="" action="ppaction://hlinkshowjump?jump=nextslide" highlightClick="1"/>
          </p:cNvPr>
          <p:cNvSpPr/>
          <p:nvPr/>
        </p:nvSpPr>
        <p:spPr bwMode="auto">
          <a:xfrm rot="5400000">
            <a:off x="3107083" y="3437049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35" name="실행 단추: 앞으로 또는 다음 34">
            <a:hlinkClick r:id="" action="ppaction://hlinkshowjump?jump=nextslide" highlightClick="1"/>
          </p:cNvPr>
          <p:cNvSpPr/>
          <p:nvPr/>
        </p:nvSpPr>
        <p:spPr bwMode="auto">
          <a:xfrm rot="5400000">
            <a:off x="3105153" y="3623302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39" name="실행 단추: 앞으로 또는 다음 38">
            <a:hlinkClick r:id="" action="ppaction://hlinkshowjump?jump=nextslide" highlightClick="1"/>
          </p:cNvPr>
          <p:cNvSpPr/>
          <p:nvPr/>
        </p:nvSpPr>
        <p:spPr bwMode="auto">
          <a:xfrm rot="5400000">
            <a:off x="3107083" y="3797100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43" name="실행 단추: 앞으로 또는 다음 42">
            <a:hlinkClick r:id="" action="ppaction://hlinkshowjump?jump=nextslide" highlightClick="1"/>
          </p:cNvPr>
          <p:cNvSpPr/>
          <p:nvPr/>
        </p:nvSpPr>
        <p:spPr bwMode="auto">
          <a:xfrm rot="5400000">
            <a:off x="3105153" y="3983353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  <p:sp>
        <p:nvSpPr>
          <p:cNvPr id="47" name="직사각형 46"/>
          <p:cNvSpPr/>
          <p:nvPr/>
        </p:nvSpPr>
        <p:spPr bwMode="auto">
          <a:xfrm>
            <a:off x="4160890" y="2169460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0" name="TextBox 36"/>
          <p:cNvSpPr txBox="1">
            <a:spLocks noChangeArrowheads="1"/>
          </p:cNvSpPr>
          <p:nvPr/>
        </p:nvSpPr>
        <p:spPr bwMode="auto">
          <a:xfrm>
            <a:off x="3728830" y="2169460"/>
            <a:ext cx="720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항목</a:t>
            </a:r>
          </a:p>
        </p:txBody>
      </p:sp>
      <p:sp>
        <p:nvSpPr>
          <p:cNvPr id="53" name="실행 단추: 앞으로 또는 다음 52">
            <a:hlinkClick r:id="" action="ppaction://hlinkshowjump?jump=nextslide" highlightClick="1"/>
          </p:cNvPr>
          <p:cNvSpPr/>
          <p:nvPr/>
        </p:nvSpPr>
        <p:spPr bwMode="auto">
          <a:xfrm rot="5400000">
            <a:off x="4546401" y="2238395"/>
            <a:ext cx="127186" cy="108168"/>
          </a:xfrm>
          <a:prstGeom prst="actionButtonForwardNext">
            <a:avLst/>
          </a:prstGeom>
          <a:solidFill>
            <a:schemeClr val="bg1">
              <a:lumMod val="85000"/>
            </a:schemeClr>
          </a:solidFill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ko-KR" altLang="en-US" sz="1100" b="1">
              <a:solidFill>
                <a:prstClr val="white"/>
              </a:solidFill>
              <a:latin typeface="가는각진제목체" pitchFamily="18" charset="-127"/>
              <a:ea typeface="가는각진제목체" pitchFamily="18" charset="-127"/>
              <a:sym typeface="Arial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3711665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제조 원가 산출에 사용되는 연도별 원가 정보를 생산 라인 기준으로 관리하는 화면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기준연도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형태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공장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으로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조회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데이터 수정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기준연도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연도 입력 받음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라인코드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라인명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 받음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형태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가공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조립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열처리 중 선택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공정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 받음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생산 공장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공장 기준정보에서 선택함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total C/T, C/T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 원가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 받음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Download : data upload template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을 다운로드 받음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Upload 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데이터를 업로드 할 수 있음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업로드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template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데이터 입력 화면 기준으로 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3" name="직사각형 124"/>
          <p:cNvSpPr>
            <a:spLocks noChangeArrowheads="1"/>
          </p:cNvSpPr>
          <p:nvPr/>
        </p:nvSpPr>
        <p:spPr bwMode="auto">
          <a:xfrm>
            <a:off x="397494" y="2780910"/>
            <a:ext cx="5591356" cy="33844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 기준정보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10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기준정보 관리</a:t>
            </a:r>
          </a:p>
        </p:txBody>
      </p:sp>
      <p:sp>
        <p:nvSpPr>
          <p:cNvPr id="28" name="직사각형 27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가공비 단가 관리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(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생산 라인 관리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)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37" name="직사각형 3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2013.04.31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박민수</a:t>
            </a:r>
          </a:p>
        </p:txBody>
      </p:sp>
      <p:graphicFrame>
        <p:nvGraphicFramePr>
          <p:cNvPr id="38" name="표 37"/>
          <p:cNvGraphicFramePr>
            <a:graphicFrameLocks noGrp="1"/>
          </p:cNvGraphicFramePr>
          <p:nvPr/>
        </p:nvGraphicFramePr>
        <p:xfrm>
          <a:off x="550615" y="177277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0" name="직사각형 39"/>
          <p:cNvSpPr/>
          <p:nvPr/>
        </p:nvSpPr>
        <p:spPr>
          <a:xfrm>
            <a:off x="488380" y="1700770"/>
            <a:ext cx="4688136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272350" y="15567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1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1929462" y="178535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3009612" y="178535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6" name="TextBox 36"/>
          <p:cNvSpPr txBox="1">
            <a:spLocks noChangeArrowheads="1"/>
          </p:cNvSpPr>
          <p:nvPr/>
        </p:nvSpPr>
        <p:spPr bwMode="auto">
          <a:xfrm>
            <a:off x="1460610" y="1785354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기준연도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2504660" y="1785354"/>
            <a:ext cx="720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형태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2" cstate="print"/>
          <a:srcRect l="66232" t="39690" r="30424" b="58009"/>
          <a:stretch>
            <a:fillRect/>
          </a:stretch>
        </p:blipFill>
        <p:spPr bwMode="auto">
          <a:xfrm>
            <a:off x="632400" y="2996940"/>
            <a:ext cx="5619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직사각형 46"/>
          <p:cNvSpPr/>
          <p:nvPr/>
        </p:nvSpPr>
        <p:spPr bwMode="auto">
          <a:xfrm>
            <a:off x="4160890" y="1785470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0" name="TextBox 36"/>
          <p:cNvSpPr txBox="1">
            <a:spLocks noChangeArrowheads="1"/>
          </p:cNvSpPr>
          <p:nvPr/>
        </p:nvSpPr>
        <p:spPr bwMode="auto">
          <a:xfrm>
            <a:off x="3728830" y="1785470"/>
            <a:ext cx="720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공</a:t>
            </a:r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장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/>
        </p:nvGraphicFramePr>
        <p:xfrm>
          <a:off x="488380" y="4674940"/>
          <a:ext cx="7615054" cy="1202400"/>
        </p:xfrm>
        <a:graphic>
          <a:graphicData uri="http://schemas.openxmlformats.org/drawingml/2006/table">
            <a:tbl>
              <a:tblPr/>
              <a:tblGrid>
                <a:gridCol w="184405"/>
                <a:gridCol w="534142"/>
                <a:gridCol w="489630"/>
                <a:gridCol w="462151"/>
                <a:gridCol w="423318"/>
                <a:gridCol w="529373"/>
                <a:gridCol w="502348"/>
                <a:gridCol w="547143"/>
                <a:gridCol w="792110"/>
                <a:gridCol w="450062"/>
                <a:gridCol w="450062"/>
                <a:gridCol w="450062"/>
                <a:gridCol w="450062"/>
                <a:gridCol w="450062"/>
                <a:gridCol w="450062"/>
                <a:gridCol w="450062"/>
              </a:tblGrid>
              <a:tr h="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#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기준연도</a:t>
                      </a:r>
                      <a:b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</a:b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(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실적연도</a:t>
                      </a: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라인 코드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라인 명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공정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세부공정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생산 공장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표준 </a:t>
                      </a:r>
                      <a:r>
                        <a:rPr lang="en-US" altLang="ko-KR" sz="1000" b="1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C/T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연간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total C/T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C/T 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당 원가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직접</a:t>
                      </a:r>
                      <a:endParaRPr lang="en-US" altLang="ko-KR" sz="1000" b="1" i="0" u="none" strike="noStrike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노무비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간접</a:t>
                      </a:r>
                      <a:endParaRPr lang="en-US" altLang="ko-KR" sz="1000" b="1" i="0" u="none" strike="noStrike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노무비</a:t>
                      </a:r>
                      <a:endParaRPr lang="ko-KR" altLang="en-US" sz="1000" b="1" i="0" u="none" strike="noStrike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생산직접비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생산간접비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감가상각비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인건비성경비</a:t>
                      </a:r>
                      <a:endParaRPr lang="ko-KR" altLang="en-US" sz="1000" b="1" i="0" u="none" strike="noStrike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기타경비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65432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가공라인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가공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연마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서산공장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100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1,000,000,000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100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40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30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20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15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10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0" name="타원 29"/>
          <p:cNvSpPr/>
          <p:nvPr/>
        </p:nvSpPr>
        <p:spPr>
          <a:xfrm>
            <a:off x="272350" y="268957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2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32" name="AutoShape 279"/>
          <p:cNvSpPr>
            <a:spLocks noChangeArrowheads="1"/>
          </p:cNvSpPr>
          <p:nvPr/>
        </p:nvSpPr>
        <p:spPr bwMode="auto">
          <a:xfrm>
            <a:off x="3872850" y="3212970"/>
            <a:ext cx="824859" cy="216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Download</a:t>
            </a:r>
            <a:endParaRPr kumimoji="0" lang="ko-KR" altLang="en-US" sz="10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4" name="AutoShape 279"/>
          <p:cNvSpPr>
            <a:spLocks noChangeArrowheads="1"/>
          </p:cNvSpPr>
          <p:nvPr/>
        </p:nvSpPr>
        <p:spPr bwMode="auto">
          <a:xfrm>
            <a:off x="4992261" y="3212970"/>
            <a:ext cx="824859" cy="216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Upload</a:t>
            </a:r>
            <a:endParaRPr kumimoji="0" lang="ko-KR" altLang="en-US" sz="10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5" name="직사각형 41"/>
          <p:cNvSpPr>
            <a:spLocks noChangeArrowheads="1"/>
          </p:cNvSpPr>
          <p:nvPr/>
        </p:nvSpPr>
        <p:spPr bwMode="auto">
          <a:xfrm>
            <a:off x="3765230" y="3068514"/>
            <a:ext cx="2223620" cy="526591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smtClean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3634590" y="29249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3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9460" y="1038815"/>
          <a:ext cx="3528000" cy="3330665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제조 원가 산출에 사용되는 연도별 원가 정보를 생산 라인 기준으로 관리하는 화면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기준연도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법인으로 조회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ㅓ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행추가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행삭제로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데이터 수정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기준연도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연도 입력 받음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법인 기준정보에서 선택함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항목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손익항목 중에서 선택 가능함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indent="-82550">
                        <a:spcBef>
                          <a:spcPts val="300"/>
                        </a:spcBef>
                        <a:buSzPct val="850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실적 비율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입력 받음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Download : data upload template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을 다운로드 받음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Upload 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데이터를 업로드 할 수 있음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업로드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template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 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가는각진제목체" pitchFamily="18" charset="-127"/>
                          <a:ea typeface="가는각진제목체" pitchFamily="18" charset="-127"/>
                        </a:rPr>
                        <a:t>데이터 입력 화면 기준으로 함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en-US" altLang="ko-KR" sz="1000" dirty="0" smtClean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6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endParaRPr lang="ko-KR" altLang="en-US" sz="1000" dirty="0">
                        <a:solidFill>
                          <a:srgbClr val="000000"/>
                        </a:solidFill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36640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3662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이전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15" name="AutoShape 279"/>
          <p:cNvSpPr>
            <a:spLocks noChangeArrowheads="1"/>
          </p:cNvSpPr>
          <p:nvPr/>
        </p:nvSpPr>
        <p:spPr bwMode="auto">
          <a:xfrm>
            <a:off x="472454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저장</a:t>
            </a:r>
          </a:p>
        </p:txBody>
      </p:sp>
      <p:sp>
        <p:nvSpPr>
          <p:cNvPr id="16" name="AutoShape 279"/>
          <p:cNvSpPr>
            <a:spLocks noChangeArrowheads="1"/>
          </p:cNvSpPr>
          <p:nvPr/>
        </p:nvSpPr>
        <p:spPr bwMode="auto">
          <a:xfrm>
            <a:off x="4270988" y="853662"/>
            <a:ext cx="360363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조회</a:t>
            </a: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3662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엑셀</a:t>
            </a:r>
            <a:endParaRPr kumimoji="0" lang="ko-KR" altLang="en-US" sz="9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0495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smtClean="0">
                <a:solidFill>
                  <a:sysClr val="windowText" lastClr="000000"/>
                </a:solidFill>
                <a:latin typeface="+mn-ea"/>
                <a:ea typeface="+mn-ea"/>
              </a:rPr>
              <a:t>원가관리</a:t>
            </a:r>
            <a:endParaRPr lang="ko-KR" altLang="en-US" sz="1050" kern="0" dirty="0" smtClea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3" name="직사각형 124"/>
          <p:cNvSpPr>
            <a:spLocks noChangeArrowheads="1"/>
          </p:cNvSpPr>
          <p:nvPr/>
        </p:nvSpPr>
        <p:spPr bwMode="auto">
          <a:xfrm>
            <a:off x="397494" y="2780910"/>
            <a:ext cx="5591356" cy="338447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  <a:sym typeface="Arial" charset="0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견적 기준정보 </a:t>
            </a:r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10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3584810" y="276870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기준정보 관리</a:t>
            </a:r>
          </a:p>
        </p:txBody>
      </p:sp>
      <p:sp>
        <p:nvSpPr>
          <p:cNvPr id="28" name="직사각형 27"/>
          <p:cNvSpPr/>
          <p:nvPr/>
        </p:nvSpPr>
        <p:spPr bwMode="auto">
          <a:xfrm>
            <a:off x="3588275" y="545165"/>
            <a:ext cx="2520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36000" tIns="36000" rIns="36000" bIns="3600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사업 실적 비율</a:t>
            </a:r>
            <a:endParaRPr lang="ko-KR" altLang="en-US" sz="1000" dirty="0" smtClean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7287765" y="28799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  </a:t>
            </a:r>
          </a:p>
        </p:txBody>
      </p:sp>
      <p:sp>
        <p:nvSpPr>
          <p:cNvPr id="37" name="직사각형 36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2013.04.31 / </a:t>
            </a:r>
            <a:r>
              <a:rPr lang="ko-KR" altLang="en-US" sz="100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박민수</a:t>
            </a:r>
          </a:p>
        </p:txBody>
      </p:sp>
      <p:graphicFrame>
        <p:nvGraphicFramePr>
          <p:cNvPr id="38" name="표 37"/>
          <p:cNvGraphicFramePr>
            <a:graphicFrameLocks noGrp="1"/>
          </p:cNvGraphicFramePr>
          <p:nvPr/>
        </p:nvGraphicFramePr>
        <p:xfrm>
          <a:off x="550615" y="1772778"/>
          <a:ext cx="728662" cy="22860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728662"/>
              </a:tblGrid>
              <a:tr h="21602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bg1"/>
                          </a:solidFill>
                          <a:latin typeface="Arial"/>
                          <a:ea typeface="가는각진제목체"/>
                          <a:cs typeface="+mn-cs"/>
                          <a:sym typeface="Arial"/>
                        </a:rPr>
                        <a:t>검색조건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0" name="직사각형 39"/>
          <p:cNvSpPr/>
          <p:nvPr/>
        </p:nvSpPr>
        <p:spPr>
          <a:xfrm>
            <a:off x="488380" y="1700770"/>
            <a:ext cx="4688136" cy="360040"/>
          </a:xfrm>
          <a:prstGeom prst="rect">
            <a:avLst/>
          </a:prstGeom>
          <a:noFill/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1" name="타원 40"/>
          <p:cNvSpPr/>
          <p:nvPr/>
        </p:nvSpPr>
        <p:spPr>
          <a:xfrm>
            <a:off x="272350" y="15567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1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44" name="직사각형 43"/>
          <p:cNvSpPr/>
          <p:nvPr/>
        </p:nvSpPr>
        <p:spPr bwMode="auto">
          <a:xfrm>
            <a:off x="1929462" y="178535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5" name="직사각형 44"/>
          <p:cNvSpPr/>
          <p:nvPr/>
        </p:nvSpPr>
        <p:spPr bwMode="auto">
          <a:xfrm>
            <a:off x="3009612" y="1785354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46" name="TextBox 36"/>
          <p:cNvSpPr txBox="1">
            <a:spLocks noChangeArrowheads="1"/>
          </p:cNvSpPr>
          <p:nvPr/>
        </p:nvSpPr>
        <p:spPr bwMode="auto">
          <a:xfrm>
            <a:off x="1460610" y="1785354"/>
            <a:ext cx="684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기준연도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sp>
        <p:nvSpPr>
          <p:cNvPr id="48" name="TextBox 36"/>
          <p:cNvSpPr txBox="1">
            <a:spLocks noChangeArrowheads="1"/>
          </p:cNvSpPr>
          <p:nvPr/>
        </p:nvSpPr>
        <p:spPr bwMode="auto">
          <a:xfrm>
            <a:off x="2576770" y="1785354"/>
            <a:ext cx="720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법인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pic>
        <p:nvPicPr>
          <p:cNvPr id="59" name="Picture 3"/>
          <p:cNvPicPr>
            <a:picLocks noChangeAspect="1" noChangeArrowheads="1"/>
          </p:cNvPicPr>
          <p:nvPr/>
        </p:nvPicPr>
        <p:blipFill>
          <a:blip r:embed="rId2" cstate="print"/>
          <a:srcRect l="66232" t="39690" r="30424" b="58009"/>
          <a:stretch>
            <a:fillRect/>
          </a:stretch>
        </p:blipFill>
        <p:spPr bwMode="auto">
          <a:xfrm>
            <a:off x="632400" y="2996940"/>
            <a:ext cx="561975" cy="22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7" name="직사각형 46"/>
          <p:cNvSpPr/>
          <p:nvPr/>
        </p:nvSpPr>
        <p:spPr bwMode="auto">
          <a:xfrm>
            <a:off x="4160890" y="1785470"/>
            <a:ext cx="503188" cy="216000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wrap="square" anchor="ctr"/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endParaRPr lang="ko-KR" altLang="en-US" sz="900" dirty="0">
              <a:solidFill>
                <a:prstClr val="black"/>
              </a:solidFill>
            </a:endParaRPr>
          </a:p>
        </p:txBody>
      </p:sp>
      <p:sp>
        <p:nvSpPr>
          <p:cNvPr id="50" name="TextBox 36"/>
          <p:cNvSpPr txBox="1">
            <a:spLocks noChangeArrowheads="1"/>
          </p:cNvSpPr>
          <p:nvPr/>
        </p:nvSpPr>
        <p:spPr bwMode="auto">
          <a:xfrm>
            <a:off x="3728830" y="1785470"/>
            <a:ext cx="720000" cy="211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공</a:t>
            </a:r>
            <a:r>
              <a:rPr lang="ko-KR" altLang="en-US" sz="900" dirty="0" smtClean="0">
                <a:solidFill>
                  <a:prstClr val="black"/>
                </a:solidFill>
                <a:latin typeface="Arial" charset="0"/>
                <a:ea typeface="맑은 고딕" pitchFamily="50" charset="-127"/>
                <a:sym typeface="Arial" charset="0"/>
              </a:rPr>
              <a:t>장</a:t>
            </a:r>
            <a:endParaRPr lang="ko-KR" altLang="en-US" sz="900" dirty="0" smtClean="0">
              <a:solidFill>
                <a:prstClr val="black"/>
              </a:solidFill>
              <a:latin typeface="Arial" charset="0"/>
              <a:ea typeface="맑은 고딕" pitchFamily="50" charset="-127"/>
              <a:sym typeface="Arial" charset="0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272350" y="2689577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2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sp>
        <p:nvSpPr>
          <p:cNvPr id="32" name="AutoShape 279"/>
          <p:cNvSpPr>
            <a:spLocks noChangeArrowheads="1"/>
          </p:cNvSpPr>
          <p:nvPr/>
        </p:nvSpPr>
        <p:spPr bwMode="auto">
          <a:xfrm>
            <a:off x="3872850" y="3212970"/>
            <a:ext cx="824859" cy="216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Download</a:t>
            </a:r>
            <a:endParaRPr kumimoji="0" lang="ko-KR" altLang="en-US" sz="10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4" name="AutoShape 279"/>
          <p:cNvSpPr>
            <a:spLocks noChangeArrowheads="1"/>
          </p:cNvSpPr>
          <p:nvPr/>
        </p:nvSpPr>
        <p:spPr bwMode="auto">
          <a:xfrm>
            <a:off x="4992261" y="3212970"/>
            <a:ext cx="824859" cy="2160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dirty="0" smtClean="0">
                <a:solidFill>
                  <a:prstClr val="black"/>
                </a:solidFill>
                <a:latin typeface="가는각진제목체" pitchFamily="18" charset="-127"/>
                <a:ea typeface="가는각진제목체" pitchFamily="18" charset="-127"/>
              </a:rPr>
              <a:t>Upload</a:t>
            </a:r>
            <a:endParaRPr kumimoji="0" lang="ko-KR" altLang="en-US" sz="1000" dirty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5" name="직사각형 41"/>
          <p:cNvSpPr>
            <a:spLocks noChangeArrowheads="1"/>
          </p:cNvSpPr>
          <p:nvPr/>
        </p:nvSpPr>
        <p:spPr bwMode="auto">
          <a:xfrm>
            <a:off x="3765230" y="3068514"/>
            <a:ext cx="2223620" cy="526591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smtClean="0">
              <a:solidFill>
                <a:prstClr val="black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3634590" y="292493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chemeClr val="bg1"/>
                </a:solidFill>
              </a:rPr>
              <a:t>3</a:t>
            </a:r>
            <a:endParaRPr lang="ko-KR" altLang="en-US" sz="1100" b="1" dirty="0" smtClean="0">
              <a:solidFill>
                <a:schemeClr val="bg1"/>
              </a:solidFill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/>
        </p:nvGraphicFramePr>
        <p:xfrm>
          <a:off x="560390" y="3611535"/>
          <a:ext cx="5068099" cy="2409825"/>
        </p:xfrm>
        <a:graphic>
          <a:graphicData uri="http://schemas.openxmlformats.org/drawingml/2006/table">
            <a:tbl>
              <a:tblPr/>
              <a:tblGrid>
                <a:gridCol w="1080150"/>
                <a:gridCol w="1152160"/>
                <a:gridCol w="1745495"/>
                <a:gridCol w="1090294"/>
              </a:tblGrid>
              <a:tr h="342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기준연도</a:t>
                      </a:r>
                      <a:endParaRPr lang="ko-KR" altLang="en-US" sz="1000" b="1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법인</a:t>
                      </a:r>
                      <a:endParaRPr lang="ko-KR" altLang="en-US" sz="1000" b="1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항목</a:t>
                      </a:r>
                      <a:endParaRPr lang="ko-KR" altLang="en-US" sz="1000" b="1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실적 비율</a:t>
                      </a:r>
                      <a:endParaRPr lang="ko-KR" altLang="en-US" sz="1000" b="1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맑은 고딕"/>
                        </a:rPr>
                        <a:t>운반비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1%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맑은 고딕"/>
                        </a:rPr>
                        <a:t>수출비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1%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맑은 고딕"/>
                        </a:rPr>
                        <a:t>품질보증비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1%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맑은 고딕"/>
                        </a:rPr>
                        <a:t>광고선전비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1%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맑은 고딕"/>
                        </a:rPr>
                        <a:t>연구비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0.3%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맑은 고딕"/>
                        </a:rPr>
                        <a:t>자산비용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0.1%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latin typeface="맑은 고딕"/>
                        </a:rPr>
                        <a:t>인적비용</a:t>
                      </a:r>
                      <a:endParaRPr lang="en-US" altLang="ko-KR" sz="1000" b="0" i="0" u="none" strike="noStrike" dirty="0"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0.1%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>
                          <a:latin typeface="맑은 고딕"/>
                        </a:rPr>
                        <a:t>기타판관비</a:t>
                      </a:r>
                      <a:endParaRPr lang="ko-KR" altLang="en-US" sz="1000" b="0" i="0" u="none" strike="noStrike" dirty="0"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0.1%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2012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err="1" smtClean="0">
                          <a:latin typeface="가는각진제목체" pitchFamily="18" charset="-127"/>
                          <a:ea typeface="가는각진제목체" pitchFamily="18" charset="-127"/>
                        </a:rPr>
                        <a:t>다이모스</a:t>
                      </a:r>
                      <a:endParaRPr lang="en-US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 smtClean="0">
                          <a:latin typeface="맑은 고딕"/>
                        </a:rPr>
                        <a:t>판관인건비</a:t>
                      </a:r>
                      <a:endParaRPr lang="ko-KR" altLang="en-US" sz="1000" b="0" i="0" u="none" strike="noStrike" dirty="0">
                        <a:latin typeface="맑은 고딕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 smtClean="0">
                          <a:latin typeface="가는각진제목체" pitchFamily="18" charset="-127"/>
                          <a:ea typeface="가는각진제목체" pitchFamily="18" charset="-127"/>
                        </a:rPr>
                        <a:t>0.7%</a:t>
                      </a:r>
                      <a:endParaRPr lang="en-US" altLang="ko-KR" sz="1000" b="0" i="0" u="none" strike="noStrike" dirty="0"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latin typeface="가는각진제목체" pitchFamily="18" charset="-127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5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50032</TotalTime>
  <Words>1254</Words>
  <Application>Microsoft Office PowerPoint</Application>
  <PresentationFormat>A4 용지(210x297mm)</PresentationFormat>
  <Paragraphs>841</Paragraphs>
  <Slides>12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14" baseType="lpstr">
      <vt:lpstr>5_tb4_onscreen_v2.1</vt:lpstr>
      <vt:lpstr>6_tb4_onscreen_v2.1</vt:lpstr>
      <vt:lpstr>슬라이드 0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7052</cp:revision>
  <cp:lastPrinted>2012-11-21T23:07:40Z</cp:lastPrinted>
  <dcterms:created xsi:type="dcterms:W3CDTF">2011-12-22T02:00:23Z</dcterms:created>
  <dcterms:modified xsi:type="dcterms:W3CDTF">2013-04-18T00:48:38Z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