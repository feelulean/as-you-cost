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jpeg" ContentType="image/jpeg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theme/theme8.xml" ContentType="application/vnd.openxmlformats-officedocument.theme+xml"/>
  <Override PartName="/ppt/theme/theme9.xml" ContentType="application/vnd.openxmlformats-officedocument.theme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4675" r:id="rId1"/>
    <p:sldMasterId id="2147484678" r:id="rId2"/>
    <p:sldMasterId id="2147484681" r:id="rId3"/>
    <p:sldMasterId id="2147484684" r:id="rId4"/>
    <p:sldMasterId id="2147484687" r:id="rId5"/>
    <p:sldMasterId id="2147484690" r:id="rId6"/>
    <p:sldMasterId id="2147484693" r:id="rId7"/>
    <p:sldMasterId id="2147484696" r:id="rId8"/>
    <p:sldMasterId id="2147484699" r:id="rId9"/>
  </p:sldMasterIdLst>
  <p:notesMasterIdLst>
    <p:notesMasterId r:id="rId17"/>
  </p:notesMasterIdLst>
  <p:handoutMasterIdLst>
    <p:handoutMasterId r:id="rId18"/>
  </p:handoutMasterIdLst>
  <p:sldIdLst>
    <p:sldId id="2254" r:id="rId10"/>
    <p:sldId id="2250" r:id="rId11"/>
    <p:sldId id="2251" r:id="rId12"/>
    <p:sldId id="2255" r:id="rId13"/>
    <p:sldId id="2256" r:id="rId14"/>
    <p:sldId id="2257" r:id="rId15"/>
    <p:sldId id="2258" r:id="rId16"/>
  </p:sldIdLst>
  <p:sldSz cx="9906000" cy="6858000" type="A4"/>
  <p:notesSz cx="6797675" cy="9926638"/>
  <p:defaultTextStyle>
    <a:defPPr>
      <a:defRPr lang="en-US"/>
    </a:defPPr>
    <a:lvl1pPr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74382" indent="-46009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53522" indent="-95196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432663" indent="-144378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911802" indent="-193560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4644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1570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198501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5428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000000"/>
    <a:srgbClr val="0000CC"/>
    <a:srgbClr val="CC0000"/>
    <a:srgbClr val="DC6900"/>
    <a:srgbClr val="FFFF66"/>
    <a:srgbClr val="333333"/>
    <a:srgbClr val="FF9999"/>
    <a:srgbClr val="FFCCCC"/>
    <a:srgbClr val="FFF7E1"/>
    <a:srgbClr val="FFFDF7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69D073F8-1565-44D7-B386-08B59EADF2EE}">
  <a:tblStyle styleId="{69D073F8-1565-44D7-B386-08B59EADF2EE}" styleName="PwC Table">
    <a:wholeTbl>
      <a:tcTxStyle>
        <a:fontRef idx="maj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bottom>
            <a:ln w="38100" cmpd="sng">
              <a:noFill/>
            </a:ln>
          </a:bottom>
        </a:tcBdr>
      </a:tcStyle>
    </a:band1H>
    <a:band2H>
      <a:tcStyle>
        <a:tcBdr>
          <a:bottom>
            <a:ln w="38100" cmpd="sng">
              <a:noFill/>
            </a:ln>
          </a:bottom>
        </a:tcBdr>
      </a:tcStyle>
    </a:band2H>
    <a:firstCol>
      <a:tcTxStyle i="on">
        <a:fontRef idx="major">
          <a:prstClr val="black"/>
        </a:fontRef>
        <a:schemeClr val="dk1"/>
      </a:tcTxStyle>
      <a:tcStyle>
        <a:tcBdr/>
        <a:fill>
          <a:noFill/>
        </a:fill>
      </a:tcStyle>
    </a:firstCol>
    <a:firstRow>
      <a:tcTxStyle b="on">
        <a:fontRef idx="major">
          <a:prstClr val="black"/>
        </a:fontRef>
        <a:schemeClr val="dk2"/>
      </a:tcTxStyle>
      <a:tcStyle>
        <a:tcBdr>
          <a:bottom>
            <a:ln w="38100" cmpd="sng">
              <a:noFill/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206" autoAdjust="0"/>
    <p:restoredTop sz="82572" autoAdjust="0"/>
  </p:normalViewPr>
  <p:slideViewPr>
    <p:cSldViewPr snapToObjects="1">
      <p:cViewPr>
        <p:scale>
          <a:sx n="75" d="100"/>
          <a:sy n="75" d="100"/>
        </p:scale>
        <p:origin x="-1314" y="-78"/>
      </p:cViewPr>
      <p:guideLst>
        <p:guide orient="horz" pos="300"/>
        <p:guide orient="horz" pos="2704"/>
        <p:guide orient="horz" pos="1389"/>
        <p:guide pos="6023"/>
      </p:guideLst>
    </p:cSldViewPr>
  </p:slideViewPr>
  <p:outlineViewPr>
    <p:cViewPr>
      <p:scale>
        <a:sx n="33" d="100"/>
        <a:sy n="33" d="100"/>
      </p:scale>
      <p:origin x="0" y="10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Objects="1">
      <p:cViewPr varScale="1">
        <p:scale>
          <a:sx n="49" d="100"/>
          <a:sy n="49" d="100"/>
        </p:scale>
        <p:origin x="-2712" y="-108"/>
      </p:cViewPr>
      <p:guideLst>
        <p:guide orient="horz" pos="3127"/>
        <p:guide pos="2141"/>
      </p:guideLst>
    </p:cSldViewPr>
  </p:notesViewPr>
  <p:gridSpacing cx="73737788" cy="7373778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4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3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10" Type="http://schemas.openxmlformats.org/officeDocument/2006/relationships/slide" Target="slides/slide1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645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598B7DD0-F933-4256-AFA8-DB79D4CAE8E1}" type="datetimeFigureOut">
              <a:rPr lang="en-US" altLang="ko-KR"/>
              <a:pPr>
                <a:defRPr/>
              </a:pPr>
              <a:t>5/20/2013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645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D0790A42-1C5E-4D8C-9AE2-6811605AC8D4}" type="slidenum">
              <a:rPr lang="en-US" altLang="ko-KR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33075673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645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B733C386-9AAD-4375-8F24-A34430528E7D}" type="datetimeFigureOut">
              <a:rPr lang="en-US" altLang="ko-KR"/>
              <a:pPr>
                <a:defRPr/>
              </a:pPr>
              <a:t>5/20/2013</a:t>
            </a:fld>
            <a:endParaRPr lang="ko-KR" alt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4538"/>
            <a:ext cx="537210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658" tIns="45830" rIns="91658" bIns="45830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085" y="4715193"/>
            <a:ext cx="5437506" cy="4466274"/>
          </a:xfrm>
          <a:prstGeom prst="rect">
            <a:avLst/>
          </a:prstGeom>
        </p:spPr>
        <p:txBody>
          <a:bodyPr vert="horz" lIns="91658" tIns="45830" rIns="91658" bIns="45830" rtlCol="0">
            <a:normAutofit/>
          </a:bodyPr>
          <a:lstStyle/>
          <a:p>
            <a:pPr lvl="0"/>
            <a:r>
              <a:rPr lang="en-US" altLang="ko-KR" noProof="0" smtClean="0"/>
              <a:t>Click to edit Master text styles</a:t>
            </a:r>
          </a:p>
          <a:p>
            <a:pPr lvl="1"/>
            <a:r>
              <a:rPr lang="en-US" altLang="ko-KR" noProof="0" smtClean="0"/>
              <a:t>Second level</a:t>
            </a:r>
          </a:p>
          <a:p>
            <a:pPr lvl="2"/>
            <a:r>
              <a:rPr lang="en-US" altLang="ko-KR" noProof="0" smtClean="0"/>
              <a:t>Third level</a:t>
            </a:r>
          </a:p>
          <a:p>
            <a:pPr lvl="3"/>
            <a:r>
              <a:rPr lang="en-US" altLang="ko-KR" noProof="0" smtClean="0"/>
              <a:t>Fourth level</a:t>
            </a:r>
          </a:p>
          <a:p>
            <a:pPr lvl="4"/>
            <a:r>
              <a:rPr lang="en-US" altLang="ko-KR" noProof="0" smtClean="0"/>
              <a:t>Fifth level</a:t>
            </a:r>
            <a:endParaRPr lang="ko-KR" alt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645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DBE75456-4044-433B-A0B1-1CCD6A62A8D3}" type="slidenum">
              <a:rPr lang="en-US" altLang="ko-KR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986330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74382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53522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432663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911802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393022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871627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350230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828833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2788" y="744538"/>
            <a:ext cx="5372100" cy="3721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449BE4-5C86-4C49-AD04-A69537C68BBF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0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8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8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6681193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6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9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76" r:id="rId1"/>
    <p:sldLayoutId id="2147484680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79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82" r:id="rId1"/>
    <p:sldLayoutId id="2147484683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85" r:id="rId1"/>
    <p:sldLayoutId id="2147484686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88" r:id="rId1"/>
    <p:sldLayoutId id="2147484689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91" r:id="rId1"/>
    <p:sldLayoutId id="2147484692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94" r:id="rId1"/>
    <p:sldLayoutId id="2147484695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97" r:id="rId1"/>
    <p:sldLayoutId id="2147484698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00" r:id="rId1"/>
    <p:sldLayoutId id="2147484701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/>
        </p:nvSpPr>
        <p:spPr bwMode="auto">
          <a:xfrm>
            <a:off x="0" y="531815"/>
            <a:ext cx="9906000" cy="482447"/>
          </a:xfrm>
          <a:prstGeom prst="rect">
            <a:avLst/>
          </a:prstGeom>
          <a:solidFill>
            <a:schemeClr val="bg1"/>
          </a:solidFill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grpSp>
        <p:nvGrpSpPr>
          <p:cNvPr id="2" name="그룹 1"/>
          <p:cNvGrpSpPr>
            <a:grpSpLocks/>
          </p:cNvGrpSpPr>
          <p:nvPr/>
        </p:nvGrpSpPr>
        <p:grpSpPr bwMode="auto">
          <a:xfrm>
            <a:off x="415926" y="406402"/>
            <a:ext cx="1944688" cy="358775"/>
            <a:chOff x="2208212" y="2187772"/>
            <a:chExt cx="5959947" cy="1469677"/>
          </a:xfrm>
        </p:grpSpPr>
        <p:pic>
          <p:nvPicPr>
            <p:cNvPr id="5127" name="Picture 2" descr="C:\Documents and Settings\admin\바탕 화면\제목 ss없음-1.jpg"/>
            <p:cNvPicPr>
              <a:picLocks noChangeAspect="1" noChangeArrowheads="1"/>
            </p:cNvPicPr>
            <p:nvPr/>
          </p:nvPicPr>
          <p:blipFill>
            <a:blip r:embed="rId3" cstate="print"/>
            <a:srcRect t="31873" r="30904" b="38634"/>
            <a:stretch>
              <a:fillRect/>
            </a:stretch>
          </p:blipFill>
          <p:spPr bwMode="auto">
            <a:xfrm>
              <a:off x="2208212" y="2187772"/>
              <a:ext cx="4429333" cy="14060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128" name="Picture 2" descr="C:\Documents and Settings\admin\바탕 화면\제목 ss없음-1.jpg"/>
            <p:cNvPicPr>
              <a:picLocks noChangeAspect="1" noChangeArrowheads="1"/>
            </p:cNvPicPr>
            <p:nvPr/>
          </p:nvPicPr>
          <p:blipFill>
            <a:blip r:embed="rId4" cstate="print"/>
            <a:srcRect l="68555" t="31873" b="28601"/>
            <a:stretch>
              <a:fillRect/>
            </a:stretch>
          </p:blipFill>
          <p:spPr bwMode="auto">
            <a:xfrm>
              <a:off x="6602819" y="2194115"/>
              <a:ext cx="1565340" cy="14633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3872860" y="5284320"/>
            <a:ext cx="3312408" cy="41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3333" tIns="51667" rIns="103333" bIns="51667" anchor="ctr">
            <a:spAutoFit/>
          </a:bodyPr>
          <a:lstStyle/>
          <a:p>
            <a:pPr defTabSz="914400"/>
            <a:r>
              <a:rPr lang="ko-KR" altLang="en-US" sz="2000" b="1" dirty="0" smtClean="0">
                <a:solidFill>
                  <a:srgbClr val="000000">
                    <a:lumMod val="95000"/>
                    <a:lumOff val="5000"/>
                  </a:srgbClr>
                </a:solidFill>
                <a:latin typeface="Arial"/>
                <a:ea typeface="가는각진제목체"/>
              </a:rPr>
              <a:t>목표원가관리시스템 구축 </a:t>
            </a:r>
            <a:r>
              <a:rPr lang="en-US" altLang="ko-KR" sz="2000" b="1" dirty="0" smtClean="0">
                <a:solidFill>
                  <a:srgbClr val="000000">
                    <a:lumMod val="95000"/>
                    <a:lumOff val="5000"/>
                  </a:srgbClr>
                </a:solidFill>
                <a:latin typeface="Arial"/>
                <a:ea typeface="가는각진제목체"/>
              </a:rPr>
              <a:t>TFT</a:t>
            </a:r>
            <a:endParaRPr lang="ko-KR" altLang="en-US" sz="2000" b="1" dirty="0">
              <a:solidFill>
                <a:srgbClr val="000000">
                  <a:lumMod val="95000"/>
                  <a:lumOff val="5000"/>
                </a:srgbClr>
              </a:solidFill>
              <a:latin typeface="Arial"/>
              <a:ea typeface="가는각진제목체"/>
            </a:endParaRPr>
          </a:p>
        </p:txBody>
      </p:sp>
      <p:pic>
        <p:nvPicPr>
          <p:cNvPr id="11" name="Picture 394" descr="현대다이모스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26381" t="20050" r="27190" b="56340"/>
          <a:stretch>
            <a:fillRect/>
          </a:stretch>
        </p:blipFill>
        <p:spPr bwMode="auto">
          <a:xfrm>
            <a:off x="2648716" y="5229250"/>
            <a:ext cx="1296144" cy="441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29"/>
          <p:cNvSpPr>
            <a:spLocks noChangeArrowheads="1"/>
          </p:cNvSpPr>
          <p:nvPr/>
        </p:nvSpPr>
        <p:spPr bwMode="auto">
          <a:xfrm>
            <a:off x="948126" y="1782052"/>
            <a:ext cx="7965315" cy="218942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1339" tIns="180000" rIns="91339" bIns="45669" anchor="t"/>
          <a:lstStyle/>
          <a:p>
            <a:pPr algn="ctr">
              <a:lnSpc>
                <a:spcPct val="15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r>
              <a:rPr lang="ko-KR" altLang="en-US" sz="20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목표원가관리 시스템 </a:t>
            </a:r>
            <a:endParaRPr lang="en-US" altLang="ko-KR" sz="2000" b="1" dirty="0" smtClean="0">
              <a:solidFill>
                <a:srgbClr val="000000"/>
              </a:solidFill>
              <a:latin typeface="Arial"/>
              <a:ea typeface="가는각진제목체"/>
            </a:endParaRPr>
          </a:p>
          <a:p>
            <a:pPr algn="ctr">
              <a:lnSpc>
                <a:spcPct val="15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r>
              <a:rPr lang="ko-KR" altLang="en-US" sz="32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화면</a:t>
            </a:r>
            <a:r>
              <a:rPr lang="en-US" altLang="ko-KR" sz="32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/</a:t>
            </a:r>
            <a:r>
              <a:rPr lang="ko-KR" altLang="en-US" sz="32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프로그램 개발요청서</a:t>
            </a:r>
          </a:p>
          <a:p>
            <a:pPr algn="ctr">
              <a:lnSpc>
                <a:spcPct val="15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endParaRPr lang="en-US" altLang="ko-KR" sz="1200" b="1" dirty="0" smtClean="0">
              <a:solidFill>
                <a:srgbClr val="000000"/>
              </a:solidFill>
              <a:latin typeface="Arial"/>
              <a:ea typeface="가는각진제목체"/>
              <a:cs typeface="Arial" charset="0"/>
            </a:endParaRPr>
          </a:p>
        </p:txBody>
      </p:sp>
      <p:sp>
        <p:nvSpPr>
          <p:cNvPr id="17" name="TextBox 6"/>
          <p:cNvSpPr txBox="1">
            <a:spLocks noChangeArrowheads="1"/>
          </p:cNvSpPr>
          <p:nvPr/>
        </p:nvSpPr>
        <p:spPr bwMode="auto">
          <a:xfrm>
            <a:off x="733712" y="1196690"/>
            <a:ext cx="64359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defTabSz="914400" eaLnBrk="1" hangingPunct="1"/>
            <a:r>
              <a:rPr lang="en-US" altLang="ko-KR" sz="1800" dirty="0">
                <a:latin typeface="Arial"/>
                <a:ea typeface="가는각진제목체"/>
                <a:cs typeface="Arial" charset="0"/>
              </a:rPr>
              <a:t>『 </a:t>
            </a:r>
            <a:r>
              <a:rPr lang="ko-KR" altLang="en-US" sz="1800" b="1" dirty="0">
                <a:solidFill>
                  <a:srgbClr val="606060"/>
                </a:solidFill>
                <a:latin typeface="Arial"/>
                <a:ea typeface="가는각진제목체"/>
              </a:rPr>
              <a:t>전진적 </a:t>
            </a:r>
            <a:r>
              <a:rPr lang="ko-KR" altLang="en-US" sz="1800" b="1" dirty="0" smtClean="0">
                <a:solidFill>
                  <a:srgbClr val="606060"/>
                </a:solidFill>
                <a:latin typeface="Arial"/>
                <a:ea typeface="가는각진제목체"/>
              </a:rPr>
              <a:t>원가관리 업무체계 확립</a:t>
            </a:r>
            <a:r>
              <a:rPr lang="en-US" altLang="ko-KR" sz="1800" dirty="0" smtClean="0">
                <a:latin typeface="Arial"/>
                <a:ea typeface="가는각진제목체"/>
                <a:cs typeface="Arial" charset="0"/>
              </a:rPr>
              <a:t>』</a:t>
            </a:r>
            <a:endParaRPr lang="ko-KR" altLang="en-US" sz="1800" dirty="0">
              <a:latin typeface="Arial"/>
              <a:ea typeface="가는각진제목체"/>
              <a:cs typeface="Arial" charset="0"/>
            </a:endParaRPr>
          </a:p>
        </p:txBody>
      </p:sp>
      <p:sp>
        <p:nvSpPr>
          <p:cNvPr id="19" name="직사각형 18"/>
          <p:cNvSpPr/>
          <p:nvPr/>
        </p:nvSpPr>
        <p:spPr bwMode="auto">
          <a:xfrm>
            <a:off x="200340" y="6237390"/>
            <a:ext cx="9705660" cy="620610"/>
          </a:xfrm>
          <a:prstGeom prst="rect">
            <a:avLst/>
          </a:prstGeom>
          <a:solidFill>
            <a:schemeClr val="bg1"/>
          </a:solidFill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0" name="직사각형 19"/>
          <p:cNvSpPr/>
          <p:nvPr/>
        </p:nvSpPr>
        <p:spPr bwMode="auto">
          <a:xfrm>
            <a:off x="0" y="193675"/>
            <a:ext cx="200340" cy="571500"/>
          </a:xfrm>
          <a:prstGeom prst="rect">
            <a:avLst/>
          </a:prstGeom>
          <a:solidFill>
            <a:schemeClr val="bg1"/>
          </a:solidFill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132861" y="3375663"/>
            <a:ext cx="35958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10000"/>
              </a:spcBef>
              <a:defRPr/>
            </a:pPr>
            <a:r>
              <a:rPr lang="en-US" altLang="ko-KR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 - 039.</a:t>
            </a:r>
            <a:r>
              <a:rPr lang="ko-KR" altLang="en-US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부문별 목표 </a:t>
            </a:r>
            <a:r>
              <a:rPr lang="ko-KR" altLang="en-US" sz="1400" b="1" dirty="0" err="1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절감액</a:t>
            </a:r>
            <a:r>
              <a:rPr lang="ko-KR" altLang="en-US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 및 절감 활동 계획 등록</a:t>
            </a:r>
            <a:r>
              <a:rPr lang="en-US" altLang="ko-KR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- </a:t>
            </a:r>
            <a:endParaRPr lang="en-US" altLang="ko-KR" sz="1400" b="1" dirty="0">
              <a:solidFill>
                <a:srgbClr val="000000"/>
              </a:solidFill>
              <a:latin typeface="Arial"/>
              <a:ea typeface="가는각진제목체"/>
              <a:cs typeface="Arial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39736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Group 944"/>
          <p:cNvGraphicFramePr>
            <a:graphicFrameLocks noGrp="1"/>
          </p:cNvGraphicFramePr>
          <p:nvPr/>
        </p:nvGraphicFramePr>
        <p:xfrm>
          <a:off x="376061" y="307172"/>
          <a:ext cx="9238086" cy="3602592"/>
        </p:xfrm>
        <a:graphic>
          <a:graphicData uri="http://schemas.openxmlformats.org/drawingml/2006/table">
            <a:tbl>
              <a:tblPr/>
              <a:tblGrid>
                <a:gridCol w="2139422"/>
                <a:gridCol w="1161167"/>
                <a:gridCol w="1162050"/>
                <a:gridCol w="738011"/>
                <a:gridCol w="417336"/>
                <a:gridCol w="904663"/>
                <a:gridCol w="264090"/>
                <a:gridCol w="313760"/>
                <a:gridCol w="671866"/>
                <a:gridCol w="157480"/>
                <a:gridCol w="1308241"/>
              </a:tblGrid>
              <a:tr h="336744">
                <a:tc gridSpan="1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프로그램 일반 개요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367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Program ID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목표원가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-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039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Process ID</a:t>
                      </a:r>
                      <a:endParaRPr kumimoji="1" lang="en-GB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latinLnBrk="1"/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  <a:cs typeface="+mn-cs"/>
                        </a:rPr>
                        <a:t>부문별 목표 </a:t>
                      </a:r>
                      <a:r>
                        <a:rPr kumimoji="1" lang="ko-KR" altLang="en-US" sz="11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  <a:cs typeface="+mn-cs"/>
                        </a:rPr>
                        <a:t>절감액</a:t>
                      </a: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  <a:cs typeface="+mn-cs"/>
                        </a:rPr>
                        <a:t> 부여</a:t>
                      </a:r>
                      <a:endParaRPr kumimoji="1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  <a:cs typeface="+mn-cs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367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프로그램 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10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  <a:cs typeface="+mn-cs"/>
                        </a:rPr>
                        <a:t>부문별 목표 </a:t>
                      </a:r>
                      <a:r>
                        <a:rPr kumimoji="1" lang="ko-KR" altLang="en-US" sz="11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  <a:cs typeface="+mn-cs"/>
                        </a:rPr>
                        <a:t>절감액</a:t>
                      </a: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  <a:cs typeface="+mn-cs"/>
                        </a:rPr>
                        <a:t> 및 절감 활동 계획 등록</a:t>
                      </a:r>
                      <a:endParaRPr kumimoji="1" lang="ko-KR" altLang="en-US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  <a:cs typeface="+mn-cs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50407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프로그램 설명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10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  <a:cs typeface="+mn-cs"/>
                        </a:rPr>
                        <a:t>부문별 목표 </a:t>
                      </a:r>
                      <a:r>
                        <a:rPr kumimoji="1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  <a:cs typeface="+mn-cs"/>
                        </a:rPr>
                        <a:t>Guide</a:t>
                      </a: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  <a:cs typeface="+mn-cs"/>
                        </a:rPr>
                        <a:t>를 바탕으로 최종 부문별 목표원가와 이를 달성하기 위한 상세 절감계획을 시스템에 등록할 수 있도록 함</a:t>
                      </a:r>
                      <a:endParaRPr kumimoji="1" lang="en-US" altLang="ko-KR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  <a:cs typeface="+mn-cs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9858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별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Master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Interface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Data Input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Creation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(Costing)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Schedule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(Monitor)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Report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</a:tr>
              <a:tr h="2495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돋움" pitchFamily="50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돋움" pitchFamily="50" charset="-127"/>
                        </a:rPr>
                        <a:t>●</a:t>
                      </a: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돋움" pitchFamily="50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돋움" pitchFamily="50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돋움" pitchFamily="50" charset="-127"/>
                        </a:rPr>
                        <a:t>●</a:t>
                      </a: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돋움" pitchFamily="50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개발완료 요청일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2013.05.20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모듈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목표원가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작성자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신 정 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서명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2013.05.20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컨설턴트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신 정 수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서명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2013.05.20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팀장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배 병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희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서명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개발자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고 현 철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서명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9" name="Group 820"/>
          <p:cNvGraphicFramePr>
            <a:graphicFrameLocks noGrp="1"/>
          </p:cNvGraphicFramePr>
          <p:nvPr/>
        </p:nvGraphicFramePr>
        <p:xfrm>
          <a:off x="376061" y="4005080"/>
          <a:ext cx="9238086" cy="2332741"/>
        </p:xfrm>
        <a:graphic>
          <a:graphicData uri="http://schemas.openxmlformats.org/drawingml/2006/table">
            <a:tbl>
              <a:tblPr/>
              <a:tblGrid>
                <a:gridCol w="1575937"/>
                <a:gridCol w="1154760"/>
                <a:gridCol w="5248492"/>
                <a:gridCol w="1258897"/>
              </a:tblGrid>
              <a:tr h="30643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Document History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06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Date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담당자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변경 내용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사유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요청부서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담당자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kumimoji="1" lang="ko-KR" alt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Version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2013.05.20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신정수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초기작성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V1.0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oup 512"/>
          <p:cNvGraphicFramePr>
            <a:graphicFrameLocks noGrp="1"/>
          </p:cNvGraphicFramePr>
          <p:nvPr/>
        </p:nvGraphicFramePr>
        <p:xfrm>
          <a:off x="376061" y="343221"/>
          <a:ext cx="9153878" cy="4125428"/>
        </p:xfrm>
        <a:graphic>
          <a:graphicData uri="http://schemas.openxmlformats.org/drawingml/2006/table">
            <a:tbl>
              <a:tblPr/>
              <a:tblGrid>
                <a:gridCol w="2263247"/>
                <a:gridCol w="2260953"/>
                <a:gridCol w="2263245"/>
                <a:gridCol w="2366433"/>
              </a:tblGrid>
              <a:tr h="277389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Business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요구사항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58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요구사항정의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228600" marR="0" lvl="0" indent="-22860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Rule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에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의해 산출된 원가항목별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부문별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목표원가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Guide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를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바탕으로 협의체를 통하여 최종 목표원가를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결정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228600" marR="0" lvl="0" indent="-22860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협의체에서 결정된 최종 목표원가는 그 결과값 및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Guide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값과의 차이와 사유가 관리되어야 함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228600" marR="0" lvl="0" indent="-22860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각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부문별로 최종 목표원가와 목표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절감액을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달성하기 위한 상세 계획을 수립하고 이를 시스템에 등록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710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업무담당자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원가관리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6772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개발에 따른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기대 효용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Guide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를 바탕으로 협의하여 결정된 최종 목표원가 등록 가능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목표원가를 달성하기 위한 상세 계획 등록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조회 가능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901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예상 세부화면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GB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예상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On-Line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1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예상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Data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건수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710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예상 개발 소요 기간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901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권한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입력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조회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-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프로젝트 구성원으로 등록된 인원 전체</a:t>
                      </a: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901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기타요구사항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Group 399"/>
          <p:cNvGraphicFramePr>
            <a:graphicFrameLocks noGrp="1"/>
          </p:cNvGraphicFramePr>
          <p:nvPr/>
        </p:nvGraphicFramePr>
        <p:xfrm>
          <a:off x="376061" y="5391993"/>
          <a:ext cx="9153886" cy="662171"/>
        </p:xfrm>
        <a:graphic>
          <a:graphicData uri="http://schemas.openxmlformats.org/drawingml/2006/table">
            <a:tbl>
              <a:tblPr/>
              <a:tblGrid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</a:tblGrid>
              <a:tr h="324547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권한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전사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사업부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담당팀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중요도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상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중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난이도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4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</a:tr>
              <a:tr h="3245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●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●</a:t>
                      </a: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●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Text Box 346"/>
          <p:cNvSpPr txBox="1">
            <a:spLocks noChangeArrowheads="1"/>
          </p:cNvSpPr>
          <p:nvPr/>
        </p:nvSpPr>
        <p:spPr bwMode="auto">
          <a:xfrm>
            <a:off x="376066" y="6135189"/>
            <a:ext cx="1781257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914400" latinLnBrk="0"/>
            <a:r>
              <a:rPr lang="en-US" altLang="ko-KR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* </a:t>
            </a:r>
            <a:r>
              <a:rPr lang="ko-KR" altLang="en-US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난이도 </a:t>
            </a:r>
            <a:r>
              <a:rPr lang="en-US" altLang="ko-KR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( 1- </a:t>
            </a:r>
            <a:r>
              <a:rPr lang="ko-KR" altLang="en-US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단순</a:t>
            </a:r>
            <a:r>
              <a:rPr lang="en-US" altLang="ko-KR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, 5 – </a:t>
            </a:r>
            <a:r>
              <a:rPr lang="ko-KR" altLang="en-US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복잡 </a:t>
            </a:r>
            <a:r>
              <a:rPr lang="en-US" altLang="ko-KR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)</a:t>
            </a:r>
          </a:p>
        </p:txBody>
      </p:sp>
      <p:sp>
        <p:nvSpPr>
          <p:cNvPr id="8" name="Text Box 347"/>
          <p:cNvSpPr txBox="1">
            <a:spLocks noChangeArrowheads="1"/>
          </p:cNvSpPr>
          <p:nvPr/>
        </p:nvSpPr>
        <p:spPr bwMode="auto">
          <a:xfrm>
            <a:off x="344360" y="5085230"/>
            <a:ext cx="54694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914400" latinLnBrk="0"/>
            <a:r>
              <a:rPr lang="en-US" altLang="ko-KR" sz="1200" b="1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(</a:t>
            </a:r>
            <a:r>
              <a:rPr lang="ko-KR" altLang="en-US" sz="1200" b="1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분류</a:t>
            </a:r>
            <a:r>
              <a:rPr lang="en-US" altLang="ko-KR" sz="1200" b="1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)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 dirty="0">
              <a:solidFill>
                <a:srgbClr val="000000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Arial"/>
                <a:ea typeface="가는각진제목체" pitchFamily="18" charset="-127"/>
              </a:rPr>
              <a:t>원가관리</a:t>
            </a:r>
          </a:p>
        </p:txBody>
      </p: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88797"/>
            <a:ext cx="5691889" cy="4284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</p:txBody>
      </p:sp>
      <p:sp>
        <p:nvSpPr>
          <p:cNvPr id="92" name="AutoShape 279"/>
          <p:cNvSpPr>
            <a:spLocks noChangeArrowheads="1"/>
          </p:cNvSpPr>
          <p:nvPr/>
        </p:nvSpPr>
        <p:spPr bwMode="auto">
          <a:xfrm>
            <a:off x="519182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54" name="AutoShape 279"/>
          <p:cNvSpPr>
            <a:spLocks noChangeArrowheads="1"/>
          </p:cNvSpPr>
          <p:nvPr/>
        </p:nvSpPr>
        <p:spPr bwMode="auto">
          <a:xfrm>
            <a:off x="385586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생성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56" name="AutoShape 279"/>
          <p:cNvSpPr>
            <a:spLocks noChangeArrowheads="1"/>
          </p:cNvSpPr>
          <p:nvPr/>
        </p:nvSpPr>
        <p:spPr bwMode="auto">
          <a:xfrm>
            <a:off x="426518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59" name="AutoShape 279"/>
          <p:cNvSpPr>
            <a:spLocks noChangeArrowheads="1"/>
          </p:cNvSpPr>
          <p:nvPr/>
        </p:nvSpPr>
        <p:spPr bwMode="auto">
          <a:xfrm>
            <a:off x="4674500" y="2060810"/>
            <a:ext cx="468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계산하기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graphicFrame>
        <p:nvGraphicFramePr>
          <p:cNvPr id="64" name="Group 82"/>
          <p:cNvGraphicFramePr>
            <a:graphicFrameLocks noGrp="1"/>
          </p:cNvGraphicFramePr>
          <p:nvPr/>
        </p:nvGraphicFramePr>
        <p:xfrm>
          <a:off x="6149460" y="1012870"/>
          <a:ext cx="3528000" cy="528576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목표원가와 목표 달성 계획을 등록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검색조건</a:t>
                      </a:r>
                      <a:r>
                        <a:rPr lang="en-US" altLang="ko-KR" sz="10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프로젝트의</a:t>
                      </a:r>
                      <a:r>
                        <a:rPr lang="en-US" altLang="ko-KR" sz="1000" b="1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특정 사양까지 선택해야 함</a:t>
                      </a:r>
                      <a:endParaRPr lang="en-US" altLang="ko-KR" sz="1000" b="1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고객사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사양이 모두 필수조건 임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좌측부터 선택시 우측의 선택 가능항목이 줄어들도록 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의의</a:t>
                      </a:r>
                      <a:r>
                        <a:rPr lang="en-US" altLang="ko-KR" sz="1000" b="1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절감목표와 달성계획 등록</a:t>
                      </a:r>
                      <a:endParaRPr lang="en-US" altLang="ko-KR" sz="1000" b="1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-Guide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를 참조하여 원가항목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최종 목표 입력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달성 계획도 등록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조회 가능함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금액 계산</a:t>
                      </a:r>
                      <a:r>
                        <a:rPr lang="en-US" altLang="ko-KR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등록 기준</a:t>
                      </a:r>
                      <a:endParaRPr lang="en-US" altLang="ko-KR" sz="1000" b="1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연간 합계의 단위당 금액 기준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총금액을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물량으로 나눈 것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8-1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기초정보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프로젝트명과 사양정보 및 원가코드 표시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6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8-2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실행 단추 기능</a:t>
                      </a:r>
                      <a:endParaRPr lang="en-US" altLang="ko-KR" sz="1000" b="1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생성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해당코드에 입력된 정보 조회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최초에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Data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없는 경우 생성 버튼을 통해 선택한 견적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현상원가와 배부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Guide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를 불러와 기초 정보를 생성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원가관리만 가능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="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</a:t>
                      </a:r>
                      <a:r>
                        <a:rPr lang="en-US" altLang="ko-KR" sz="1000" b="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="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산출대상 원가항목에 따름</a:t>
                      </a:r>
                      <a:r>
                        <a:rPr lang="en-US" altLang="ko-KR" sz="1000" b="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000" b="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재료비는 </a:t>
                      </a:r>
                      <a:r>
                        <a:rPr lang="en-US" altLang="ko-KR" sz="1000" b="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C/O</a:t>
                      </a:r>
                      <a:r>
                        <a:rPr lang="ko-KR" altLang="en-US" sz="1000" b="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와 </a:t>
                      </a:r>
                      <a:r>
                        <a:rPr lang="en-US" altLang="ko-KR" sz="1000" b="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b="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b="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ko-KR" altLang="en-US" sz="1000" b="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신규재료비 두개 항목으로 구분하여 표시함</a:t>
                      </a:r>
                      <a:endParaRPr lang="en-US" altLang="ko-KR" sz="1000" b="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수정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계산하기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수정가능 하도록 활성화하고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최종목표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금액 입력 후 차이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절감목표가 자동 산출되도록 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정보 확인 후 최종 저장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확정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원가관리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후 수정 불가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8-3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현상원가와 배부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Guide: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가져오기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합계의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개당 금액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배부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시 참조한 견적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배부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배부 기준으로 기존에 산출한 값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7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8-4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목표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절감목표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최종목표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각 부문이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Key-In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함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숫자만 입력 가능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제조원가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영업이익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총원가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경상이익률은 자동계산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원가항목은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‘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배부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 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목표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’, </a:t>
                      </a: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매출액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영업이익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‘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목표－배부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 ’</a:t>
                      </a: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조정사유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Text  Key-In(20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자 限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).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형광표시된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부분 제외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절감목표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원가항목은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‘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목표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’, </a:t>
                      </a: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매출액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영업이익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‘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목표－견적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’</a:t>
                      </a: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13</a:t>
            </a:r>
            <a:endParaRPr lang="ko-KR" altLang="en-US" sz="1000" dirty="0" smtClean="0">
              <a:solidFill>
                <a:srgbClr val="000000"/>
              </a:solidFill>
              <a:latin typeface="Arial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부문별 절감액 및 절감 계획 활동 등록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(1/2)</a:t>
            </a:r>
            <a:endParaRPr lang="ko-KR" altLang="en-US" sz="1000" dirty="0" smtClean="0">
              <a:solidFill>
                <a:srgbClr val="000000"/>
              </a:solidFill>
              <a:latin typeface="Arial"/>
              <a:ea typeface="가는각진제목체" pitchFamily="18" charset="-127"/>
              <a:cs typeface="Arial" pitchFamily="34" charset="0"/>
            </a:endParaRPr>
          </a:p>
        </p:txBody>
      </p:sp>
      <p:graphicFrame>
        <p:nvGraphicFramePr>
          <p:cNvPr id="62" name="표 61"/>
          <p:cNvGraphicFramePr>
            <a:graphicFrameLocks noGrp="1"/>
          </p:cNvGraphicFramePr>
          <p:nvPr/>
        </p:nvGraphicFramePr>
        <p:xfrm>
          <a:off x="423872" y="2060810"/>
          <a:ext cx="2484000" cy="323925"/>
        </p:xfrm>
        <a:graphic>
          <a:graphicData uri="http://schemas.openxmlformats.org/drawingml/2006/table">
            <a:tbl>
              <a:tblPr/>
              <a:tblGrid>
                <a:gridCol w="828000"/>
                <a:gridCol w="612000"/>
                <a:gridCol w="1044000"/>
              </a:tblGrid>
              <a:tr h="162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원가코드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13007-TMA-T01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5" name="AutoShape 279"/>
          <p:cNvSpPr>
            <a:spLocks noChangeArrowheads="1"/>
          </p:cNvSpPr>
          <p:nvPr/>
        </p:nvSpPr>
        <p:spPr bwMode="auto">
          <a:xfrm>
            <a:off x="344654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78" name="AutoShape 279"/>
          <p:cNvSpPr>
            <a:spLocks noChangeArrowheads="1"/>
          </p:cNvSpPr>
          <p:nvPr/>
        </p:nvSpPr>
        <p:spPr bwMode="auto">
          <a:xfrm>
            <a:off x="5674375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79" name="AutoShape 279"/>
          <p:cNvSpPr>
            <a:spLocks noChangeArrowheads="1"/>
          </p:cNvSpPr>
          <p:nvPr/>
        </p:nvSpPr>
        <p:spPr bwMode="auto">
          <a:xfrm>
            <a:off x="560114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확정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grpSp>
        <p:nvGrpSpPr>
          <p:cNvPr id="2" name="그룹 50"/>
          <p:cNvGrpSpPr/>
          <p:nvPr/>
        </p:nvGrpSpPr>
        <p:grpSpPr>
          <a:xfrm>
            <a:off x="344360" y="1737336"/>
            <a:ext cx="5496340" cy="252000"/>
            <a:chOff x="344360" y="1963400"/>
            <a:chExt cx="5496340" cy="252000"/>
          </a:xfrm>
        </p:grpSpPr>
        <p:sp>
          <p:nvSpPr>
            <p:cNvPr id="57" name="한쪽 모서리가 잘린 사각형 56"/>
            <p:cNvSpPr/>
            <p:nvPr/>
          </p:nvSpPr>
          <p:spPr bwMode="auto">
            <a:xfrm>
              <a:off x="344360" y="1963400"/>
              <a:ext cx="863728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목표 수익률 관리</a:t>
              </a:r>
            </a:p>
          </p:txBody>
        </p:sp>
        <p:sp>
          <p:nvSpPr>
            <p:cNvPr id="60" name="한쪽 모서리가 잘린 사각형 59"/>
            <p:cNvSpPr/>
            <p:nvPr/>
          </p:nvSpPr>
          <p:spPr bwMode="auto">
            <a:xfrm>
              <a:off x="1195780" y="1963400"/>
              <a:ext cx="104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견적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현상 원가 불러오기</a:t>
              </a:r>
            </a:p>
          </p:txBody>
        </p:sp>
        <p:sp>
          <p:nvSpPr>
            <p:cNvPr id="63" name="한쪽 모서리가 잘린 사각형 62"/>
            <p:cNvSpPr/>
            <p:nvPr/>
          </p:nvSpPr>
          <p:spPr bwMode="auto">
            <a:xfrm>
              <a:off x="2237830" y="1963400"/>
              <a:ext cx="1152524" cy="252000"/>
            </a:xfrm>
            <a:prstGeom prst="snip1Rect">
              <a:avLst/>
            </a:prstGeom>
            <a:noFill/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부문별 목표 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Guide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산출</a:t>
              </a:r>
            </a:p>
          </p:txBody>
        </p:sp>
        <p:sp>
          <p:nvSpPr>
            <p:cNvPr id="66" name="한쪽 모서리가 잘린 사각형 65"/>
            <p:cNvSpPr/>
            <p:nvPr/>
          </p:nvSpPr>
          <p:spPr bwMode="auto">
            <a:xfrm>
              <a:off x="3386191" y="1963400"/>
              <a:ext cx="1224000" cy="252000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절감목표와  달성계획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등록</a:t>
              </a:r>
            </a:p>
          </p:txBody>
        </p:sp>
        <p:sp>
          <p:nvSpPr>
            <p:cNvPr id="67" name="한쪽 모서리가 잘린 사각형 66"/>
            <p:cNvSpPr/>
            <p:nvPr/>
          </p:nvSpPr>
          <p:spPr bwMode="auto">
            <a:xfrm>
              <a:off x="4616700" y="1963400"/>
              <a:ext cx="122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ea typeface="가는각진제목체" pitchFamily="18" charset="-127"/>
                  <a:cs typeface="Arial" pitchFamily="34" charset="0"/>
                </a:rPr>
                <a:t>부문별 목표원가 상세 내역</a:t>
              </a:r>
            </a:p>
          </p:txBody>
        </p:sp>
      </p:grpSp>
      <p:sp>
        <p:nvSpPr>
          <p:cNvPr id="71" name="타원 70"/>
          <p:cNvSpPr/>
          <p:nvPr/>
        </p:nvSpPr>
        <p:spPr>
          <a:xfrm>
            <a:off x="3272386" y="161876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rgbClr val="FFFFFF"/>
                </a:solidFill>
                <a:latin typeface="Arial"/>
                <a:ea typeface="가는각진제목체" pitchFamily="18" charset="-127"/>
              </a:rPr>
              <a:t>8</a:t>
            </a:r>
            <a:endParaRPr lang="ko-KR" altLang="en-US" sz="1100" b="1" dirty="0" smtClean="0">
              <a:solidFill>
                <a:srgbClr val="FFFFFF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74" name="모서리가 둥근 직사각형 73"/>
          <p:cNvSpPr/>
          <p:nvPr/>
        </p:nvSpPr>
        <p:spPr bwMode="auto">
          <a:xfrm>
            <a:off x="428871" y="1268413"/>
            <a:ext cx="4968000" cy="32400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76" name="TextBox 75"/>
          <p:cNvSpPr txBox="1">
            <a:spLocks noChangeArrowheads="1"/>
          </p:cNvSpPr>
          <p:nvPr/>
        </p:nvSpPr>
        <p:spPr bwMode="auto">
          <a:xfrm>
            <a:off x="1924628" y="131711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en-US" altLang="ko-KR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OEM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270170" y="131711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제품</a:t>
            </a:r>
          </a:p>
        </p:txBody>
      </p:sp>
      <p:sp>
        <p:nvSpPr>
          <p:cNvPr id="82" name="TextBox 36"/>
          <p:cNvSpPr txBox="1">
            <a:spLocks noChangeArrowheads="1"/>
          </p:cNvSpPr>
          <p:nvPr/>
        </p:nvSpPr>
        <p:spPr bwMode="auto">
          <a:xfrm>
            <a:off x="466638" y="131711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사업부</a:t>
            </a:r>
          </a:p>
        </p:txBody>
      </p:sp>
      <p:grpSp>
        <p:nvGrpSpPr>
          <p:cNvPr id="3" name="그룹 69"/>
          <p:cNvGrpSpPr/>
          <p:nvPr/>
        </p:nvGrpSpPr>
        <p:grpSpPr>
          <a:xfrm>
            <a:off x="798871" y="1317118"/>
            <a:ext cx="360000" cy="226591"/>
            <a:chOff x="837169" y="1307470"/>
            <a:chExt cx="360000" cy="226591"/>
          </a:xfrm>
        </p:grpSpPr>
        <p:sp>
          <p:nvSpPr>
            <p:cNvPr id="84" name="TextBox 83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6" name="실행 단추: 앞으로 또는 다음 85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65"/>
          <p:cNvGrpSpPr/>
          <p:nvPr/>
        </p:nvGrpSpPr>
        <p:grpSpPr>
          <a:xfrm>
            <a:off x="1484876" y="1317118"/>
            <a:ext cx="360000" cy="226591"/>
            <a:chOff x="1701166" y="1307502"/>
            <a:chExt cx="360000" cy="226591"/>
          </a:xfrm>
        </p:grpSpPr>
        <p:sp>
          <p:nvSpPr>
            <p:cNvPr id="88" name="TextBox 87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9" name="실행 단추: 앞으로 또는 다음 8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5" name="그룹 70"/>
          <p:cNvGrpSpPr/>
          <p:nvPr/>
        </p:nvGrpSpPr>
        <p:grpSpPr>
          <a:xfrm>
            <a:off x="2253136" y="1317118"/>
            <a:ext cx="360000" cy="226591"/>
            <a:chOff x="2709337" y="1307502"/>
            <a:chExt cx="360000" cy="226591"/>
          </a:xfrm>
        </p:grpSpPr>
        <p:sp>
          <p:nvSpPr>
            <p:cNvPr id="91" name="TextBox 9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93" name="실행 단추: 앞으로 또는 다음 92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94" name="TextBox 33"/>
          <p:cNvSpPr txBox="1">
            <a:spLocks noChangeArrowheads="1"/>
          </p:cNvSpPr>
          <p:nvPr/>
        </p:nvSpPr>
        <p:spPr bwMode="auto">
          <a:xfrm>
            <a:off x="2786370" y="131711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차종</a:t>
            </a:r>
          </a:p>
        </p:txBody>
      </p:sp>
      <p:grpSp>
        <p:nvGrpSpPr>
          <p:cNvPr id="6" name="그룹 74"/>
          <p:cNvGrpSpPr/>
          <p:nvPr/>
        </p:nvGrpSpPr>
        <p:grpSpPr>
          <a:xfrm>
            <a:off x="3009109" y="1317118"/>
            <a:ext cx="360000" cy="226591"/>
            <a:chOff x="2709337" y="1307502"/>
            <a:chExt cx="360000" cy="226591"/>
          </a:xfrm>
        </p:grpSpPr>
        <p:sp>
          <p:nvSpPr>
            <p:cNvPr id="96" name="TextBox 9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02" name="실행 단추: 앞으로 또는 다음 10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04" name="TextBox 33"/>
          <p:cNvSpPr txBox="1">
            <a:spLocks noChangeArrowheads="1"/>
          </p:cNvSpPr>
          <p:nvPr/>
        </p:nvSpPr>
        <p:spPr bwMode="auto">
          <a:xfrm>
            <a:off x="3566725" y="131711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프로젝트</a:t>
            </a:r>
          </a:p>
        </p:txBody>
      </p:sp>
      <p:grpSp>
        <p:nvGrpSpPr>
          <p:cNvPr id="7" name="그룹 74"/>
          <p:cNvGrpSpPr/>
          <p:nvPr/>
        </p:nvGrpSpPr>
        <p:grpSpPr>
          <a:xfrm>
            <a:off x="4074182" y="1317118"/>
            <a:ext cx="360000" cy="226591"/>
            <a:chOff x="2709337" y="1307502"/>
            <a:chExt cx="360000" cy="226591"/>
          </a:xfrm>
        </p:grpSpPr>
        <p:sp>
          <p:nvSpPr>
            <p:cNvPr id="106" name="TextBox 10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07" name="실행 단추: 앞으로 또는 다음 106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08" name="TextBox 33"/>
          <p:cNvSpPr txBox="1">
            <a:spLocks noChangeArrowheads="1"/>
          </p:cNvSpPr>
          <p:nvPr/>
        </p:nvSpPr>
        <p:spPr bwMode="auto">
          <a:xfrm>
            <a:off x="4634175" y="132801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사양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grpSp>
        <p:nvGrpSpPr>
          <p:cNvPr id="8" name="그룹 74"/>
          <p:cNvGrpSpPr/>
          <p:nvPr/>
        </p:nvGrpSpPr>
        <p:grpSpPr>
          <a:xfrm>
            <a:off x="4880990" y="1328010"/>
            <a:ext cx="360000" cy="226591"/>
            <a:chOff x="2709337" y="1307502"/>
            <a:chExt cx="360000" cy="226591"/>
          </a:xfrm>
        </p:grpSpPr>
        <p:sp>
          <p:nvSpPr>
            <p:cNvPr id="110" name="TextBox 109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11" name="실행 단추: 앞으로 또는 다음 11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15" name="설명선 2(강조선) 114"/>
          <p:cNvSpPr/>
          <p:nvPr/>
        </p:nvSpPr>
        <p:spPr bwMode="auto">
          <a:xfrm>
            <a:off x="357694" y="2480026"/>
            <a:ext cx="1116000" cy="252000"/>
          </a:xfrm>
          <a:prstGeom prst="accentCallout2">
            <a:avLst>
              <a:gd name="adj1" fmla="val 41076"/>
              <a:gd name="adj2" fmla="val 99644"/>
              <a:gd name="adj3" fmla="val 41076"/>
              <a:gd name="adj4" fmla="val 112349"/>
              <a:gd name="adj5" fmla="val 119053"/>
              <a:gd name="adj6" fmla="val 122404"/>
            </a:avLst>
          </a:prstGeom>
          <a:noFill/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기존 입력정보 표시</a:t>
            </a:r>
          </a:p>
        </p:txBody>
      </p:sp>
      <p:sp>
        <p:nvSpPr>
          <p:cNvPr id="135" name="타원 134"/>
          <p:cNvSpPr>
            <a:spLocks noChangeAspect="1"/>
          </p:cNvSpPr>
          <p:nvPr/>
        </p:nvSpPr>
        <p:spPr>
          <a:xfrm>
            <a:off x="344359" y="1969476"/>
            <a:ext cx="246186" cy="2520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 anchorCtr="0"/>
          <a:lstStyle/>
          <a:p>
            <a:pPr algn="ctr"/>
            <a:r>
              <a:rPr lang="en-US" altLang="ko-KR" sz="900" b="1" dirty="0" smtClean="0">
                <a:solidFill>
                  <a:srgbClr val="FFFFFF"/>
                </a:solidFill>
                <a:latin typeface="Arial"/>
                <a:ea typeface="가는각진제목체" pitchFamily="18" charset="-127"/>
              </a:rPr>
              <a:t>8-1</a:t>
            </a:r>
            <a:endParaRPr lang="ko-KR" altLang="en-US" sz="900" b="1" dirty="0" smtClean="0">
              <a:solidFill>
                <a:srgbClr val="FFFFFF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136" name="타원 135"/>
          <p:cNvSpPr>
            <a:spLocks noChangeAspect="1"/>
          </p:cNvSpPr>
          <p:nvPr/>
        </p:nvSpPr>
        <p:spPr>
          <a:xfrm>
            <a:off x="3266614" y="1952830"/>
            <a:ext cx="246186" cy="2520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 anchorCtr="0"/>
          <a:lstStyle/>
          <a:p>
            <a:pPr algn="ctr"/>
            <a:r>
              <a:rPr lang="en-US" altLang="ko-KR" sz="900" b="1" dirty="0" smtClean="0">
                <a:solidFill>
                  <a:srgbClr val="FFFFFF"/>
                </a:solidFill>
                <a:latin typeface="Arial"/>
                <a:ea typeface="가는각진제목체" pitchFamily="18" charset="-127"/>
              </a:rPr>
              <a:t>8-2</a:t>
            </a:r>
            <a:endParaRPr lang="ko-KR" altLang="en-US" sz="900" b="1" dirty="0" smtClean="0">
              <a:solidFill>
                <a:srgbClr val="FFFFFF"/>
              </a:solidFill>
              <a:latin typeface="Arial"/>
              <a:ea typeface="가는각진제목체" pitchFamily="18" charset="-127"/>
            </a:endParaRPr>
          </a:p>
        </p:txBody>
      </p:sp>
      <p:graphicFrame>
        <p:nvGraphicFramePr>
          <p:cNvPr id="140" name="표 139"/>
          <p:cNvGraphicFramePr>
            <a:graphicFrameLocks noGrp="1"/>
          </p:cNvGraphicFramePr>
          <p:nvPr/>
        </p:nvGraphicFramePr>
        <p:xfrm>
          <a:off x="512764" y="2827268"/>
          <a:ext cx="5264931" cy="3042900"/>
        </p:xfrm>
        <a:graphic>
          <a:graphicData uri="http://schemas.openxmlformats.org/drawingml/2006/table">
            <a:tbl>
              <a:tblPr/>
              <a:tblGrid>
                <a:gridCol w="104212"/>
                <a:gridCol w="61400"/>
                <a:gridCol w="386084"/>
                <a:gridCol w="453600"/>
                <a:gridCol w="453600"/>
                <a:gridCol w="453600"/>
                <a:gridCol w="451586"/>
                <a:gridCol w="828000"/>
                <a:gridCol w="416849"/>
                <a:gridCol w="266400"/>
                <a:gridCol w="453600"/>
                <a:gridCol w="266400"/>
                <a:gridCol w="453600"/>
                <a:gridCol w="216000"/>
              </a:tblGrid>
              <a:tr h="167640">
                <a:tc rowSpan="2" grid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</a:p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배부 </a:t>
                      </a:r>
                      <a:endParaRPr lang="en-US" altLang="ko-KR" sz="800" b="1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ctr" rtl="0" fontAlgn="ctr"/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 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목표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조정사유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 목표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절감 목표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75260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금액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금액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매출액 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441,128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436,998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437,000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원단위 절사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4,128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4,128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1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재료비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255,854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243,860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244,000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11,854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C/O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102,342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97,544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97,600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추가 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TCI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불가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4,742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구매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4,742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NEW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153,513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146,316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146,400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84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수입자재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Nego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難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7,113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구매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3,556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설계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3,556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en-US" altLang="ko-KR" sz="800" b="1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노무비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32,233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30,722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30,800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근로자 요구사항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1,433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생기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1,433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경비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85,585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81,572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81,572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품질향상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4,013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생기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4,013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감가상각비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34,885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33,249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33,300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품질향상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1,585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생기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1,585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제조원가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408,557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389,404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389,672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268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18,885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인건비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1,300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1,239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1,250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근로자 요구사항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생기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판매관리비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3,115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3,115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3,115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영업이익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28,156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43,239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42,963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16,200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14,807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800" b="1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영업외수지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10,133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10,133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10,133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총원가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412,972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393,758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394,037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16,200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18,935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28,156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43,239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42,963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276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14,807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경상이익률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6.4%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9.9%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9.8%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0.1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3.4%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4" name="직사각형 113"/>
          <p:cNvSpPr/>
          <p:nvPr/>
        </p:nvSpPr>
        <p:spPr bwMode="auto">
          <a:xfrm>
            <a:off x="1064988" y="2828410"/>
            <a:ext cx="936000" cy="360753"/>
          </a:xfrm>
          <a:prstGeom prst="rect">
            <a:avLst/>
          </a:prstGeom>
          <a:noFill/>
          <a:ln w="25400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16" name="직사각형 115"/>
          <p:cNvSpPr/>
          <p:nvPr/>
        </p:nvSpPr>
        <p:spPr bwMode="auto">
          <a:xfrm>
            <a:off x="1988775" y="2828410"/>
            <a:ext cx="432000" cy="360000"/>
          </a:xfrm>
          <a:prstGeom prst="rect">
            <a:avLst/>
          </a:prstGeom>
          <a:noFill/>
          <a:ln w="25400" algn="ctr">
            <a:solidFill>
              <a:srgbClr val="0000CC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18" name="직사각형 117"/>
          <p:cNvSpPr/>
          <p:nvPr/>
        </p:nvSpPr>
        <p:spPr bwMode="auto">
          <a:xfrm>
            <a:off x="2648680" y="2455725"/>
            <a:ext cx="684000" cy="2520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algn="ctr">
            <a:noFill/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>
              <a:lnSpc>
                <a:spcPct val="90000"/>
              </a:lnSpc>
            </a:pPr>
            <a:r>
              <a:rPr lang="ko-KR" altLang="en-US" sz="10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직접입력</a:t>
            </a:r>
            <a:r>
              <a:rPr lang="en-US" altLang="ko-KR" sz="10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</a:p>
        </p:txBody>
      </p:sp>
      <p:cxnSp>
        <p:nvCxnSpPr>
          <p:cNvPr id="121" name="직선 화살표 연결선 120"/>
          <p:cNvCxnSpPr>
            <a:stCxn id="118" idx="1"/>
            <a:endCxn id="116" idx="0"/>
          </p:cNvCxnSpPr>
          <p:nvPr/>
        </p:nvCxnSpPr>
        <p:spPr bwMode="auto">
          <a:xfrm flipH="1">
            <a:off x="2204775" y="2581725"/>
            <a:ext cx="443905" cy="246685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rgbClr val="080808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1" name="직사각형 130"/>
          <p:cNvSpPr/>
          <p:nvPr/>
        </p:nvSpPr>
        <p:spPr bwMode="auto">
          <a:xfrm>
            <a:off x="2877345" y="2828410"/>
            <a:ext cx="828000" cy="360000"/>
          </a:xfrm>
          <a:prstGeom prst="rect">
            <a:avLst/>
          </a:prstGeom>
          <a:noFill/>
          <a:ln w="25400" algn="ctr">
            <a:solidFill>
              <a:srgbClr val="0000CC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cxnSp>
        <p:nvCxnSpPr>
          <p:cNvPr id="132" name="직선 화살표 연결선 131"/>
          <p:cNvCxnSpPr>
            <a:stCxn id="118" idx="2"/>
            <a:endCxn id="131" idx="0"/>
          </p:cNvCxnSpPr>
          <p:nvPr/>
        </p:nvCxnSpPr>
        <p:spPr bwMode="auto">
          <a:xfrm>
            <a:off x="2990680" y="2707725"/>
            <a:ext cx="300665" cy="120685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rgbClr val="080808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7" name="타원 136"/>
          <p:cNvSpPr>
            <a:spLocks noChangeAspect="1"/>
          </p:cNvSpPr>
          <p:nvPr/>
        </p:nvSpPr>
        <p:spPr>
          <a:xfrm>
            <a:off x="968700" y="2684390"/>
            <a:ext cx="246186" cy="2520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 anchorCtr="0"/>
          <a:lstStyle/>
          <a:p>
            <a:pPr algn="ctr"/>
            <a:r>
              <a:rPr lang="en-US" altLang="ko-KR" sz="900" b="1" dirty="0" smtClean="0">
                <a:solidFill>
                  <a:srgbClr val="FFFFFF"/>
                </a:solidFill>
                <a:latin typeface="Arial"/>
                <a:ea typeface="가는각진제목체" pitchFamily="18" charset="-127"/>
              </a:rPr>
              <a:t>8-3</a:t>
            </a:r>
            <a:endParaRPr lang="ko-KR" altLang="en-US" sz="900" b="1" dirty="0" smtClean="0">
              <a:solidFill>
                <a:srgbClr val="FFFFFF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138" name="타원 137"/>
          <p:cNvSpPr>
            <a:spLocks noChangeAspect="1"/>
          </p:cNvSpPr>
          <p:nvPr/>
        </p:nvSpPr>
        <p:spPr>
          <a:xfrm>
            <a:off x="1928580" y="2684390"/>
            <a:ext cx="246186" cy="2520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 anchorCtr="0"/>
          <a:lstStyle/>
          <a:p>
            <a:pPr algn="ctr"/>
            <a:r>
              <a:rPr lang="en-US" altLang="ko-KR" sz="900" b="1" dirty="0" smtClean="0">
                <a:solidFill>
                  <a:srgbClr val="FFFFFF"/>
                </a:solidFill>
                <a:latin typeface="Arial"/>
                <a:ea typeface="가는각진제목체" pitchFamily="18" charset="-127"/>
              </a:rPr>
              <a:t>8-4</a:t>
            </a:r>
            <a:endParaRPr lang="ko-KR" altLang="en-US" sz="900" b="1" dirty="0" smtClean="0">
              <a:solidFill>
                <a:srgbClr val="FFFFFF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113" name="설명선 2(강조선) 112"/>
          <p:cNvSpPr/>
          <p:nvPr/>
        </p:nvSpPr>
        <p:spPr bwMode="auto">
          <a:xfrm>
            <a:off x="1629489" y="5888890"/>
            <a:ext cx="1685137" cy="396000"/>
          </a:xfrm>
          <a:prstGeom prst="accentCallout2">
            <a:avLst>
              <a:gd name="adj1" fmla="val 51792"/>
              <a:gd name="adj2" fmla="val -1942"/>
              <a:gd name="adj3" fmla="val 51792"/>
              <a:gd name="adj4" fmla="val -15612"/>
              <a:gd name="adj5" fmla="val -501813"/>
              <a:gd name="adj6" fmla="val -40462"/>
            </a:avLst>
          </a:prstGeom>
          <a:noFill/>
          <a:ln w="12700" algn="ctr">
            <a:solidFill>
              <a:srgbClr val="111111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>
              <a:lnSpc>
                <a:spcPct val="110000"/>
              </a:lnSpc>
            </a:pPr>
            <a:r>
              <a:rPr lang="ko-KR" altLang="en-US" sz="1000" b="1" dirty="0" err="1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목표절감액을</a:t>
            </a:r>
            <a:r>
              <a:rPr lang="ko-KR" altLang="en-US" sz="10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lang="ko-KR" altLang="en-US" sz="1000" b="1" dirty="0" err="1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부여받는</a:t>
            </a:r>
            <a:r>
              <a:rPr lang="ko-KR" altLang="en-US" sz="10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부문이 상이하므로</a:t>
            </a:r>
            <a:r>
              <a:rPr lang="en-US" altLang="ko-KR" sz="10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</a:p>
          <a:p>
            <a:pPr eaLnBrk="0" latinLnBrk="0" hangingPunct="0">
              <a:lnSpc>
                <a:spcPct val="110000"/>
              </a:lnSpc>
            </a:pPr>
            <a:r>
              <a:rPr lang="ko-KR" altLang="en-US" sz="10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재료비는 </a:t>
            </a:r>
            <a:r>
              <a:rPr lang="en-US" altLang="ko-KR" sz="10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C/O</a:t>
            </a:r>
            <a:r>
              <a:rPr lang="ko-KR" altLang="en-US" sz="10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와 신규를 구분 함</a:t>
            </a:r>
          </a:p>
        </p:txBody>
      </p:sp>
      <p:sp>
        <p:nvSpPr>
          <p:cNvPr id="112" name="모서리가 둥근 직사각형 111"/>
          <p:cNvSpPr/>
          <p:nvPr/>
        </p:nvSpPr>
        <p:spPr bwMode="auto">
          <a:xfrm>
            <a:off x="585410" y="3548510"/>
            <a:ext cx="468000" cy="324000"/>
          </a:xfrm>
          <a:prstGeom prst="roundRect">
            <a:avLst/>
          </a:prstGeom>
          <a:noFill/>
          <a:ln w="22225" algn="ctr">
            <a:solidFill>
              <a:srgbClr val="FF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69" name="AutoShape 279"/>
          <p:cNvSpPr>
            <a:spLocks noChangeArrowheads="1"/>
          </p:cNvSpPr>
          <p:nvPr/>
        </p:nvSpPr>
        <p:spPr bwMode="auto">
          <a:xfrm>
            <a:off x="5061056" y="2493000"/>
            <a:ext cx="648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99FF99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rgbClr val="00B050"/>
            </a:solidFill>
            <a:round/>
            <a:headEnd/>
            <a:tailEnd/>
          </a:ln>
          <a:effectLst/>
        </p:spPr>
        <p:txBody>
          <a:bodyPr wrap="none" lIns="3600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차수정보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70" name="실행 단추: 앞으로 또는 다음 69">
            <a:hlinkClick r:id="" action="ppaction://noaction" highlightClick="1"/>
          </p:cNvPr>
          <p:cNvSpPr/>
          <p:nvPr/>
        </p:nvSpPr>
        <p:spPr bwMode="auto">
          <a:xfrm rot="5400000">
            <a:off x="5541964" y="2523858"/>
            <a:ext cx="180000" cy="154184"/>
          </a:xfrm>
          <a:prstGeom prst="actionButtonForwardNext">
            <a:avLst/>
          </a:prstGeom>
          <a:solidFill>
            <a:srgbClr val="00B050"/>
          </a:solidFill>
          <a:ln w="9525" algn="ctr">
            <a:noFill/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 dirty="0">
              <a:solidFill>
                <a:srgbClr val="000000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Arial"/>
                <a:ea typeface="가는각진제목체" pitchFamily="18" charset="-127"/>
              </a:rPr>
              <a:t>원가관리</a:t>
            </a:r>
          </a:p>
        </p:txBody>
      </p: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88797"/>
            <a:ext cx="5691889" cy="4284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</p:txBody>
      </p:sp>
      <p:sp>
        <p:nvSpPr>
          <p:cNvPr id="92" name="AutoShape 279"/>
          <p:cNvSpPr>
            <a:spLocks noChangeArrowheads="1"/>
          </p:cNvSpPr>
          <p:nvPr/>
        </p:nvSpPr>
        <p:spPr bwMode="auto">
          <a:xfrm>
            <a:off x="519182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54" name="AutoShape 279"/>
          <p:cNvSpPr>
            <a:spLocks noChangeArrowheads="1"/>
          </p:cNvSpPr>
          <p:nvPr/>
        </p:nvSpPr>
        <p:spPr bwMode="auto">
          <a:xfrm>
            <a:off x="385586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생성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56" name="AutoShape 279"/>
          <p:cNvSpPr>
            <a:spLocks noChangeArrowheads="1"/>
          </p:cNvSpPr>
          <p:nvPr/>
        </p:nvSpPr>
        <p:spPr bwMode="auto">
          <a:xfrm>
            <a:off x="426518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59" name="AutoShape 279"/>
          <p:cNvSpPr>
            <a:spLocks noChangeArrowheads="1"/>
          </p:cNvSpPr>
          <p:nvPr/>
        </p:nvSpPr>
        <p:spPr bwMode="auto">
          <a:xfrm>
            <a:off x="4674500" y="2060810"/>
            <a:ext cx="468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계산하기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graphicFrame>
        <p:nvGraphicFramePr>
          <p:cNvPr id="64" name="Group 82"/>
          <p:cNvGraphicFramePr>
            <a:graphicFrameLocks noGrp="1"/>
          </p:cNvGraphicFramePr>
          <p:nvPr/>
        </p:nvGraphicFramePr>
        <p:xfrm>
          <a:off x="6149460" y="1012870"/>
          <a:ext cx="3528000" cy="432240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목표원가와 목표 달성 계획을 등록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8-5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절감 목표</a:t>
                      </a:r>
                      <a:endParaRPr lang="en-US" altLang="ko-KR" sz="1000" b="1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절감목표를 달성하기 위한 상세 계획을 수립하여 등록함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금액을 총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개까지 둠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예시화면은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이나 실제는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으로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부문은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콤보박스로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선택하며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금액은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클릭시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Pop-Up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창이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나타나도록하여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그곳에 등록하고 결과값만 표시되도록 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8-6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절감 목표 등록</a:t>
                      </a:r>
                      <a:r>
                        <a:rPr lang="en-US" altLang="ko-KR" sz="10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(Pop-up </a:t>
                      </a:r>
                      <a:r>
                        <a:rPr lang="ko-KR" altLang="en-US" sz="10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창 기능</a:t>
                      </a:r>
                      <a:r>
                        <a:rPr lang="en-US" altLang="ko-KR" sz="10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숫자가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입력되야할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부분을 클릭하면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Pop-up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창이 나타남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좌측의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을 우선 선택하여야 입력 가능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선택된 부문 정보를 그대로 표시함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직접 수정 불가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해당 행의 원가항목과 동일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직접 수정 불가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절감계획서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파일 업로드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(1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절감계획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원가절감활동 유형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Master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활용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Level1~Level3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의 내용은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Master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의 내용 중 선택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금액은 숫자로 직접 입력함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행 추가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버튼을 이용하여 필요한 만큼의 행 생성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입력 완료 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버튼을 누르면 입력한 금액의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합계가 계산되며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해당 금액이 부문별 절감목표에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저장된다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    </a:t>
                      </a: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8-7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차수정보</a:t>
                      </a:r>
                      <a:endParaRPr lang="en-US" altLang="ko-KR" sz="1000" b="1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콤보박스로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선택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최초 목표설정과 단계별로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재배부를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구분함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콤보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박스 선택 가능항목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∙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최초 목표 수립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∙ 1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 목표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재배부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 5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 목표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재배부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원가관리만 사용가능하며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필수입력 항목으로서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미입력시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확정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버튼으로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Freezing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불가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13</a:t>
            </a:r>
            <a:endParaRPr lang="ko-KR" altLang="en-US" sz="1000" dirty="0" smtClean="0">
              <a:solidFill>
                <a:srgbClr val="000000"/>
              </a:solidFill>
              <a:latin typeface="Arial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부문별 절감액 및 절감 계획 활동 등록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(2/2)</a:t>
            </a:r>
            <a:endParaRPr lang="ko-KR" altLang="en-US" sz="1000" dirty="0" smtClean="0">
              <a:solidFill>
                <a:srgbClr val="000000"/>
              </a:solidFill>
              <a:latin typeface="Arial"/>
              <a:ea typeface="가는각진제목체" pitchFamily="18" charset="-127"/>
              <a:cs typeface="Arial" pitchFamily="34" charset="0"/>
            </a:endParaRPr>
          </a:p>
        </p:txBody>
      </p:sp>
      <p:graphicFrame>
        <p:nvGraphicFramePr>
          <p:cNvPr id="62" name="표 61"/>
          <p:cNvGraphicFramePr>
            <a:graphicFrameLocks noGrp="1"/>
          </p:cNvGraphicFramePr>
          <p:nvPr/>
        </p:nvGraphicFramePr>
        <p:xfrm>
          <a:off x="423872" y="2060810"/>
          <a:ext cx="2484000" cy="323925"/>
        </p:xfrm>
        <a:graphic>
          <a:graphicData uri="http://schemas.openxmlformats.org/drawingml/2006/table">
            <a:tbl>
              <a:tblPr/>
              <a:tblGrid>
                <a:gridCol w="828000"/>
                <a:gridCol w="612000"/>
                <a:gridCol w="1044000"/>
              </a:tblGrid>
              <a:tr h="162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원가코드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13007-TMA-T01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5" name="AutoShape 279"/>
          <p:cNvSpPr>
            <a:spLocks noChangeArrowheads="1"/>
          </p:cNvSpPr>
          <p:nvPr/>
        </p:nvSpPr>
        <p:spPr bwMode="auto">
          <a:xfrm>
            <a:off x="344654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78" name="AutoShape 279"/>
          <p:cNvSpPr>
            <a:spLocks noChangeArrowheads="1"/>
          </p:cNvSpPr>
          <p:nvPr/>
        </p:nvSpPr>
        <p:spPr bwMode="auto">
          <a:xfrm>
            <a:off x="5674375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79" name="AutoShape 279"/>
          <p:cNvSpPr>
            <a:spLocks noChangeArrowheads="1"/>
          </p:cNvSpPr>
          <p:nvPr/>
        </p:nvSpPr>
        <p:spPr bwMode="auto">
          <a:xfrm>
            <a:off x="560114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확정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grpSp>
        <p:nvGrpSpPr>
          <p:cNvPr id="2" name="그룹 50"/>
          <p:cNvGrpSpPr/>
          <p:nvPr/>
        </p:nvGrpSpPr>
        <p:grpSpPr>
          <a:xfrm>
            <a:off x="344360" y="1737336"/>
            <a:ext cx="5496340" cy="252000"/>
            <a:chOff x="344360" y="1963400"/>
            <a:chExt cx="5496340" cy="252000"/>
          </a:xfrm>
        </p:grpSpPr>
        <p:sp>
          <p:nvSpPr>
            <p:cNvPr id="57" name="한쪽 모서리가 잘린 사각형 56"/>
            <p:cNvSpPr/>
            <p:nvPr/>
          </p:nvSpPr>
          <p:spPr bwMode="auto">
            <a:xfrm>
              <a:off x="344360" y="1963400"/>
              <a:ext cx="863728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목표 수익률 관리</a:t>
              </a:r>
            </a:p>
          </p:txBody>
        </p:sp>
        <p:sp>
          <p:nvSpPr>
            <p:cNvPr id="60" name="한쪽 모서리가 잘린 사각형 59"/>
            <p:cNvSpPr/>
            <p:nvPr/>
          </p:nvSpPr>
          <p:spPr bwMode="auto">
            <a:xfrm>
              <a:off x="1195780" y="1963400"/>
              <a:ext cx="104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견적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현상 원가 불러오기</a:t>
              </a:r>
            </a:p>
          </p:txBody>
        </p:sp>
        <p:sp>
          <p:nvSpPr>
            <p:cNvPr id="63" name="한쪽 모서리가 잘린 사각형 62"/>
            <p:cNvSpPr/>
            <p:nvPr/>
          </p:nvSpPr>
          <p:spPr bwMode="auto">
            <a:xfrm>
              <a:off x="2237830" y="1963400"/>
              <a:ext cx="1152524" cy="252000"/>
            </a:xfrm>
            <a:prstGeom prst="snip1Rect">
              <a:avLst/>
            </a:prstGeom>
            <a:noFill/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부문별 목표 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Guide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산출</a:t>
              </a:r>
            </a:p>
          </p:txBody>
        </p:sp>
        <p:sp>
          <p:nvSpPr>
            <p:cNvPr id="66" name="한쪽 모서리가 잘린 사각형 65"/>
            <p:cNvSpPr/>
            <p:nvPr/>
          </p:nvSpPr>
          <p:spPr bwMode="auto">
            <a:xfrm>
              <a:off x="3386191" y="1963400"/>
              <a:ext cx="1224000" cy="252000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절감목표와  달성계획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등록</a:t>
              </a:r>
            </a:p>
          </p:txBody>
        </p:sp>
        <p:sp>
          <p:nvSpPr>
            <p:cNvPr id="67" name="한쪽 모서리가 잘린 사각형 66"/>
            <p:cNvSpPr/>
            <p:nvPr/>
          </p:nvSpPr>
          <p:spPr bwMode="auto">
            <a:xfrm>
              <a:off x="4616700" y="1963400"/>
              <a:ext cx="122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ea typeface="가는각진제목체" pitchFamily="18" charset="-127"/>
                  <a:cs typeface="Arial" pitchFamily="34" charset="0"/>
                </a:rPr>
                <a:t>부문별 목표원가 상세 내역</a:t>
              </a:r>
            </a:p>
          </p:txBody>
        </p:sp>
      </p:grpSp>
      <p:sp>
        <p:nvSpPr>
          <p:cNvPr id="74" name="모서리가 둥근 직사각형 73"/>
          <p:cNvSpPr/>
          <p:nvPr/>
        </p:nvSpPr>
        <p:spPr bwMode="auto">
          <a:xfrm>
            <a:off x="428871" y="1268413"/>
            <a:ext cx="4968000" cy="32400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76" name="TextBox 75"/>
          <p:cNvSpPr txBox="1">
            <a:spLocks noChangeArrowheads="1"/>
          </p:cNvSpPr>
          <p:nvPr/>
        </p:nvSpPr>
        <p:spPr bwMode="auto">
          <a:xfrm>
            <a:off x="1924628" y="131711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en-US" altLang="ko-KR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OEM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270170" y="131711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제품</a:t>
            </a:r>
          </a:p>
        </p:txBody>
      </p:sp>
      <p:sp>
        <p:nvSpPr>
          <p:cNvPr id="82" name="TextBox 36"/>
          <p:cNvSpPr txBox="1">
            <a:spLocks noChangeArrowheads="1"/>
          </p:cNvSpPr>
          <p:nvPr/>
        </p:nvSpPr>
        <p:spPr bwMode="auto">
          <a:xfrm>
            <a:off x="466638" y="131711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사업부</a:t>
            </a:r>
          </a:p>
        </p:txBody>
      </p:sp>
      <p:grpSp>
        <p:nvGrpSpPr>
          <p:cNvPr id="3" name="그룹 69"/>
          <p:cNvGrpSpPr/>
          <p:nvPr/>
        </p:nvGrpSpPr>
        <p:grpSpPr>
          <a:xfrm>
            <a:off x="798871" y="1317118"/>
            <a:ext cx="360000" cy="226591"/>
            <a:chOff x="837169" y="1307470"/>
            <a:chExt cx="360000" cy="226591"/>
          </a:xfrm>
        </p:grpSpPr>
        <p:sp>
          <p:nvSpPr>
            <p:cNvPr id="84" name="TextBox 83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6" name="실행 단추: 앞으로 또는 다음 85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65"/>
          <p:cNvGrpSpPr/>
          <p:nvPr/>
        </p:nvGrpSpPr>
        <p:grpSpPr>
          <a:xfrm>
            <a:off x="1484876" y="1317118"/>
            <a:ext cx="360000" cy="226591"/>
            <a:chOff x="1701166" y="1307502"/>
            <a:chExt cx="360000" cy="226591"/>
          </a:xfrm>
        </p:grpSpPr>
        <p:sp>
          <p:nvSpPr>
            <p:cNvPr id="88" name="TextBox 87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9" name="실행 단추: 앞으로 또는 다음 8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5" name="그룹 70"/>
          <p:cNvGrpSpPr/>
          <p:nvPr/>
        </p:nvGrpSpPr>
        <p:grpSpPr>
          <a:xfrm>
            <a:off x="2253136" y="1317118"/>
            <a:ext cx="360000" cy="226591"/>
            <a:chOff x="2709337" y="1307502"/>
            <a:chExt cx="360000" cy="226591"/>
          </a:xfrm>
        </p:grpSpPr>
        <p:sp>
          <p:nvSpPr>
            <p:cNvPr id="91" name="TextBox 9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93" name="실행 단추: 앞으로 또는 다음 92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94" name="TextBox 33"/>
          <p:cNvSpPr txBox="1">
            <a:spLocks noChangeArrowheads="1"/>
          </p:cNvSpPr>
          <p:nvPr/>
        </p:nvSpPr>
        <p:spPr bwMode="auto">
          <a:xfrm>
            <a:off x="2786370" y="131711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차종</a:t>
            </a:r>
          </a:p>
        </p:txBody>
      </p:sp>
      <p:grpSp>
        <p:nvGrpSpPr>
          <p:cNvPr id="6" name="그룹 74"/>
          <p:cNvGrpSpPr/>
          <p:nvPr/>
        </p:nvGrpSpPr>
        <p:grpSpPr>
          <a:xfrm>
            <a:off x="3009109" y="1317118"/>
            <a:ext cx="360000" cy="226591"/>
            <a:chOff x="2709337" y="1307502"/>
            <a:chExt cx="360000" cy="226591"/>
          </a:xfrm>
        </p:grpSpPr>
        <p:sp>
          <p:nvSpPr>
            <p:cNvPr id="96" name="TextBox 9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02" name="실행 단추: 앞으로 또는 다음 10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04" name="TextBox 33"/>
          <p:cNvSpPr txBox="1">
            <a:spLocks noChangeArrowheads="1"/>
          </p:cNvSpPr>
          <p:nvPr/>
        </p:nvSpPr>
        <p:spPr bwMode="auto">
          <a:xfrm>
            <a:off x="3566725" y="131711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프로젝트</a:t>
            </a:r>
          </a:p>
        </p:txBody>
      </p:sp>
      <p:grpSp>
        <p:nvGrpSpPr>
          <p:cNvPr id="7" name="그룹 74"/>
          <p:cNvGrpSpPr/>
          <p:nvPr/>
        </p:nvGrpSpPr>
        <p:grpSpPr>
          <a:xfrm>
            <a:off x="4074182" y="1317118"/>
            <a:ext cx="360000" cy="226591"/>
            <a:chOff x="2709337" y="1307502"/>
            <a:chExt cx="360000" cy="226591"/>
          </a:xfrm>
        </p:grpSpPr>
        <p:sp>
          <p:nvSpPr>
            <p:cNvPr id="106" name="TextBox 10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07" name="실행 단추: 앞으로 또는 다음 106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08" name="TextBox 33"/>
          <p:cNvSpPr txBox="1">
            <a:spLocks noChangeArrowheads="1"/>
          </p:cNvSpPr>
          <p:nvPr/>
        </p:nvSpPr>
        <p:spPr bwMode="auto">
          <a:xfrm>
            <a:off x="4634175" y="132801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사양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grpSp>
        <p:nvGrpSpPr>
          <p:cNvPr id="8" name="그룹 74"/>
          <p:cNvGrpSpPr/>
          <p:nvPr/>
        </p:nvGrpSpPr>
        <p:grpSpPr>
          <a:xfrm>
            <a:off x="4880990" y="1328010"/>
            <a:ext cx="360000" cy="226591"/>
            <a:chOff x="2709337" y="1307502"/>
            <a:chExt cx="360000" cy="226591"/>
          </a:xfrm>
        </p:grpSpPr>
        <p:sp>
          <p:nvSpPr>
            <p:cNvPr id="110" name="TextBox 109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11" name="실행 단추: 앞으로 또는 다음 11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graphicFrame>
        <p:nvGraphicFramePr>
          <p:cNvPr id="61" name="표 60"/>
          <p:cNvGraphicFramePr>
            <a:graphicFrameLocks noGrp="1"/>
          </p:cNvGraphicFramePr>
          <p:nvPr/>
        </p:nvGraphicFramePr>
        <p:xfrm>
          <a:off x="512764" y="2779768"/>
          <a:ext cx="5264931" cy="3042900"/>
        </p:xfrm>
        <a:graphic>
          <a:graphicData uri="http://schemas.openxmlformats.org/drawingml/2006/table">
            <a:tbl>
              <a:tblPr/>
              <a:tblGrid>
                <a:gridCol w="104212"/>
                <a:gridCol w="61400"/>
                <a:gridCol w="386084"/>
                <a:gridCol w="453600"/>
                <a:gridCol w="453600"/>
                <a:gridCol w="453600"/>
                <a:gridCol w="451586"/>
                <a:gridCol w="828000"/>
                <a:gridCol w="416849"/>
                <a:gridCol w="266400"/>
                <a:gridCol w="453600"/>
                <a:gridCol w="266400"/>
                <a:gridCol w="453600"/>
                <a:gridCol w="216000"/>
              </a:tblGrid>
              <a:tr h="167640">
                <a:tc rowSpan="2" grid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</a:p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배부 </a:t>
                      </a:r>
                      <a:endParaRPr lang="en-US" altLang="ko-KR" sz="800" b="1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ctr" rtl="0" fontAlgn="ctr"/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 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목표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조정사유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 목표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절감 목표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75260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금액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금액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매출액 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441,128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436,998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437,000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원단위 절사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4,128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4,128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1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재료비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255,854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243,860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244,000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11,854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C/O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102,342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97,544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97,600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추가 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TCI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불가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4,742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구매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4,742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NEW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153,513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146,316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146,400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84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수입자재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Nego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難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7,113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구매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3,556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설계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3,556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en-US" altLang="ko-KR" sz="800" b="1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노무비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32,233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30,722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30,800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근로자 요구사항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1,433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생기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1,433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경비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85,585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81,572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81,572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품질향상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4,013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생기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4,013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감가상각비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34,885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33,249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33,300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품질향상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1,585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생기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1,585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제조원가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408,557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389,404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389,672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268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18,885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인건비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1,300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1,239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1,250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근로자 요구사항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생기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판매관리비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3,115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3,115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3,115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영업이익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28,156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43,239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42,963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16,200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14,807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800" b="1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영업외수지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10,133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10,133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10,133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총원가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412,972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393,758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394,037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16,200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18,935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28,156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43,239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42,963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-276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14,807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경상이익률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6.4%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9.9%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9.8%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-0.1%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3.4%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9" name="직사각형 118"/>
          <p:cNvSpPr/>
          <p:nvPr/>
        </p:nvSpPr>
        <p:spPr bwMode="auto">
          <a:xfrm>
            <a:off x="4131861" y="2780910"/>
            <a:ext cx="1645834" cy="360000"/>
          </a:xfrm>
          <a:prstGeom prst="rect">
            <a:avLst/>
          </a:prstGeom>
          <a:noFill/>
          <a:ln w="25400" algn="ctr">
            <a:solidFill>
              <a:srgbClr val="0000CC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68" name="타원 67"/>
          <p:cNvSpPr>
            <a:spLocks noChangeAspect="1"/>
          </p:cNvSpPr>
          <p:nvPr/>
        </p:nvSpPr>
        <p:spPr>
          <a:xfrm>
            <a:off x="4088880" y="2636890"/>
            <a:ext cx="246186" cy="2520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 anchorCtr="0"/>
          <a:lstStyle/>
          <a:p>
            <a:pPr algn="ctr"/>
            <a:r>
              <a:rPr lang="en-US" altLang="ko-KR" sz="900" b="1" dirty="0" smtClean="0">
                <a:solidFill>
                  <a:srgbClr val="FFFFFF"/>
                </a:solidFill>
                <a:latin typeface="Arial"/>
                <a:ea typeface="가는각진제목체" pitchFamily="18" charset="-127"/>
              </a:rPr>
              <a:t>8-5</a:t>
            </a:r>
            <a:endParaRPr lang="ko-KR" altLang="en-US" sz="900" b="1" dirty="0" smtClean="0">
              <a:solidFill>
                <a:srgbClr val="FFFFFF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69" name="직사각형 68"/>
          <p:cNvSpPr/>
          <p:nvPr/>
        </p:nvSpPr>
        <p:spPr bwMode="auto">
          <a:xfrm>
            <a:off x="4413305" y="3477260"/>
            <a:ext cx="468000" cy="216030"/>
          </a:xfrm>
          <a:prstGeom prst="rect">
            <a:avLst/>
          </a:prstGeom>
          <a:solidFill>
            <a:srgbClr val="FF9999">
              <a:alpha val="58000"/>
            </a:srgbClr>
          </a:solidFill>
          <a:ln w="28575" algn="ctr">
            <a:solidFill>
              <a:srgbClr val="CC0000"/>
            </a:solidFill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graphicFrame>
        <p:nvGraphicFramePr>
          <p:cNvPr id="73" name="표 72"/>
          <p:cNvGraphicFramePr>
            <a:graphicFrameLocks noGrp="1"/>
          </p:cNvGraphicFramePr>
          <p:nvPr/>
        </p:nvGraphicFramePr>
        <p:xfrm>
          <a:off x="665745" y="3293075"/>
          <a:ext cx="3378219" cy="1924300"/>
        </p:xfrm>
        <a:graphic>
          <a:graphicData uri="http://schemas.openxmlformats.org/drawingml/2006/table">
            <a:tbl>
              <a:tblPr/>
              <a:tblGrid>
                <a:gridCol w="684000"/>
                <a:gridCol w="97400"/>
                <a:gridCol w="684000"/>
                <a:gridCol w="720000"/>
                <a:gridCol w="711895"/>
                <a:gridCol w="480924"/>
              </a:tblGrid>
              <a:tr h="171450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구매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C/O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재료비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절감계획서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절감계획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#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Level1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Level2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Level3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금액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구매 효율화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공급업체 관리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국산화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2,000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구매 효율화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공급업체 관리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글로벌 소싱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1,500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구매 효율화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공급업체 관리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업체변경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1,242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합계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4,742 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51"/>
                    </a:solidFill>
                  </a:tcPr>
                </a:tc>
              </a:tr>
            </a:tbl>
          </a:graphicData>
        </a:graphic>
      </p:graphicFrame>
      <p:sp>
        <p:nvSpPr>
          <p:cNvPr id="81" name="타원 80"/>
          <p:cNvSpPr>
            <a:spLocks noChangeAspect="1"/>
          </p:cNvSpPr>
          <p:nvPr/>
        </p:nvSpPr>
        <p:spPr>
          <a:xfrm>
            <a:off x="488380" y="3143375"/>
            <a:ext cx="246186" cy="2520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 anchorCtr="0"/>
          <a:lstStyle/>
          <a:p>
            <a:pPr algn="ctr"/>
            <a:r>
              <a:rPr lang="en-US" altLang="ko-KR" sz="900" b="1" dirty="0" smtClean="0">
                <a:solidFill>
                  <a:srgbClr val="FFFFFF"/>
                </a:solidFill>
                <a:latin typeface="Arial"/>
                <a:ea typeface="가는각진제목체" pitchFamily="18" charset="-127"/>
              </a:rPr>
              <a:t>8-6</a:t>
            </a:r>
            <a:endParaRPr lang="ko-KR" altLang="en-US" sz="900" b="1" dirty="0" smtClean="0">
              <a:solidFill>
                <a:srgbClr val="FFFFFF"/>
              </a:solidFill>
              <a:latin typeface="Arial"/>
              <a:ea typeface="가는각진제목체" pitchFamily="18" charset="-127"/>
            </a:endParaRPr>
          </a:p>
        </p:txBody>
      </p:sp>
      <p:cxnSp>
        <p:nvCxnSpPr>
          <p:cNvPr id="70" name="구부러진 연결선 65"/>
          <p:cNvCxnSpPr>
            <a:stCxn id="69" idx="2"/>
            <a:endCxn id="90" idx="3"/>
          </p:cNvCxnSpPr>
          <p:nvPr/>
        </p:nvCxnSpPr>
        <p:spPr bwMode="auto">
          <a:xfrm rot="5400000">
            <a:off x="3631440" y="4105369"/>
            <a:ext cx="1427945" cy="603786"/>
          </a:xfrm>
          <a:prstGeom prst="curvedConnector2">
            <a:avLst/>
          </a:prstGeom>
          <a:solidFill>
            <a:schemeClr val="accent1"/>
          </a:solidFill>
          <a:ln w="508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0" name="직사각형 89"/>
          <p:cNvSpPr/>
          <p:nvPr/>
        </p:nvSpPr>
        <p:spPr bwMode="auto">
          <a:xfrm>
            <a:off x="3575519" y="5013220"/>
            <a:ext cx="468000" cy="216030"/>
          </a:xfrm>
          <a:prstGeom prst="rect">
            <a:avLst/>
          </a:prstGeom>
          <a:noFill/>
          <a:ln w="2857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2" name="폭발 2 71"/>
          <p:cNvSpPr>
            <a:spLocks noChangeAspect="1"/>
          </p:cNvSpPr>
          <p:nvPr/>
        </p:nvSpPr>
        <p:spPr bwMode="auto">
          <a:xfrm>
            <a:off x="4117376" y="4004785"/>
            <a:ext cx="1052364" cy="612000"/>
          </a:xfrm>
          <a:prstGeom prst="irregularSeal2">
            <a:avLst/>
          </a:prstGeom>
          <a:solidFill>
            <a:schemeClr val="tx2">
              <a:lumMod val="75000"/>
            </a:schemeClr>
          </a:solidFill>
          <a:ln w="28575" algn="ctr">
            <a:noFill/>
            <a:prstDash val="dash"/>
            <a:round/>
            <a:headEnd/>
            <a:tailEnd/>
          </a:ln>
        </p:spPr>
        <p:txBody>
          <a:bodyPr wrap="none" lIns="36000" tIns="36000" rIns="36000" bIns="36000" rtlCol="0" anchor="ctr"/>
          <a:lstStyle/>
          <a:p>
            <a:pPr algn="ctr" eaLnBrk="0" latinLnBrk="0" hangingPunct="0">
              <a:lnSpc>
                <a:spcPct val="90000"/>
              </a:lnSpc>
            </a:pPr>
            <a:r>
              <a:rPr lang="en-US" altLang="ko-KR" sz="1100" b="1" dirty="0" smtClean="0">
                <a:solidFill>
                  <a:srgbClr val="FFFFFF"/>
                </a:solidFill>
                <a:latin typeface="Arial"/>
                <a:ea typeface="맑은 고딕" pitchFamily="50" charset="-127"/>
                <a:cs typeface="Arial" pitchFamily="34" charset="0"/>
              </a:rPr>
              <a:t>Click</a:t>
            </a:r>
            <a:r>
              <a:rPr lang="ko-KR" altLang="en-US" sz="1100" b="1" dirty="0" smtClean="0">
                <a:solidFill>
                  <a:srgbClr val="FFFFFF"/>
                </a:solidFill>
                <a:latin typeface="Arial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b="1" dirty="0" smtClean="0">
                <a:solidFill>
                  <a:srgbClr val="FFFFFF"/>
                </a:solidFill>
                <a:latin typeface="Arial"/>
                <a:ea typeface="맑은 고딕" pitchFamily="50" charset="-127"/>
                <a:cs typeface="Arial" pitchFamily="34" charset="0"/>
              </a:rPr>
              <a:t>&amp;</a:t>
            </a:r>
          </a:p>
          <a:p>
            <a:pPr algn="ctr" eaLnBrk="0" latinLnBrk="0" hangingPunct="0">
              <a:lnSpc>
                <a:spcPct val="90000"/>
              </a:lnSpc>
            </a:pPr>
            <a:r>
              <a:rPr lang="en-US" altLang="ko-KR" sz="1100" b="1" dirty="0" smtClean="0">
                <a:solidFill>
                  <a:srgbClr val="FFFFFF"/>
                </a:solidFill>
                <a:latin typeface="Arial"/>
                <a:ea typeface="맑은 고딕" pitchFamily="50" charset="-127"/>
                <a:cs typeface="Arial" pitchFamily="34" charset="0"/>
              </a:rPr>
              <a:t>Pop-Up</a:t>
            </a:r>
            <a:endParaRPr lang="ko-KR" altLang="en-US" sz="1100" b="1" dirty="0" smtClean="0">
              <a:solidFill>
                <a:srgbClr val="FFFFFF"/>
              </a:solidFill>
              <a:latin typeface="Arial"/>
              <a:ea typeface="맑은 고딕" pitchFamily="50" charset="-127"/>
              <a:cs typeface="Arial" pitchFamily="34" charset="0"/>
            </a:endParaRPr>
          </a:p>
        </p:txBody>
      </p:sp>
      <p:pic>
        <p:nvPicPr>
          <p:cNvPr id="65" name="Picture 2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1715894" y="3756920"/>
            <a:ext cx="142875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" name="AutoShape 279"/>
          <p:cNvSpPr>
            <a:spLocks noChangeArrowheads="1"/>
          </p:cNvSpPr>
          <p:nvPr/>
        </p:nvSpPr>
        <p:spPr bwMode="auto">
          <a:xfrm>
            <a:off x="3586507" y="398146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err="1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행추가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77" name="AutoShape 279"/>
          <p:cNvSpPr>
            <a:spLocks noChangeArrowheads="1"/>
          </p:cNvSpPr>
          <p:nvPr/>
        </p:nvSpPr>
        <p:spPr bwMode="auto">
          <a:xfrm>
            <a:off x="3586507" y="342900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83" name="AutoShape 279"/>
          <p:cNvSpPr>
            <a:spLocks noChangeArrowheads="1"/>
          </p:cNvSpPr>
          <p:nvPr/>
        </p:nvSpPr>
        <p:spPr bwMode="auto">
          <a:xfrm>
            <a:off x="5061056" y="2493000"/>
            <a:ext cx="648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99FF99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rgbClr val="00B050"/>
            </a:solidFill>
            <a:round/>
            <a:headEnd/>
            <a:tailEnd/>
          </a:ln>
          <a:effectLst/>
        </p:spPr>
        <p:txBody>
          <a:bodyPr wrap="none" lIns="3600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차수정보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87" name="실행 단추: 앞으로 또는 다음 86">
            <a:hlinkClick r:id="" action="ppaction://noaction" highlightClick="1"/>
          </p:cNvPr>
          <p:cNvSpPr/>
          <p:nvPr/>
        </p:nvSpPr>
        <p:spPr bwMode="auto">
          <a:xfrm rot="5400000">
            <a:off x="5541964" y="2523858"/>
            <a:ext cx="180000" cy="154184"/>
          </a:xfrm>
          <a:prstGeom prst="actionButtonForwardNext">
            <a:avLst/>
          </a:prstGeom>
          <a:solidFill>
            <a:srgbClr val="00B050"/>
          </a:solidFill>
          <a:ln w="9525" algn="ctr">
            <a:noFill/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95" name="타원 94"/>
          <p:cNvSpPr>
            <a:spLocks noChangeAspect="1"/>
          </p:cNvSpPr>
          <p:nvPr/>
        </p:nvSpPr>
        <p:spPr>
          <a:xfrm>
            <a:off x="4785230" y="2396765"/>
            <a:ext cx="246186" cy="2520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 anchorCtr="0"/>
          <a:lstStyle/>
          <a:p>
            <a:pPr algn="ctr"/>
            <a:r>
              <a:rPr lang="en-US" altLang="ko-KR" sz="900" b="1" dirty="0" smtClean="0">
                <a:solidFill>
                  <a:srgbClr val="FFFFFF"/>
                </a:solidFill>
                <a:latin typeface="Arial"/>
                <a:ea typeface="가는각진제목체" pitchFamily="18" charset="-127"/>
              </a:rPr>
              <a:t>8-7</a:t>
            </a:r>
            <a:endParaRPr lang="ko-KR" altLang="en-US" sz="900" b="1" dirty="0" smtClean="0">
              <a:solidFill>
                <a:srgbClr val="FFFFFF"/>
              </a:solidFill>
              <a:latin typeface="Arial"/>
              <a:ea typeface="가는각진제목체" pitchFamily="18" charset="-127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  <p:bldP spid="71" grpId="0" animBg="1"/>
      <p:bldP spid="7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rgbClr val="000000"/>
                </a:solidFill>
              </a:rPr>
              <a:t>상세 </a:t>
            </a:r>
            <a:r>
              <a:rPr lang="en-US" altLang="ko-KR" dirty="0" smtClean="0">
                <a:solidFill>
                  <a:srgbClr val="000000"/>
                </a:solidFill>
              </a:rPr>
              <a:t>Spec - </a:t>
            </a:r>
            <a:r>
              <a:rPr lang="ko-KR" altLang="en-US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부문별 </a:t>
            </a:r>
            <a:r>
              <a:rPr lang="ko-KR" altLang="en-US" dirty="0" err="1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절감액</a:t>
            </a:r>
            <a:r>
              <a:rPr lang="ko-KR" altLang="en-US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 및 절감 계획 활동 등록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3" name="Rectangle 33"/>
          <p:cNvSpPr>
            <a:spLocks noChangeArrowheads="1"/>
          </p:cNvSpPr>
          <p:nvPr/>
        </p:nvSpPr>
        <p:spPr bwMode="auto">
          <a:xfrm>
            <a:off x="416370" y="790575"/>
            <a:ext cx="8857230" cy="5446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200" b="1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1. </a:t>
            </a:r>
            <a:r>
              <a:rPr kumimoji="0" lang="ko-KR" altLang="en-US" sz="1200" b="1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개요</a:t>
            </a: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최종 목표원가와 목표 달성 계획을 등록하여 이를 관리함</a:t>
            </a:r>
            <a:r>
              <a:rPr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산출된 부문별 목표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Guide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를 바탕으로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부문별 최종 목표금액과 절감 목표 및 절감계획을 입력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등록함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</a:t>
            </a: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모든 금액은 </a:t>
            </a: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1 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단위당 기준임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원가 항목은 견적원가에서 사용하는 항목들과 동일하며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현재 기술된 사항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항목과 차이 존재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 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재료비는 </a:t>
            </a: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C/O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와 신규분을 구분표시 함</a:t>
            </a:r>
            <a:endParaRPr kumimoji="0" lang="ko-KR" altLang="en-US" sz="1050" b="1" dirty="0">
              <a:solidFill>
                <a:srgbClr val="0000CC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endParaRPr kumimoji="0" lang="en-US" altLang="ko-KR" sz="1050" dirty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625475" indent="-625475" fontAlgn="ctr" latinLnBrk="0">
              <a:lnSpc>
                <a:spcPct val="140000"/>
              </a:lnSpc>
              <a:defRPr/>
            </a:pPr>
            <a:r>
              <a:rPr kumimoji="0" lang="en-US" altLang="ko-KR" sz="1200" b="1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2.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산출 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Logic –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차수정보에서 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‘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최초목표 설정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’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으로 선택한 경우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(1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차 </a:t>
            </a:r>
            <a:r>
              <a:rPr kumimoji="0" lang="ko-KR" altLang="en-US" sz="120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재배부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20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부터는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별도의 산출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Logic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적용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marL="625475" indent="-625475" fontAlgn="ctr" latinLnBrk="0">
              <a:lnSpc>
                <a:spcPct val="140000"/>
              </a:lnSpc>
              <a:defRPr/>
            </a:pP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활용할 기초 자료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①  선택한 현상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견적원가</a:t>
            </a:r>
            <a:r>
              <a:rPr lang="en-US" altLang="ko-KR" sz="11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 (</a:t>
            </a:r>
            <a:r>
              <a:rPr lang="ko-KR" altLang="en-US" sz="11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연간합계의 </a:t>
            </a:r>
            <a:r>
              <a:rPr lang="en-US" altLang="ko-KR" sz="11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1</a:t>
            </a:r>
            <a:r>
              <a:rPr lang="ko-KR" altLang="en-US" sz="11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개당 금액</a:t>
            </a:r>
            <a:r>
              <a:rPr lang="en-US" altLang="ko-KR" sz="11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) 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②  </a:t>
            </a:r>
            <a:r>
              <a:rPr lang="ko-KR" altLang="en-US" sz="11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부문별 목표 </a:t>
            </a:r>
            <a:r>
              <a:rPr lang="en-US" altLang="ko-KR" sz="11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Guide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 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③  선택한 견적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현상원가</a:t>
            </a:r>
            <a:endParaRPr kumimoji="0" lang="en-US" altLang="ko-KR" sz="1100" b="1" dirty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ko-KR" altLang="en-US" sz="1050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(1)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견적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현상원가와 배부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Guide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견적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현상원가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배부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Guide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산출시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선택하여 사용한 견적원가 또는 현상원가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연간 합계금액을 총 물량으로 나눈 값을 표시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2)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배부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Guide: ‘</a:t>
            </a:r>
            <a:r>
              <a:rPr lang="ko-KR" altLang="en-US" sz="1050" dirty="0" smtClean="0">
                <a:solidFill>
                  <a:srgbClr val="000000"/>
                </a:solidFill>
                <a:latin typeface="Arial"/>
                <a:ea typeface="가는각진제목체"/>
              </a:rPr>
              <a:t>부문별 목표 </a:t>
            </a:r>
            <a:r>
              <a:rPr lang="en-US" altLang="ko-KR" sz="1050" dirty="0" smtClean="0">
                <a:solidFill>
                  <a:srgbClr val="000000"/>
                </a:solidFill>
                <a:latin typeface="Arial"/>
                <a:ea typeface="가는각진제목체"/>
              </a:rPr>
              <a:t>Guide </a:t>
            </a:r>
            <a:r>
              <a:rPr lang="ko-KR" altLang="en-US" sz="1050" dirty="0" smtClean="0">
                <a:solidFill>
                  <a:srgbClr val="000000"/>
                </a:solidFill>
                <a:latin typeface="Arial"/>
                <a:ea typeface="가는각진제목체"/>
              </a:rPr>
              <a:t>산출</a:t>
            </a:r>
            <a:r>
              <a:rPr lang="en-US" altLang="ko-KR" sz="1050" dirty="0" smtClean="0">
                <a:solidFill>
                  <a:srgbClr val="000000"/>
                </a:solidFill>
                <a:latin typeface="Arial"/>
                <a:ea typeface="가는각진제목체"/>
              </a:rPr>
              <a:t>’</a:t>
            </a:r>
            <a:r>
              <a:rPr lang="ko-KR" altLang="en-US" sz="1050" dirty="0" smtClean="0">
                <a:solidFill>
                  <a:srgbClr val="000000"/>
                </a:solidFill>
                <a:latin typeface="Arial"/>
                <a:ea typeface="가는각진제목체"/>
              </a:rPr>
              <a:t>에서 계산된 원가항목별 목표 금액</a:t>
            </a:r>
            <a:r>
              <a:rPr lang="en-US" altLang="ko-KR" sz="1050" dirty="0" smtClean="0">
                <a:solidFill>
                  <a:srgbClr val="000000"/>
                </a:solidFill>
                <a:latin typeface="Arial"/>
                <a:ea typeface="가는각진제목체"/>
              </a:rPr>
              <a:t>. 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30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(2) </a:t>
            </a:r>
            <a:r>
              <a:rPr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최종 목표</a:t>
            </a:r>
            <a:r>
              <a:rPr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차이</a:t>
            </a:r>
            <a:r>
              <a:rPr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조정사유</a:t>
            </a:r>
            <a:r>
              <a:rPr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절감목표</a:t>
            </a:r>
            <a:r>
              <a:rPr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원가항목 확정 후 입력대상</a:t>
            </a:r>
            <a:r>
              <a:rPr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자동 산출 부분 상세 정의 예정</a:t>
            </a:r>
            <a:r>
              <a:rPr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  <a:endParaRPr kumimoji="0" lang="en-US" altLang="ko-KR" sz="105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최종목표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각 원가항목의 최종 목표원가금액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절감목표가 아닌 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Target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대상금액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각 부문이 숫자를 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Key-In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하며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합계로 </a:t>
            </a:r>
            <a:r>
              <a:rPr kumimoji="0" lang="ko-KR" altLang="en-US" sz="1050" b="1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자동계산되거나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입력이 제한되는 부분 존재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 -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입력할 부분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매출액과 각 원가항목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각 원가항목은 제조원가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영업외수지 등을 구성하는 하위 항목을 의미함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 -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자동계산 되는 부분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제조원가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영업이익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총원가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경상이익률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저장버튼을 누르면 입력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Data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를 저장하고 자동으로 값을 산출하여 저장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표시함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    ∙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제조원가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재료비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(C/O+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신규재료비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부터 기타제조경비까지 모든 원가 항목의 합계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    ∙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경상이익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매출액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총원가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    ∙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총원가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제조원가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+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판관비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+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영업외수지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    ∙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경상이익률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경상이익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÷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매출액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소수점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첫째자리까지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%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로 표시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2)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차이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최종 목표와 배부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Guide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의 차이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Guide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에 비하여 손익이 안좋아진 경우를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+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로 표시함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    -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원가항목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최종목표 －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배부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Guide    /  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매출액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경상이익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경상이익률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배부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Guide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－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최종 목표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3)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조정사유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차이의 원인을 담당부서가 입력하는 화면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클릭시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Key-In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활성화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or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입력창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Pop-Up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기능을 부여하여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Text 20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자 입력 가능하도록 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4)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절감목표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최종 목표와 선택한 현상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견적원가와 차이 현상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견적원가에 비하여 손익이 좋아지는 경우를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+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로 표시함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    -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원가항목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현상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견적원가 －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최종목표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/  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매출액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경상이익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경상이익률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최종목표 － 현상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견적원가</a:t>
            </a:r>
            <a:endParaRPr kumimoji="0" lang="en-US" altLang="ko-KR" sz="105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rgbClr val="000000"/>
                </a:solidFill>
              </a:rPr>
              <a:t>상세 </a:t>
            </a:r>
            <a:r>
              <a:rPr lang="en-US" altLang="ko-KR" dirty="0" smtClean="0">
                <a:solidFill>
                  <a:srgbClr val="000000"/>
                </a:solidFill>
              </a:rPr>
              <a:t>Spec - </a:t>
            </a:r>
            <a:r>
              <a:rPr lang="ko-KR" altLang="en-US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부문별 </a:t>
            </a:r>
            <a:r>
              <a:rPr lang="ko-KR" altLang="en-US" dirty="0" err="1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절감액</a:t>
            </a:r>
            <a:r>
              <a:rPr lang="ko-KR" altLang="en-US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 및 절감 계획 활동 등록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3" name="Rectangle 33"/>
          <p:cNvSpPr>
            <a:spLocks noChangeArrowheads="1"/>
          </p:cNvSpPr>
          <p:nvPr/>
        </p:nvSpPr>
        <p:spPr bwMode="auto">
          <a:xfrm>
            <a:off x="416370" y="790575"/>
            <a:ext cx="8857230" cy="5446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625475" indent="-625475" fontAlgn="ctr" latinLnBrk="0">
              <a:lnSpc>
                <a:spcPct val="140000"/>
              </a:lnSpc>
              <a:defRPr/>
            </a:pPr>
            <a:r>
              <a:rPr kumimoji="0" lang="en-US" altLang="ko-KR" sz="14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2. </a:t>
            </a:r>
            <a:r>
              <a:rPr kumimoji="0" lang="ko-KR" altLang="en-US" sz="14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산출 </a:t>
            </a:r>
            <a:r>
              <a:rPr kumimoji="0" lang="en-US" altLang="ko-KR" sz="14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Logic, </a:t>
            </a:r>
            <a:r>
              <a:rPr kumimoji="0" lang="ko-KR" altLang="en-US" sz="14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계속</a:t>
            </a:r>
            <a:endParaRPr kumimoji="0" lang="en-US" altLang="ko-KR" sz="140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1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(3) </a:t>
            </a:r>
            <a:r>
              <a:rPr kumimoji="0" lang="ko-KR" altLang="en-US" sz="11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부문별 절감목표 등록</a:t>
            </a:r>
            <a:endParaRPr kumimoji="0" lang="en-US" altLang="ko-KR" sz="110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1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1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부문</a:t>
            </a:r>
            <a:r>
              <a:rPr kumimoji="0" lang="en-US" altLang="ko-KR" sz="11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-</a:t>
            </a:r>
            <a:r>
              <a:rPr kumimoji="0" lang="ko-KR" altLang="en-US" sz="11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금액을 총</a:t>
            </a:r>
            <a:r>
              <a:rPr kumimoji="0" lang="en-US" altLang="ko-KR" sz="11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3</a:t>
            </a:r>
            <a:r>
              <a:rPr kumimoji="0" lang="ko-KR" altLang="en-US" sz="11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개 배치</a:t>
            </a:r>
            <a:r>
              <a:rPr kumimoji="0" lang="en-US" altLang="ko-KR" sz="11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(1</a:t>
            </a:r>
            <a:r>
              <a:rPr kumimoji="0" lang="ko-KR" altLang="en-US" sz="11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개의 원가항목에 대하여 최대 </a:t>
            </a:r>
            <a:r>
              <a:rPr kumimoji="0" lang="en-US" altLang="ko-KR" sz="11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3</a:t>
            </a:r>
            <a:r>
              <a:rPr kumimoji="0" lang="ko-KR" altLang="en-US" sz="11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개 부문이 절감 활동 수행</a:t>
            </a:r>
            <a:r>
              <a:rPr kumimoji="0" lang="en-US" altLang="ko-KR" sz="11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  <a:endParaRPr kumimoji="0" lang="en-US" altLang="ko-KR" sz="110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1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2) </a:t>
            </a:r>
            <a:r>
              <a:rPr kumimoji="0" lang="ko-KR" altLang="en-US" sz="11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입력방안</a:t>
            </a:r>
            <a:endParaRPr kumimoji="0" lang="en-US" altLang="ko-KR" sz="110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 -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부문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콤보박스로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선택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콤보박스의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내용은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‘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영업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설계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구매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구매관리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생산기술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’ 5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개 항목으로 정의함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 -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금액자동계산 되는 부분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Pop-Up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기능으로 입력 가능하도록 함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3.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버튼 설명</a:t>
            </a:r>
            <a:endParaRPr kumimoji="0" lang="en-US" altLang="ko-KR" sz="120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조회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조회조건에 일치하는 프로젝트의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Data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불러옴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b="1" dirty="0" err="1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원가관리팀만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사용 가능함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생성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최초에 견적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현상원가와 배부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Guide 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금액을 가져오도록 함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수정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Key-In,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콤보박스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Pop-Up 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입력 기능을 이용하여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Data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를 입력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수정 할 수 있도록 활성화 시킴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계산하기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Data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입력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수정 후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자동계산되어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Data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가 입력되는 부분 계산 수행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대상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차이금액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절감목표열과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제조원가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경상이익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경상이익률 행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저장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입력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수정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계산 및 재계산된 금액을 저장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확정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입력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계산된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Data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를 확정하여 수정이 불가능하도록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Freezing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실시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b="1" dirty="0" err="1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원가관리팀만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사용 가능하며 아래 조건이 만족되지 않는 경우 확정불가</a:t>
            </a:r>
            <a:endParaRPr kumimoji="0" lang="en-US" altLang="ko-KR" sz="1050" b="1" dirty="0" smtClean="0">
              <a:solidFill>
                <a:srgbClr val="0000CC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ko-KR" altLang="en-US" sz="1050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</a:t>
            </a: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Validating: 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차수정보가 입력되어야 함</a:t>
            </a: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                 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절감목표가 부여된 항목은 부문별 절감목표가 등록되어야 하고</a:t>
            </a: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b="1" dirty="0" err="1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행별로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입력된 값의 합계가 절감 목표와 일치</a:t>
            </a: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영업이익</a:t>
            </a: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등 연산으로 산출되는 부분은 제외</a:t>
            </a: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7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chemeClr val="tx1"/>
          </a:solidFill>
          <a:prstDash val="dash"/>
          <a:round/>
          <a:headEnd/>
          <a:tailEnd/>
        </a:ln>
      </a:spPr>
      <a:bodyPr wrap="none" anchor="ctr"/>
      <a:lstStyle>
        <a:defPPr eaLnBrk="0" latinLnBrk="0" hangingPunct="0">
          <a:defRPr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8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chemeClr val="tx1"/>
          </a:solidFill>
          <a:prstDash val="dash"/>
          <a:round/>
          <a:headEnd/>
          <a:tailEnd/>
        </a:ln>
      </a:spPr>
      <a:bodyPr wrap="none" anchor="ctr"/>
      <a:lstStyle>
        <a:defPPr eaLnBrk="0" latinLnBrk="0" hangingPunct="0">
          <a:defRPr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6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9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0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1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12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13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14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66322</TotalTime>
  <Words>1910</Words>
  <Application>Microsoft Office PowerPoint</Application>
  <PresentationFormat>A4 용지(210x297mm)</PresentationFormat>
  <Paragraphs>762</Paragraphs>
  <Slides>7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9</vt:i4>
      </vt:variant>
      <vt:variant>
        <vt:lpstr>슬라이드 제목</vt:lpstr>
      </vt:variant>
      <vt:variant>
        <vt:i4>7</vt:i4>
      </vt:variant>
    </vt:vector>
  </HeadingPairs>
  <TitlesOfParts>
    <vt:vector size="16" baseType="lpstr">
      <vt:lpstr>7_tb4_onscreen_v2.1</vt:lpstr>
      <vt:lpstr>8_tb4_onscreen_v2.1</vt:lpstr>
      <vt:lpstr>6_tb4_onscreen_v2.1</vt:lpstr>
      <vt:lpstr>9_tb4_onscreen_v2.1</vt:lpstr>
      <vt:lpstr>10_tb4_onscreen_v2.1</vt:lpstr>
      <vt:lpstr>11_tb4_onscreen_v2.1</vt:lpstr>
      <vt:lpstr>12_tb4_onscreen_v2.1</vt:lpstr>
      <vt:lpstr>13_tb4_onscreen_v2.1</vt:lpstr>
      <vt:lpstr>14_tb4_onscreen_v2.1</vt:lpstr>
      <vt:lpstr>슬라이드 0</vt:lpstr>
      <vt:lpstr>슬라이드 1</vt:lpstr>
      <vt:lpstr>슬라이드 2</vt:lpstr>
      <vt:lpstr>슬라이드 3</vt:lpstr>
      <vt:lpstr>슬라이드 4</vt:lpstr>
      <vt:lpstr>상세 Spec - 부문별 절감액 및 절감 계획 활동 등록</vt:lpstr>
      <vt:lpstr>상세 Spec - 부문별 절감액 및 절감 계획 활동 등록</vt:lpstr>
    </vt:vector>
  </TitlesOfParts>
  <Company>Samil PwC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김성은</dc:creator>
  <cp:lastModifiedBy>Windows User</cp:lastModifiedBy>
  <cp:revision>8189</cp:revision>
  <cp:lastPrinted>2012-11-21T23:07:40Z</cp:lastPrinted>
  <dcterms:created xsi:type="dcterms:W3CDTF">2011-12-22T02:00:23Z</dcterms:created>
  <dcterms:modified xsi:type="dcterms:W3CDTF">2013-05-20T01:05:52Z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B template version">
    <vt:lpwstr>6</vt:lpwstr>
  </property>
  <property fmtid="{D5CDD505-2E9C-101B-9397-08002B2CF9AE}" pid="3" name="TB template type">
    <vt:lpwstr>Onscreen</vt:lpwstr>
  </property>
  <property fmtid="{D5CDD505-2E9C-101B-9397-08002B2CF9AE}" pid="4" name="Template created by">
    <vt:lpwstr>PwC</vt:lpwstr>
  </property>
  <property fmtid="{D5CDD505-2E9C-101B-9397-08002B2CF9AE}" pid="5" name="Template version">
    <vt:lpwstr>6</vt:lpwstr>
  </property>
</Properties>
</file>